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4"/>
          </a:solidFill>
          <a:ln w="12700">
            <a:solidFill>
              <a:srgbClr val="05070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5720"/>
            <a:ext cx="2651760" cy="265176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01168"/>
            <a:ext cx="2240280" cy="224028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01168"/>
            <a:ext cx="27432" cy="27432"/>
          </a:xfrm>
          <a:prstGeom prst="ellipse">
            <a:avLst/>
          </a:prstGeom>
          <a:solidFill>
            <a:srgbClr val="B8FF1F">
              <a:alpha val="5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01168"/>
            <a:ext cx="27432" cy="27432"/>
          </a:xfrm>
          <a:prstGeom prst="ellipse">
            <a:avLst/>
          </a:prstGeom>
          <a:solidFill>
            <a:srgbClr val="B8FF1F">
              <a:alpha val="4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01168"/>
            <a:ext cx="27432" cy="27432"/>
          </a:xfrm>
          <a:prstGeom prst="ellipse">
            <a:avLst/>
          </a:prstGeom>
          <a:solidFill>
            <a:srgbClr val="B8FF1F">
              <a:alpha val="4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"/>
            <a:ext cx="27432" cy="27432"/>
          </a:xfrm>
          <a:prstGeom prst="ellipse">
            <a:avLst/>
          </a:prstGeom>
          <a:solidFill>
            <a:srgbClr val="B8FF1F">
              <a:alpha val="3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"/>
            <a:ext cx="27432" cy="27432"/>
          </a:xfrm>
          <a:prstGeom prst="ellipse">
            <a:avLst/>
          </a:prstGeom>
          <a:solidFill>
            <a:srgbClr val="B8FF1F">
              <a:alpha val="3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02336"/>
            <a:ext cx="27432" cy="27432"/>
          </a:xfrm>
          <a:prstGeom prst="ellipse">
            <a:avLst/>
          </a:prstGeom>
          <a:solidFill>
            <a:srgbClr val="B8FF1F">
              <a:alpha val="3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02336"/>
            <a:ext cx="27432" cy="27432"/>
          </a:xfrm>
          <a:prstGeom prst="ellipse">
            <a:avLst/>
          </a:prstGeom>
          <a:solidFill>
            <a:srgbClr val="B8FF1F">
              <a:alpha val="2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02336"/>
            <a:ext cx="27432" cy="27432"/>
          </a:xfrm>
          <a:prstGeom prst="ellipse">
            <a:avLst/>
          </a:prstGeom>
          <a:solidFill>
            <a:srgbClr val="B8FF1F">
              <a:alpha val="2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2336"/>
            <a:ext cx="27432" cy="27432"/>
          </a:xfrm>
          <a:prstGeom prst="ellipse">
            <a:avLst/>
          </a:prstGeom>
          <a:solidFill>
            <a:srgbClr val="B8FF1F">
              <a:alpha val="1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"/>
            <a:ext cx="27432" cy="27432"/>
          </a:xfrm>
          <a:prstGeom prst="ellipse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51560" y="79552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las empresas eligen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42416" y="1408176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FF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1078992" y="21762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D8E0D1"/>
                </a:solidFill>
              </a:rPr>
              <a:t>cuando necesitan algo más que un ERP, una suite configurable o código aislado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1078992" y="269748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BA595"/>
                </a:solidFill>
              </a:rPr>
              <a:t>Benchmark estratégico para decidir entre enterprise suites, plataformas configurables, ingeniería pura y transformación + producto.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2514600" cy="1444752"/>
          </a:xfrm>
          <a:prstGeom prst="roundRect">
            <a:avLst>
              <a:gd name="adj" fmla="val 5063"/>
            </a:avLst>
          </a:prstGeom>
          <a:solidFill>
            <a:srgbClr val="15090C"/>
          </a:solidFill>
          <a:ln w="10160">
            <a:solidFill>
              <a:srgbClr val="FF5D62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840480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D62"/>
                </a:solidFill>
              </a:rPr>
              <a:t>BUY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96112" y="40965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2"/>
                </a:solidFill>
              </a:rPr>
              <a:t>Oracle / SAP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45537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0D1"/>
                </a:solidFill>
              </a:rPr>
              <a:t>Adoptar mejores prácticas de una suite madura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02152" y="3657600"/>
            <a:ext cx="2514600" cy="1444752"/>
          </a:xfrm>
          <a:prstGeom prst="roundRect">
            <a:avLst>
              <a:gd name="adj" fmla="val 5063"/>
            </a:avLst>
          </a:prstGeom>
          <a:solidFill>
            <a:srgbClr val="15090C"/>
          </a:solidFill>
          <a:ln w="10160">
            <a:solidFill>
              <a:srgbClr val="FF5D62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3840480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D62"/>
                </a:solidFill>
              </a:rPr>
              <a:t>CONFIGURE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66744" y="40965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2"/>
                </a:solidFill>
              </a:rPr>
              <a:t>Odoo / Zoho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03320" y="45537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0D1"/>
                </a:solidFill>
              </a:rPr>
              <a:t>Configurar apps existentes y cubrir procesos comunes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72784" y="3657600"/>
            <a:ext cx="2514600" cy="1444752"/>
          </a:xfrm>
          <a:prstGeom prst="roundRect">
            <a:avLst>
              <a:gd name="adj" fmla="val 5063"/>
            </a:avLst>
          </a:prstGeom>
          <a:solidFill>
            <a:srgbClr val="15090C"/>
          </a:solidFill>
          <a:ln w="10160">
            <a:solidFill>
              <a:srgbClr val="FF5D62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3840480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5D62"/>
                </a:solidFill>
              </a:rPr>
              <a:t>BUILD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437376" y="40965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2"/>
                </a:solidFill>
              </a:rPr>
              <a:t>Solo ingenieros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3952" y="45537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0D1"/>
                </a:solidFill>
              </a:rPr>
              <a:t>Construir exactamente lo que se pidió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043416" y="3657600"/>
            <a:ext cx="2514600" cy="1444752"/>
          </a:xfrm>
          <a:prstGeom prst="roundRect">
            <a:avLst>
              <a:gd name="adj" fmla="val 5063"/>
            </a:avLst>
          </a:prstGeom>
          <a:solidFill>
            <a:srgbClr val="17300F"/>
          </a:solidFill>
          <a:ln w="10160">
            <a:solidFill>
              <a:srgbClr val="B8FF1F">
                <a:alpha val="8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08008" y="3840480"/>
            <a:ext cx="21854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FF1F"/>
                </a:solidFill>
              </a:rPr>
              <a:t>TRANSFORM + BUILD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2"/>
                </a:solidFill>
              </a:rPr>
              <a:t>Atlas Tech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44584" y="45537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8E0D1"/>
                </a:solidFill>
              </a:rPr>
              <a:t>Diseñar operación, producto, ingeniería y gobierno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0120" y="552297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F9F2"/>
                </a:solidFill>
              </a:rPr>
              <a:t>La decisión no es “quién tiene más funciones”. Es qué modelo convierte mejor tu operación en capacidad empresarial sostenible.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4"/>
          </a:solidFill>
          <a:ln w="12700">
            <a:solidFill>
              <a:srgbClr val="05070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5720"/>
            <a:ext cx="2651760" cy="265176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01168"/>
            <a:ext cx="2240280" cy="224028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01168"/>
            <a:ext cx="27432" cy="27432"/>
          </a:xfrm>
          <a:prstGeom prst="ellipse">
            <a:avLst/>
          </a:prstGeom>
          <a:solidFill>
            <a:srgbClr val="B8FF1F">
              <a:alpha val="5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01168"/>
            <a:ext cx="27432" cy="27432"/>
          </a:xfrm>
          <a:prstGeom prst="ellipse">
            <a:avLst/>
          </a:prstGeom>
          <a:solidFill>
            <a:srgbClr val="B8FF1F">
              <a:alpha val="4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01168"/>
            <a:ext cx="27432" cy="27432"/>
          </a:xfrm>
          <a:prstGeom prst="ellipse">
            <a:avLst/>
          </a:prstGeom>
          <a:solidFill>
            <a:srgbClr val="B8FF1F">
              <a:alpha val="4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"/>
            <a:ext cx="27432" cy="27432"/>
          </a:xfrm>
          <a:prstGeom prst="ellipse">
            <a:avLst/>
          </a:prstGeom>
          <a:solidFill>
            <a:srgbClr val="B8FF1F">
              <a:alpha val="3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"/>
            <a:ext cx="27432" cy="27432"/>
          </a:xfrm>
          <a:prstGeom prst="ellipse">
            <a:avLst/>
          </a:prstGeom>
          <a:solidFill>
            <a:srgbClr val="B8FF1F">
              <a:alpha val="3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02336"/>
            <a:ext cx="27432" cy="27432"/>
          </a:xfrm>
          <a:prstGeom prst="ellipse">
            <a:avLst/>
          </a:prstGeom>
          <a:solidFill>
            <a:srgbClr val="B8FF1F">
              <a:alpha val="3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02336"/>
            <a:ext cx="27432" cy="27432"/>
          </a:xfrm>
          <a:prstGeom prst="ellipse">
            <a:avLst/>
          </a:prstGeom>
          <a:solidFill>
            <a:srgbClr val="B8FF1F">
              <a:alpha val="2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02336"/>
            <a:ext cx="27432" cy="27432"/>
          </a:xfrm>
          <a:prstGeom prst="ellipse">
            <a:avLst/>
          </a:prstGeom>
          <a:solidFill>
            <a:srgbClr val="B8FF1F">
              <a:alpha val="2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2336"/>
            <a:ext cx="27432" cy="27432"/>
          </a:xfrm>
          <a:prstGeom prst="ellipse">
            <a:avLst/>
          </a:prstGeom>
          <a:solidFill>
            <a:srgbClr val="B8FF1F">
              <a:alpha val="1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"/>
            <a:ext cx="27432" cy="27432"/>
          </a:xfrm>
          <a:prstGeom prst="ellipse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compiten las mismas categorías.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comparación correcta no es producto contra producto; es modelo operativo contra modelo operativo.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685800" y="214884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101710"/>
          </a:solidFill>
          <a:ln w="10160">
            <a:solidFill>
              <a:srgbClr val="50B7FF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331720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0B7FF"/>
                </a:solidFill>
              </a:rPr>
              <a:t>01 · BUY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86968" y="260604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9F2"/>
                </a:solidFill>
              </a:rPr>
              <a:t>Enterprise suite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886968" y="3136392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1069848" y="3136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Procesos estándar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86968" y="342900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106984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Ecosistema maduro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886968" y="372160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69848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Alta escala y control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566160" y="214884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101710"/>
          </a:solidFill>
          <a:ln w="10160">
            <a:solidFill>
              <a:srgbClr val="FFC857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331720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C857"/>
                </a:solidFill>
              </a:rPr>
              <a:t>02 · CONFIGURE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67328" y="260604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9F2"/>
                </a:solidFill>
              </a:rPr>
              <a:t>Configurable suite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767328" y="3136392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950208" y="3136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Apps integradas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3767328" y="342900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395020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Menor fricción inicial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767328" y="372160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3950208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Personalización dentro del ecosistema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446520" y="2148840"/>
            <a:ext cx="2651760" cy="2240280"/>
          </a:xfrm>
          <a:prstGeom prst="roundRect">
            <a:avLst>
              <a:gd name="adj" fmla="val 3265"/>
            </a:avLst>
          </a:prstGeom>
          <a:solidFill>
            <a:srgbClr val="101710"/>
          </a:solidFill>
          <a:ln w="10160">
            <a:solidFill>
              <a:srgbClr val="FF5D62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47688" y="2331720"/>
            <a:ext cx="2249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5D62"/>
                </a:solidFill>
              </a:rPr>
              <a:t>03 · BUILD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647688" y="260604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9F2"/>
                </a:solidFill>
              </a:rPr>
              <a:t>Ingeniería pura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6647688" y="3136392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6830568" y="3136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Código a medida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6647688" y="342900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6830568" y="34290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Libertad técnica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6647688" y="372160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48" name="Text 46"/>
          <p:cNvSpPr/>
          <p:nvPr/>
        </p:nvSpPr>
        <p:spPr>
          <a:xfrm>
            <a:off x="6830568" y="37216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Depende de specs y product ownership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9326880" y="2148840"/>
            <a:ext cx="2194560" cy="2240280"/>
          </a:xfrm>
          <a:prstGeom prst="roundRect">
            <a:avLst>
              <a:gd name="adj" fmla="val 3333"/>
            </a:avLst>
          </a:prstGeom>
          <a:solidFill>
            <a:srgbClr val="101710"/>
          </a:solidFill>
          <a:ln w="10160">
            <a:solidFill>
              <a:srgbClr val="B8FF1F">
                <a:alpha val="5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28048" y="2331720"/>
            <a:ext cx="1792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8FF1F"/>
                </a:solidFill>
              </a:rPr>
              <a:t>04 · TRANSFORM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528048" y="2606040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7F9F2"/>
                </a:solidFill>
              </a:rPr>
              <a:t>Atlas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9528048" y="3136392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9710928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Operación → producto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9528048" y="342900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9710928" y="3429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Squad multidisciplinario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9528048" y="3721608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FF1F"/>
                </a:solidFill>
              </a:rPr>
              <a:t>•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9710928" y="37216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Gobierno legal y técnico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868680" y="4892040"/>
            <a:ext cx="10332720" cy="0"/>
          </a:xfrm>
          <a:prstGeom prst="line">
            <a:avLst/>
          </a:prstGeom>
          <a:noFill/>
          <a:ln w="15240">
            <a:solidFill>
              <a:srgbClr val="B8FF1F">
                <a:alpha val="4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2194560" y="51023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FF1F"/>
                </a:solidFill>
              </a:rPr>
              <a:t>De comprar software a diseñar la capacidad que necesita el negocio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1143000" y="5596128"/>
            <a:ext cx="9829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D8E0D1"/>
                </a:solidFill>
              </a:rPr>
              <a:t>Atlas no promete reemplazar a SAP u Oracle en todo escenario. Reclama un espacio distinto: cuando la operación requiere ser entendida, rediseñada, gobernada y convertida en tecnología ejecutable.</a:t>
            </a:r>
            <a:endParaRPr lang="en-US" sz="11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8FF1F">
              <a:alpha val="95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5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10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correcta: ¿fit-to-standard o fit-to-operating-model?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74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suites enterprise privilegian procesos estándar; Atlas parte del modelo operativo real y decide qué comprar, configurar, integrar o construir.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10332720" cy="0"/>
          </a:xfrm>
          <a:prstGeom prst="line">
            <a:avLst/>
          </a:prstGeom>
          <a:noFill/>
          <a:ln w="19050">
            <a:solidFill>
              <a:srgbClr val="6C7A6B">
                <a:alpha val="85000"/>
              </a:srgbClr>
            </a:solidFill>
            <a:prstDash val="solid"/>
            <a:headEnd type="triangl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446"/>
                </a:solidFill>
              </a:rPr>
              <a:t>STANDARDIZATION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55548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75446"/>
                </a:solidFill>
              </a:rPr>
              <a:t>DIFFERENTIATION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3694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4B"/>
                </a:solidFill>
              </a:rPr>
              <a:t>La empresa se adapta al estándar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83880" y="36941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4B"/>
                </a:solidFill>
              </a:rPr>
              <a:t>El sistema se adapta al operating model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80160" y="3200400"/>
            <a:ext cx="274320" cy="274320"/>
          </a:xfrm>
          <a:prstGeom prst="ellipse">
            <a:avLst/>
          </a:prstGeom>
          <a:solidFill>
            <a:srgbClr val="5C76E8"/>
          </a:solidFill>
          <a:ln w="12700">
            <a:solidFill>
              <a:srgbClr val="5C76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3383280"/>
            <a:ext cx="0" cy="685800"/>
          </a:xfrm>
          <a:prstGeom prst="line">
            <a:avLst/>
          </a:prstGeom>
          <a:noFill/>
          <a:ln w="12700">
            <a:solidFill>
              <a:srgbClr val="5C76E8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788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016"/>
                </a:solidFill>
              </a:rPr>
              <a:t>Oracle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398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4B"/>
                </a:solidFill>
              </a:rPr>
              <a:t>Enterprise ERP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74320" cy="274320"/>
          </a:xfrm>
          <a:prstGeom prst="ellipse">
            <a:avLst/>
          </a:prstGeom>
          <a:solidFill>
            <a:srgbClr val="3892E3"/>
          </a:solidFill>
          <a:ln w="12700">
            <a:solidFill>
              <a:srgbClr val="3892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383280"/>
            <a:ext cx="0" cy="685800"/>
          </a:xfrm>
          <a:prstGeom prst="line">
            <a:avLst/>
          </a:prstGeom>
          <a:noFill/>
          <a:ln w="12700">
            <a:solidFill>
              <a:srgbClr val="3892E3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41788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016"/>
                </a:solidFill>
              </a:rPr>
              <a:t>SAP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4398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4B"/>
                </a:solidFill>
              </a:rPr>
              <a:t>Fit-to-standard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532120" y="3200400"/>
            <a:ext cx="274320" cy="274320"/>
          </a:xfrm>
          <a:prstGeom prst="ellipse">
            <a:avLst/>
          </a:prstGeom>
          <a:solidFill>
            <a:srgbClr val="F6B94D"/>
          </a:solidFill>
          <a:ln w="12700">
            <a:solidFill>
              <a:srgbClr val="F6B9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3383280"/>
            <a:ext cx="0" cy="685800"/>
          </a:xfrm>
          <a:prstGeom prst="line">
            <a:avLst/>
          </a:prstGeom>
          <a:noFill/>
          <a:ln w="12700">
            <a:solidFill>
              <a:srgbClr val="F6B94D">
                <a:alpha val="8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41788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016"/>
                </a:solidFill>
              </a:rPr>
              <a:t>Odoo / Zoho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4398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4B"/>
                </a:solidFill>
              </a:rPr>
              <a:t>Configurable suite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29600" y="3200400"/>
            <a:ext cx="274320" cy="274320"/>
          </a:xfrm>
          <a:prstGeom prst="ellipse">
            <a:avLst/>
          </a:prstGeom>
          <a:solidFill>
            <a:srgbClr val="FF5D62"/>
          </a:solidFill>
          <a:ln w="12700">
            <a:solidFill>
              <a:srgbClr val="FF5D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3383280"/>
            <a:ext cx="0" cy="685800"/>
          </a:xfrm>
          <a:prstGeom prst="line">
            <a:avLst/>
          </a:prstGeom>
          <a:noFill/>
          <a:ln w="12700">
            <a:solidFill>
              <a:srgbClr val="FF5D62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41788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016"/>
                </a:solidFill>
              </a:rPr>
              <a:t>Ingenieros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680960" y="4398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4B"/>
                </a:solidFill>
              </a:rPr>
              <a:t>Custom code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195560" y="3200400"/>
            <a:ext cx="274320" cy="274320"/>
          </a:xfrm>
          <a:prstGeom prst="ellipse">
            <a:avLst/>
          </a:prstGeom>
          <a:solidFill>
            <a:srgbClr val="7ACB00"/>
          </a:solidFill>
          <a:ln w="12700">
            <a:solidFill>
              <a:srgbClr val="7ACB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32720" y="3383280"/>
            <a:ext cx="0" cy="685800"/>
          </a:xfrm>
          <a:prstGeom prst="line">
            <a:avLst/>
          </a:prstGeom>
          <a:noFill/>
          <a:ln w="12700">
            <a:solidFill>
              <a:srgbClr val="7ACB00">
                <a:alpha val="8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41788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82016"/>
                </a:solidFill>
              </a:rPr>
              <a:t>Atlas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46920" y="4398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B554B"/>
                </a:solidFill>
              </a:rPr>
              <a:t>Operating-model fit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77240" y="525780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E9ECE5"/>
          </a:solidFill>
          <a:ln w="10160">
            <a:solidFill>
              <a:srgbClr val="C9D1C3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4406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16"/>
                </a:solidFill>
              </a:rPr>
              <a:t>Fuerte cuando el proceso puede estandarizarse.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34840" y="525780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E9ECE5"/>
          </a:solidFill>
          <a:ln w="10160">
            <a:solidFill>
              <a:srgbClr val="C9D1C3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5440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16"/>
                </a:solidFill>
              </a:rPr>
              <a:t>Útil cuando el negocio encaja en apps existentes.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635240" y="52578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5F5CE"/>
          </a:solidFill>
          <a:ln w="10160">
            <a:solidFill>
              <a:srgbClr val="B8FF1F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54132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D0B"/>
                </a:solidFill>
              </a:rPr>
              <a:t>Atlas gana cuando la operación debe diseñarse antes de construirse.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4"/>
          </a:solidFill>
          <a:ln w="12700">
            <a:solidFill>
              <a:srgbClr val="05070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5720"/>
            <a:ext cx="2651760" cy="265176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01168"/>
            <a:ext cx="2240280" cy="224028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01168"/>
            <a:ext cx="27432" cy="27432"/>
          </a:xfrm>
          <a:prstGeom prst="ellipse">
            <a:avLst/>
          </a:prstGeom>
          <a:solidFill>
            <a:srgbClr val="B8FF1F">
              <a:alpha val="5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01168"/>
            <a:ext cx="27432" cy="27432"/>
          </a:xfrm>
          <a:prstGeom prst="ellipse">
            <a:avLst/>
          </a:prstGeom>
          <a:solidFill>
            <a:srgbClr val="B8FF1F">
              <a:alpha val="4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01168"/>
            <a:ext cx="27432" cy="27432"/>
          </a:xfrm>
          <a:prstGeom prst="ellipse">
            <a:avLst/>
          </a:prstGeom>
          <a:solidFill>
            <a:srgbClr val="B8FF1F">
              <a:alpha val="4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"/>
            <a:ext cx="27432" cy="27432"/>
          </a:xfrm>
          <a:prstGeom prst="ellipse">
            <a:avLst/>
          </a:prstGeom>
          <a:solidFill>
            <a:srgbClr val="B8FF1F">
              <a:alpha val="3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"/>
            <a:ext cx="27432" cy="27432"/>
          </a:xfrm>
          <a:prstGeom prst="ellipse">
            <a:avLst/>
          </a:prstGeom>
          <a:solidFill>
            <a:srgbClr val="B8FF1F">
              <a:alpha val="3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02336"/>
            <a:ext cx="27432" cy="27432"/>
          </a:xfrm>
          <a:prstGeom prst="ellipse">
            <a:avLst/>
          </a:prstGeom>
          <a:solidFill>
            <a:srgbClr val="B8FF1F">
              <a:alpha val="3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02336"/>
            <a:ext cx="27432" cy="27432"/>
          </a:xfrm>
          <a:prstGeom prst="ellipse">
            <a:avLst/>
          </a:prstGeom>
          <a:solidFill>
            <a:srgbClr val="B8FF1F">
              <a:alpha val="2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02336"/>
            <a:ext cx="27432" cy="27432"/>
          </a:xfrm>
          <a:prstGeom prst="ellipse">
            <a:avLst/>
          </a:prstGeom>
          <a:solidFill>
            <a:srgbClr val="B8FF1F">
              <a:alpha val="2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2336"/>
            <a:ext cx="27432" cy="27432"/>
          </a:xfrm>
          <a:prstGeom prst="ellipse">
            <a:avLst/>
          </a:prstGeom>
          <a:solidFill>
            <a:srgbClr val="B8FF1F">
              <a:alpha val="1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"/>
            <a:ext cx="27432" cy="27432"/>
          </a:xfrm>
          <a:prstGeom prst="ellipse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ejecutivo: qué estás comprando realmente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tabla de features. Es una matriz de modelo, riesgo y profundidad operacional.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02920" y="2084832"/>
            <a:ext cx="2148840" cy="530352"/>
          </a:xfrm>
          <a:prstGeom prst="roundRect">
            <a:avLst>
              <a:gd name="adj" fmla="val 13793"/>
            </a:avLst>
          </a:prstGeom>
          <a:solidFill>
            <a:srgbClr val="0E110F"/>
          </a:solidFill>
          <a:ln w="10160">
            <a:solidFill>
              <a:srgbClr val="4E5550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224028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9F2"/>
                </a:solidFill>
              </a:rPr>
              <a:t>Criterio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2084832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26050B"/>
          </a:solidFill>
          <a:ln w="10160">
            <a:solidFill>
              <a:srgbClr val="4E5550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224028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9F2"/>
                </a:solidFill>
              </a:rPr>
              <a:t>Oracle / SAP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2084832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26050B"/>
          </a:solidFill>
          <a:ln w="10160">
            <a:solidFill>
              <a:srgbClr val="4E5550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224028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9F2"/>
                </a:solidFill>
              </a:rPr>
              <a:t>Odoo / Zoho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084832"/>
            <a:ext cx="1874520" cy="530352"/>
          </a:xfrm>
          <a:prstGeom prst="roundRect">
            <a:avLst>
              <a:gd name="adj" fmla="val 13793"/>
            </a:avLst>
          </a:prstGeom>
          <a:solidFill>
            <a:srgbClr val="26050B"/>
          </a:solidFill>
          <a:ln w="10160">
            <a:solidFill>
              <a:srgbClr val="4E555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24028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9F2"/>
                </a:solidFill>
              </a:rPr>
              <a:t>Solo ingenieros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275320" y="2084832"/>
            <a:ext cx="2331720" cy="530352"/>
          </a:xfrm>
          <a:prstGeom prst="roundRect">
            <a:avLst>
              <a:gd name="adj" fmla="val 13793"/>
            </a:avLst>
          </a:prstGeom>
          <a:solidFill>
            <a:srgbClr val="183A0F"/>
          </a:solidFill>
          <a:ln w="10160">
            <a:solidFill>
              <a:srgbClr val="B8FF1F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2240280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FF1F"/>
                </a:solidFill>
              </a:rPr>
              <a:t>Atlas Tech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2615184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276148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Punto de partida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51760" y="261518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27614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Suite / estándar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26280" y="261518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27614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Apps configurables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00800" y="261518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7614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Feature request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75320" y="2615184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66760" y="27614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Modelo operativo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02920" y="3090672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23697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Fit operacional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651760" y="309067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323697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Fit-to-standard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26280" y="309067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23697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Fit-to-suite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00800" y="309067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323697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Fit-to-spec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75320" y="3090672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32369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Fit-to-operating-model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3566160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37124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Diseño de procesos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651760" y="356616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37124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Metodología del vendor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26280" y="356616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17720" y="37124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Limitado por plataforma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400800" y="356616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92240" y="371246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Lo debe aportar el cliente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275320" y="3566160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66760" y="3712464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Incluido desde discovery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2920" y="4041648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4187952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Ingeniería custom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651760" y="404164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0" y="41879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Extensiones controladas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26280" y="404164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17720" y="41879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Config / low-code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400800" y="404164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0" y="41879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Alta libertad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275320" y="404164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66760" y="418795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Build donde diferencia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02920" y="4517136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466344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AI + automatización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651760" y="4517136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0" y="466344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Embebida en suite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526280" y="4517136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17720" y="466344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Funcionalidades nativas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400800" y="4517136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92240" y="466344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Depende del equipo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275320" y="4517136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66760" y="46634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Diseñada al contexto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02920" y="4992624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4360" y="513892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Legal / governance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651760" y="499262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0" y="51389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Vendor + integrador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4526280" y="499262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17720" y="51389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Términos de suite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400800" y="4992624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92240" y="51389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Frecuentemente parcial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8275320" y="4992624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66760" y="513892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By Design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02920" y="5468112"/>
            <a:ext cx="2148840" cy="475488"/>
          </a:xfrm>
          <a:prstGeom prst="roundRect">
            <a:avLst>
              <a:gd name="adj" fmla="val 15385"/>
            </a:avLst>
          </a:prstGeom>
          <a:solidFill>
            <a:srgbClr val="0B100C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4360" y="561441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F9F2"/>
                </a:solidFill>
              </a:rPr>
              <a:t>Evolución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651760" y="546811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0" y="561441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Roadmap del vendor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526280" y="546811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17720" y="561441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Roadmap del vendor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400800" y="5468112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21070B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92240" y="561441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8E0D1"/>
                </a:solidFill>
              </a:rPr>
              <a:t>Depende del equipo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275320" y="5468112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13280E"/>
          </a:solidFill>
          <a:ln w="10160">
            <a:solidFill>
              <a:srgbClr val="374239">
                <a:alpha val="5500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366760" y="561441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Operación + producto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960120" y="614476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0D1"/>
                </a:solidFill>
              </a:rPr>
              <a:t>Lectura: Atlas no sustituye todos los escenarios de suite. Gana cuando el negocio necesita traducción operación→producto→ingeniería→gobierno.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8FF1F">
              <a:alpha val="95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5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10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Atlas: estandarizar lo común, construir lo que diferencia.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74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no está en hacer todo a medida. Está en decidir correctamente qué comprar, configurar, integrar, construir, automatizar o aumentar con IA.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BCC5B6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26080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6255"/>
                </a:solidFill>
              </a:rPr>
              <a:t>BUY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749808" y="31912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0A"/>
                </a:solidFill>
              </a:rPr>
              <a:t>Proceso commodity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358444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4B"/>
                </a:solidFill>
              </a:rPr>
              <a:t>ERP / suite / SaaS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95144" y="3392424"/>
            <a:ext cx="173736" cy="0"/>
          </a:xfrm>
          <a:prstGeom prst="line">
            <a:avLst/>
          </a:prstGeom>
          <a:noFill/>
          <a:ln w="12700">
            <a:solidFill>
              <a:srgbClr val="7B877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96312" y="2743200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BCC5B6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26080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6255"/>
                </a:solidFill>
              </a:rPr>
              <a:t>CONFIGURE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606040" y="31912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0A"/>
                </a:solidFill>
              </a:rPr>
              <a:t>Variación estándar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06040" y="358444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4B"/>
                </a:solidFill>
              </a:rPr>
              <a:t>Flujos y roles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51376" y="3392424"/>
            <a:ext cx="173736" cy="0"/>
          </a:xfrm>
          <a:prstGeom prst="line">
            <a:avLst/>
          </a:prstGeom>
          <a:noFill/>
          <a:ln w="12700">
            <a:solidFill>
              <a:srgbClr val="7B8777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52544" y="2743200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BCC5B6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2926080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56255"/>
                </a:solidFill>
              </a:rPr>
              <a:t>INTEGRATE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462272" y="31912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0A"/>
                </a:solidFill>
              </a:rPr>
              <a:t>Sistema especializado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62272" y="358444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4B"/>
                </a:solidFill>
              </a:rPr>
              <a:t>APIs y datos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07608" y="3392424"/>
            <a:ext cx="173736" cy="0"/>
          </a:xfrm>
          <a:prstGeom prst="line">
            <a:avLst/>
          </a:prstGeom>
          <a:noFill/>
          <a:ln w="12700">
            <a:solidFill>
              <a:srgbClr val="7B8777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08776" y="2743200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E5F5CE"/>
          </a:solidFill>
          <a:ln w="10160">
            <a:solidFill>
              <a:srgbClr val="B8FF1F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2926080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5407"/>
                </a:solidFill>
              </a:rPr>
              <a:t>BUILD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318504" y="31912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0A"/>
                </a:solidFill>
              </a:rPr>
              <a:t>Diferenciador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18504" y="358444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4B"/>
                </a:solidFill>
              </a:rPr>
              <a:t>Producto propio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863840" y="3392424"/>
            <a:ext cx="173736" cy="0"/>
          </a:xfrm>
          <a:prstGeom prst="line">
            <a:avLst/>
          </a:prstGeom>
          <a:noFill/>
          <a:ln w="12700">
            <a:solidFill>
              <a:srgbClr val="7B877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65008" y="2743200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E5F5CE"/>
          </a:solidFill>
          <a:ln w="10160">
            <a:solidFill>
              <a:srgbClr val="B8FF1F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4736" y="2926080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5407"/>
                </a:solidFill>
              </a:rPr>
              <a:t>AUTOMATE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174736" y="31912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0A"/>
                </a:solidFill>
              </a:rPr>
              <a:t>Volumen repetitivo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74736" y="358444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4B"/>
                </a:solidFill>
              </a:rPr>
              <a:t>Workflows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720072" y="3392424"/>
            <a:ext cx="173736" cy="0"/>
          </a:xfrm>
          <a:prstGeom prst="line">
            <a:avLst/>
          </a:prstGeom>
          <a:noFill/>
          <a:ln w="12700">
            <a:solidFill>
              <a:srgbClr val="7B8777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21240" y="2743200"/>
            <a:ext cx="1627632" cy="1298448"/>
          </a:xfrm>
          <a:prstGeom prst="roundRect">
            <a:avLst>
              <a:gd name="adj" fmla="val 5634"/>
            </a:avLst>
          </a:prstGeom>
          <a:solidFill>
            <a:srgbClr val="E5F5CE"/>
          </a:solidFill>
          <a:ln w="10160">
            <a:solidFill>
              <a:srgbClr val="B8FF1F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30968" y="2926080"/>
            <a:ext cx="1408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35407"/>
                </a:solidFill>
              </a:rPr>
              <a:t>AUGMENT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10030968" y="31912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0A"/>
                </a:solidFill>
              </a:rPr>
              <a:t>Decisión contextual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030968" y="358444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4B"/>
                </a:solidFill>
              </a:rPr>
              <a:t>AI / agentes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417320" y="4800600"/>
            <a:ext cx="9326880" cy="749808"/>
          </a:xfrm>
          <a:prstGeom prst="roundRect">
            <a:avLst>
              <a:gd name="adj" fmla="val 9756"/>
            </a:avLst>
          </a:prstGeom>
          <a:solidFill>
            <a:srgbClr val="0E170A"/>
          </a:solidFill>
          <a:ln w="10160">
            <a:solidFill>
              <a:srgbClr val="B8FF1F">
                <a:alpha val="8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5020056"/>
            <a:ext cx="8732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FF1F"/>
                </a:solidFill>
              </a:rPr>
              <a:t>Atlas no parte de “qué herramienta comprar”. Parte de “qué capacidad necesita la empresa” y después diseña la combinación técnica correcta.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4"/>
          </a:solidFill>
          <a:ln w="12700">
            <a:solidFill>
              <a:srgbClr val="05070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5720"/>
            <a:ext cx="2651760" cy="265176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01168"/>
            <a:ext cx="2240280" cy="224028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01168"/>
            <a:ext cx="27432" cy="27432"/>
          </a:xfrm>
          <a:prstGeom prst="ellipse">
            <a:avLst/>
          </a:prstGeom>
          <a:solidFill>
            <a:srgbClr val="B8FF1F">
              <a:alpha val="5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01168"/>
            <a:ext cx="27432" cy="27432"/>
          </a:xfrm>
          <a:prstGeom prst="ellipse">
            <a:avLst/>
          </a:prstGeom>
          <a:solidFill>
            <a:srgbClr val="B8FF1F">
              <a:alpha val="4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01168"/>
            <a:ext cx="27432" cy="27432"/>
          </a:xfrm>
          <a:prstGeom prst="ellipse">
            <a:avLst/>
          </a:prstGeom>
          <a:solidFill>
            <a:srgbClr val="B8FF1F">
              <a:alpha val="4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"/>
            <a:ext cx="27432" cy="27432"/>
          </a:xfrm>
          <a:prstGeom prst="ellipse">
            <a:avLst/>
          </a:prstGeom>
          <a:solidFill>
            <a:srgbClr val="B8FF1F">
              <a:alpha val="3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"/>
            <a:ext cx="27432" cy="27432"/>
          </a:xfrm>
          <a:prstGeom prst="ellipse">
            <a:avLst/>
          </a:prstGeom>
          <a:solidFill>
            <a:srgbClr val="B8FF1F">
              <a:alpha val="3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02336"/>
            <a:ext cx="27432" cy="27432"/>
          </a:xfrm>
          <a:prstGeom prst="ellipse">
            <a:avLst/>
          </a:prstGeom>
          <a:solidFill>
            <a:srgbClr val="B8FF1F">
              <a:alpha val="3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02336"/>
            <a:ext cx="27432" cy="27432"/>
          </a:xfrm>
          <a:prstGeom prst="ellipse">
            <a:avLst/>
          </a:prstGeom>
          <a:solidFill>
            <a:srgbClr val="B8FF1F">
              <a:alpha val="2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02336"/>
            <a:ext cx="27432" cy="27432"/>
          </a:xfrm>
          <a:prstGeom prst="ellipse">
            <a:avLst/>
          </a:prstGeom>
          <a:solidFill>
            <a:srgbClr val="B8FF1F">
              <a:alpha val="2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2336"/>
            <a:ext cx="27432" cy="27432"/>
          </a:xfrm>
          <a:prstGeom prst="ellipse">
            <a:avLst/>
          </a:prstGeom>
          <a:solidFill>
            <a:srgbClr val="B8FF1F">
              <a:alpha val="1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"/>
            <a:ext cx="27432" cy="27432"/>
          </a:xfrm>
          <a:prstGeom prst="ellipse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 code ≠ custom transformation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equipo que solo programa puede construir lo pedido y, aun así, digitalizar un proceso mal diseñado.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31520" y="205740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21060A"/>
          </a:solidFill>
          <a:ln w="10160">
            <a:solidFill>
              <a:srgbClr val="FF5D62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9F2"/>
                </a:solidFill>
              </a:rPr>
              <a:t>Solo ingenieros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78992" y="278892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1261872" y="27889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Esperan specs claras del cliente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078992" y="320040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1261872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Resuelven ejecución técnica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078992" y="361188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261872" y="3611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Producto, proceso y adopción quedan fuera si no existe owner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78992" y="402336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1261872" y="40233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El riesgo jurídico suele aparecer tarde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446520" y="2057400"/>
            <a:ext cx="4892040" cy="3246120"/>
          </a:xfrm>
          <a:prstGeom prst="roundRect">
            <a:avLst>
              <a:gd name="adj" fmla="val 2254"/>
            </a:avLst>
          </a:prstGeom>
          <a:solidFill>
            <a:srgbClr val="14240D"/>
          </a:solidFill>
          <a:ln w="10160">
            <a:solidFill>
              <a:srgbClr val="B8FF1F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331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FF1F"/>
                </a:solidFill>
              </a:rPr>
              <a:t>Atlas Tech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793992" y="278892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6976872" y="27889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Traduce operación en especificación ejecutable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6793992" y="320040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6976872" y="32004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Diseña producto, arquitectura, datos y UX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6793992" y="361188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6976872" y="36118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Integra ingeniería + adopción + governance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6793992" y="4023360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B8FF1F"/>
                </a:solidFill>
              </a:rPr>
              <a:t>•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6976872" y="40233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8E0D1"/>
                </a:solidFill>
              </a:rPr>
              <a:t>Gobierna IP, datos, scope, aceptación y continuidad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5897880" y="2423160"/>
            <a:ext cx="0" cy="2606040"/>
          </a:xfrm>
          <a:prstGeom prst="line">
            <a:avLst/>
          </a:prstGeom>
          <a:noFill/>
          <a:ln w="15240">
            <a:solidFill>
              <a:srgbClr val="B8FF1F">
                <a:alpha val="6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4251960" y="5468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595"/>
                </a:solidFill>
              </a:rPr>
              <a:t>La capa que normalmente falta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154680" y="5779008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FF1F"/>
                </a:solidFill>
              </a:rPr>
              <a:t>Business ↔ Product ↔ Engineering ↔ Legal/Governance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8FF1F">
              <a:alpha val="95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5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10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tiene más sentido cada camino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74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mejor decisión depende de qué tan única es la operación y qué tan claros están los procesos.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1280160" y="5074920"/>
            <a:ext cx="9235440" cy="0"/>
          </a:xfrm>
          <a:prstGeom prst="line">
            <a:avLst/>
          </a:prstGeom>
          <a:noFill/>
          <a:ln w="15240">
            <a:solidFill>
              <a:srgbClr val="58655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80160" y="5074920"/>
            <a:ext cx="0" cy="-3474720"/>
          </a:xfrm>
          <a:prstGeom prst="line">
            <a:avLst/>
          </a:prstGeom>
          <a:noFill/>
          <a:ln w="15240">
            <a:solidFill>
              <a:srgbClr val="58655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17320" y="162763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65347"/>
                </a:solidFill>
              </a:rPr>
              <a:t>Procesos claros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417320" y="48006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65347"/>
                </a:solidFill>
              </a:rPr>
              <a:t>Procesos ambiguos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5349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65347"/>
                </a:solidFill>
              </a:rPr>
              <a:t>Operación estándar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0" y="5349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65347"/>
                </a:solidFill>
              </a:rPr>
              <a:t>Operación diferenciada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0" y="201168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DDE8FF">
              <a:alpha val="85000"/>
            </a:srgbClr>
          </a:solidFill>
          <a:ln w="13970">
            <a:solidFill>
              <a:srgbClr val="DDE8FF">
                <a:alpha val="9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221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A"/>
                </a:solidFill>
              </a:rPr>
              <a:t>Oracle / SAP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93392" y="258775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64136"/>
                </a:solidFill>
              </a:rPr>
              <a:t>Escala, compliance, procesos enterprise y estandarización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828800" y="3657600"/>
            <a:ext cx="3017520" cy="1143000"/>
          </a:xfrm>
          <a:prstGeom prst="roundRect">
            <a:avLst>
              <a:gd name="adj" fmla="val 9600"/>
            </a:avLst>
          </a:prstGeom>
          <a:solidFill>
            <a:srgbClr val="FFF2D4">
              <a:alpha val="85000"/>
            </a:srgbClr>
          </a:solidFill>
          <a:ln w="13970">
            <a:solidFill>
              <a:srgbClr val="FFF2D4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A"/>
                </a:solidFill>
              </a:rPr>
              <a:t>Odoo / Zoho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993392" y="4233672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64136"/>
                </a:solidFill>
              </a:rPr>
              <a:t>Apps integradas, velocidad y configuración para procesos comunes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40880" y="201168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FFD9DC">
              <a:alpha val="85000"/>
            </a:srgbClr>
          </a:solidFill>
          <a:ln w="13970">
            <a:solidFill>
              <a:srgbClr val="FFD9DC">
                <a:alpha val="9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2219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A"/>
                </a:solidFill>
              </a:rPr>
              <a:t>Solo ingenieros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05472" y="258775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64136"/>
                </a:solidFill>
              </a:rPr>
              <a:t>Cuando specs, arquitectura y product ownership ya existen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5160" y="3657600"/>
            <a:ext cx="2926080" cy="1143000"/>
          </a:xfrm>
          <a:prstGeom prst="roundRect">
            <a:avLst>
              <a:gd name="adj" fmla="val 9600"/>
            </a:avLst>
          </a:prstGeom>
          <a:solidFill>
            <a:srgbClr val="E5F5CE">
              <a:alpha val="85000"/>
            </a:srgbClr>
          </a:solidFill>
          <a:ln w="13970">
            <a:solidFill>
              <a:srgbClr val="E5F5CE">
                <a:alpha val="9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8679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0A"/>
                </a:solidFill>
              </a:rPr>
              <a:t>Atlas Tech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59752" y="423367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64136"/>
                </a:solidFill>
              </a:rPr>
              <a:t>Cuando la operación debe entenderse, diseñarse y luego construirse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20240" y="5897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4240D"/>
                </a:solidFill>
              </a:rPr>
              <a:t>Territorio Atlas: alta especificidad + procesos aún no suficientemente estructurados + necesidad de arquitectura, producto y gobierno.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4"/>
          </a:solidFill>
          <a:ln w="12700">
            <a:solidFill>
              <a:srgbClr val="05070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5720"/>
            <a:ext cx="2651760" cy="265176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01168"/>
            <a:ext cx="2240280" cy="224028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01168"/>
            <a:ext cx="27432" cy="27432"/>
          </a:xfrm>
          <a:prstGeom prst="ellipse">
            <a:avLst/>
          </a:prstGeom>
          <a:solidFill>
            <a:srgbClr val="B8FF1F">
              <a:alpha val="5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01168"/>
            <a:ext cx="27432" cy="27432"/>
          </a:xfrm>
          <a:prstGeom prst="ellipse">
            <a:avLst/>
          </a:prstGeom>
          <a:solidFill>
            <a:srgbClr val="B8FF1F">
              <a:alpha val="4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01168"/>
            <a:ext cx="27432" cy="27432"/>
          </a:xfrm>
          <a:prstGeom prst="ellipse">
            <a:avLst/>
          </a:prstGeom>
          <a:solidFill>
            <a:srgbClr val="B8FF1F">
              <a:alpha val="4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"/>
            <a:ext cx="27432" cy="27432"/>
          </a:xfrm>
          <a:prstGeom prst="ellipse">
            <a:avLst/>
          </a:prstGeom>
          <a:solidFill>
            <a:srgbClr val="B8FF1F">
              <a:alpha val="3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"/>
            <a:ext cx="27432" cy="27432"/>
          </a:xfrm>
          <a:prstGeom prst="ellipse">
            <a:avLst/>
          </a:prstGeom>
          <a:solidFill>
            <a:srgbClr val="B8FF1F">
              <a:alpha val="3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02336"/>
            <a:ext cx="27432" cy="27432"/>
          </a:xfrm>
          <a:prstGeom prst="ellipse">
            <a:avLst/>
          </a:prstGeom>
          <a:solidFill>
            <a:srgbClr val="B8FF1F">
              <a:alpha val="3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02336"/>
            <a:ext cx="27432" cy="27432"/>
          </a:xfrm>
          <a:prstGeom prst="ellipse">
            <a:avLst/>
          </a:prstGeom>
          <a:solidFill>
            <a:srgbClr val="B8FF1F">
              <a:alpha val="2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02336"/>
            <a:ext cx="27432" cy="27432"/>
          </a:xfrm>
          <a:prstGeom prst="ellipse">
            <a:avLst/>
          </a:prstGeom>
          <a:solidFill>
            <a:srgbClr val="B8FF1F">
              <a:alpha val="2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2336"/>
            <a:ext cx="27432" cy="27432"/>
          </a:xfrm>
          <a:prstGeom prst="ellipse">
            <a:avLst/>
          </a:prstGeom>
          <a:solidFill>
            <a:srgbClr val="B8FF1F">
              <a:alpha val="1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"/>
            <a:ext cx="27432" cy="27432"/>
          </a:xfrm>
          <a:prstGeom prst="ellipse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diferencia invisible: gobierno técnico y jurídico desde el diseño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transformación digital no solo genera pantallas. Genera derechos, obligaciones, evidencias, dependencias y continuidad.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910328" y="2542032"/>
            <a:ext cx="2331720" cy="2331720"/>
          </a:xfrm>
          <a:prstGeom prst="ellipse">
            <a:avLst/>
          </a:prstGeom>
          <a:solidFill>
            <a:srgbClr val="17300F"/>
          </a:solidFill>
          <a:ln w="15240">
            <a:solidFill>
              <a:srgbClr val="B8FF1F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03580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F1F"/>
                </a:solidFill>
              </a:rPr>
              <a:t>LEGAL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8FF1F"/>
                </a:solidFill>
              </a:rPr>
              <a:t>GOVERNANCE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8FF1F"/>
                </a:solidFill>
              </a:rPr>
              <a:t>BY DESIGN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19659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160F"/>
          </a:solidFill>
          <a:ln w="10160">
            <a:solidFill>
              <a:srgbClr val="B8FF1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1305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CUSTOM DEVELOPMENT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24140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Origen · ownership · licencia · reuse · mantenimiento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22960" y="393192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160F"/>
          </a:solidFill>
          <a:ln w="10160">
            <a:solidFill>
              <a:srgbClr val="B8FF1F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9651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CUSTOMER DATA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" y="43799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Finalidad · acceso · privacidad · portabilidad · seguridad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389120" y="5074920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0F160F"/>
          </a:solidFill>
          <a:ln w="10160">
            <a:solidFill>
              <a:srgbClr val="B8FF1F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523951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AI / API PROVIDER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26280" y="55229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Datos · retención · región · proveedor · continuidad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863840" y="393192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160F"/>
          </a:solidFill>
          <a:ln w="10160">
            <a:solidFill>
              <a:srgbClr val="B8FF1F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1000" y="409651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NEW REQUIREMENT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01000" y="437997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Scope · impacto · aprobación · change control · aceptación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7863840" y="1965960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0F160F"/>
          </a:solidFill>
          <a:ln w="10160">
            <a:solidFill>
              <a:srgbClr val="B8FF1F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213055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GO-LIVE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001000" y="24140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8E0D1"/>
                </a:solidFill>
              </a:rPr>
              <a:t>UAT · accesos · backups · soporte · incident response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645920" y="5907024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7F9F2"/>
                </a:solidFill>
              </a:rPr>
              <a:t>La señal para el cliente: Atlas entiende las consecuencias jurídicas de las decisiones técnicas.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4"/>
          </a:solidFill>
          <a:ln w="12700">
            <a:solidFill>
              <a:srgbClr val="05070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5720"/>
            <a:ext cx="2651760" cy="265176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201168"/>
            <a:ext cx="2240280" cy="2240280"/>
          </a:xfrm>
          <a:prstGeom prst="arc">
            <a:avLst/>
          </a:prstGeom>
          <a:solidFill>
            <a:srgbClr val="050704">
              <a:alpha val="0"/>
            </a:srgbClr>
          </a:solidFill>
          <a:ln w="10160">
            <a:solidFill>
              <a:srgbClr val="B8FF1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201168"/>
            <a:ext cx="27432" cy="27432"/>
          </a:xfrm>
          <a:prstGeom prst="ellipse">
            <a:avLst/>
          </a:prstGeom>
          <a:solidFill>
            <a:srgbClr val="B8FF1F">
              <a:alpha val="5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201168"/>
            <a:ext cx="27432" cy="27432"/>
          </a:xfrm>
          <a:prstGeom prst="ellipse">
            <a:avLst/>
          </a:prstGeom>
          <a:solidFill>
            <a:srgbClr val="B8FF1F">
              <a:alpha val="4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201168"/>
            <a:ext cx="27432" cy="27432"/>
          </a:xfrm>
          <a:prstGeom prst="ellipse">
            <a:avLst/>
          </a:prstGeom>
          <a:solidFill>
            <a:srgbClr val="B8FF1F">
              <a:alpha val="4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01168"/>
            <a:ext cx="27432" cy="27432"/>
          </a:xfrm>
          <a:prstGeom prst="ellipse">
            <a:avLst/>
          </a:prstGeom>
          <a:solidFill>
            <a:srgbClr val="B8FF1F">
              <a:alpha val="3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01168"/>
            <a:ext cx="27432" cy="27432"/>
          </a:xfrm>
          <a:prstGeom prst="ellipse">
            <a:avLst/>
          </a:prstGeom>
          <a:solidFill>
            <a:srgbClr val="B8FF1F">
              <a:alpha val="3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402336"/>
            <a:ext cx="27432" cy="27432"/>
          </a:xfrm>
          <a:prstGeom prst="ellipse">
            <a:avLst/>
          </a:prstGeom>
          <a:solidFill>
            <a:srgbClr val="B8FF1F">
              <a:alpha val="30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402336"/>
            <a:ext cx="27432" cy="27432"/>
          </a:xfrm>
          <a:prstGeom prst="ellipse">
            <a:avLst/>
          </a:prstGeom>
          <a:solidFill>
            <a:srgbClr val="B8FF1F">
              <a:alpha val="26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402336"/>
            <a:ext cx="27432" cy="27432"/>
          </a:xfrm>
          <a:prstGeom prst="ellipse">
            <a:avLst/>
          </a:prstGeom>
          <a:solidFill>
            <a:srgbClr val="B8FF1F">
              <a:alpha val="22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2336"/>
            <a:ext cx="27432" cy="27432"/>
          </a:xfrm>
          <a:prstGeom prst="ellipse">
            <a:avLst/>
          </a:prstGeom>
          <a:solidFill>
            <a:srgbClr val="B8FF1F">
              <a:alpha val="18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"/>
            <a:ext cx="27432" cy="27432"/>
          </a:xfrm>
          <a:prstGeom prst="ellipse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B8FF1F">
              <a:alpha val="14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A5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9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Recomendación ejecutiva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E0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Atlas no es elegir “otro ERP”. Es elegir un modelo de transformación + producto + gobierno.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22960" y="20574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21812"/>
          </a:solidFill>
          <a:ln w="10160">
            <a:solidFill>
              <a:srgbClr val="3F4A40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258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9F2"/>
                </a:solidFill>
              </a:rPr>
              <a:t>Elige Oracle / SAP cuando…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2240280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0D1"/>
                </a:solidFill>
              </a:rPr>
              <a:t>el objetivo sea adoptar una suite enterprise madura, con procesos ampliamente estandarizables y escala corporativa.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2898648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21812"/>
          </a:solidFill>
          <a:ln w="10160">
            <a:solidFill>
              <a:srgbClr val="3F4A40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0998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9F2"/>
                </a:solidFill>
              </a:rPr>
              <a:t>Elige Odoo / Zoho cuando…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94760" y="3081528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0D1"/>
                </a:solidFill>
              </a:rPr>
              <a:t>quieras velocidad, apps integradas y configuración sobre procesos comunes con menor complejidad inicial.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3739896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21812"/>
          </a:solidFill>
          <a:ln w="10160">
            <a:solidFill>
              <a:srgbClr val="3F4A40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39410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7F9F2"/>
                </a:solidFill>
              </a:rPr>
              <a:t>Elige solo ingenieros cuando…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94760" y="3922776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0D1"/>
                </a:solidFill>
              </a:rPr>
              <a:t>ya tengas procesos, specs, arquitectura, seguridad, producto, QA, legal y governance resueltos internamente.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2960" y="4581144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15320E"/>
          </a:solidFill>
          <a:ln w="10160">
            <a:solidFill>
              <a:srgbClr val="B8FF1F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78231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8FF1F"/>
                </a:solidFill>
              </a:rPr>
              <a:t>Elige Atlas cuando…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94760" y="4764024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0D1"/>
                </a:solidFill>
              </a:rPr>
              <a:t>necesites entender la operación, diseñar el sistema correcto, construir lo diferenciador y gobernar datos, IP, alcance y continuidad.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14400" y="56235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FF1F"/>
                </a:solidFill>
              </a:rPr>
              <a:t>Tesis de cierre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14400" y="587044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7F9F2"/>
                </a:solidFill>
              </a:rPr>
              <a:t>Custom code no garantiza transformación. Una suite madura no garantiza fit operacional. Atlas ocupa el espacio entre negocio, producto, ingeniería y certeza jurídica.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1"/>
          </a:solidFill>
          <a:ln w="12700">
            <a:solidFill>
              <a:srgbClr val="F4F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8FF1F">
              <a:alpha val="95000"/>
            </a:srgbClr>
          </a:solidFill>
          <a:ln w="12700">
            <a:solidFill>
              <a:srgbClr val="B8FF1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51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 Tech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44200" y="320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ESTRATÉGICO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058400" y="64465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F6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ATLASTECH.MX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A10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y criterio de comparación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74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benchmark reconoce fortalezas reales de cada categoría. La comparación se centra en modelo de decisión, no en una lista exhaustiva de funcionalidades.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C7D0C0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219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00E"/>
                </a:solidFill>
              </a:rPr>
              <a:t>Oracle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212848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54033"/>
                </a:solidFill>
              </a:rPr>
              <a:t>Cloud ERP se enfoca en configuración más que personalización; ERP implementation incluye procesos, datos, seguridad, integraciones y capacitación.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777240" y="2816352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C7D0C0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9809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00E"/>
                </a:solidFill>
              </a:rPr>
              <a:t>SAP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971800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54033"/>
                </a:solidFill>
              </a:rPr>
              <a:t>SAP S/4HANA Cloud Public Edition estructura parte del proceso de implementación alrededor de Fit-to-Standard.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77240" y="3575304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C7D0C0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3989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00E"/>
                </a:solidFill>
              </a:rPr>
              <a:t>Odoo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3730752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54033"/>
                </a:solidFill>
              </a:rPr>
              <a:t>Odoo se presenta como suite integrada de apps para CRM, eCommerce, accounting, inventory, POS, projects, etc.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4334256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C7D0C0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9884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00E"/>
                </a:solidFill>
              </a:rPr>
              <a:t>Zoho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4489704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54033"/>
                </a:solidFill>
              </a:rPr>
              <a:t>Zoho One integra apps de negocio y permite Creator custom apps / SSO / administración centralizada.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66158"/>
                </a:solidFill>
              </a:rPr>
              <a:t>URLs oficiales consultadas: oracle.com/erp • learning.sap.com • odoo.com • help.zoho.com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580644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240F"/>
                </a:solidFill>
              </a:rPr>
              <a:t>Nota: la decisión final depende de industria, madurez operativa, alcance, presupuesto, riesgo, stack existente, regulación aplicable y ambición de diferenciación.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Atlas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 qué elegir Atlas Tech</dc:title>
  <dc:subject>Benchmark estratégico: Atlas Tech vs suites enterprise, suites configurables e ingeniería pura</dc:subject>
  <dc:creator>Atlas Tech</dc:creator>
  <cp:lastModifiedBy>Atlas Tech</cp:lastModifiedBy>
  <cp:revision>1</cp:revision>
  <dcterms:created xsi:type="dcterms:W3CDTF">2026-08-10T11:09:42Z</dcterms:created>
  <dcterms:modified xsi:type="dcterms:W3CDTF">2026-08-10T11:09:42Z</dcterms:modified>
</cp:coreProperties>
</file>