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22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atlastech.mx website capture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atlastech.mx website capture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founder details
- User-provided Emmanuel CV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website capture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website capture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Emmanuel CV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team screenshots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Conversation inputs from user
- User-provided website capture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pic>
        <p:nvPicPr>
          <p:cNvPr id="13" name="Image 0" descr="/mnt/data/atlas_deck_work/crops/central_chip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7635240" y="691744"/>
            <a:ext cx="3566160" cy="483443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46720" y="1554480"/>
            <a:ext cx="2926080" cy="2926080"/>
          </a:xfrm>
          <a:prstGeom prst="ellipse">
            <a:avLst/>
          </a:prstGeom>
          <a:solidFill>
            <a:srgbClr val="13F287">
              <a:alpha val="8000"/>
            </a:srgbClr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" y="594360"/>
            <a:ext cx="13761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640080"/>
            <a:ext cx="1175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MAESTRO 2026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" y="1143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04672" y="18745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Startup tecnológica y venture studio construyendo infraestructura empresarial inteligente para Latinoamérica.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04672" y="3246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 + ERP + RAGs internos + blockchain aplicada. Uniendo operación, conocimiento, automatización y fidelización dentro de una misma arquitectura.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04672" y="4663440"/>
            <a:ext cx="41605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5256" y="4709160"/>
            <a:ext cx="2148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330452" y="4663440"/>
            <a:ext cx="41605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31036" y="4709160"/>
            <a:ext cx="2148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56232" y="466344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56816" y="470916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313432" y="4663440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14016" y="47091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19272" y="4663440"/>
            <a:ext cx="5532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9856" y="4709160"/>
            <a:ext cx="352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4672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Israel Romero Flores + Emmanuel Campos Genaro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04672" y="6144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Atlas Tech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POSICIONAMIENTO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170432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desarrolla infraestructura digital empresarial moderna. Su propuesta combina consultoría, construcción de producto y delivery tecnológico para que empresas y startups operen con más control, inteligencia, trazabilidad y escalabilidad.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245059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construimos software aislado; diseñamos un sistema operativo de negocio que integra operación, conocimiento y nuevos mecanismos de valor.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la operación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36168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BOS, ERP, APIs e integraciones para centralizar procesos y ejecución.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633472" y="379476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70632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el conocimiento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70632" y="436168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RAGs internos y automatización para convertir información en contexto útil.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89704" y="379476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26864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fidelización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436168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+ LaaS con cashback en blockchain para transacción y recurrencia.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903720" y="960120"/>
            <a:ext cx="4389120" cy="4983480"/>
          </a:xfrm>
          <a:prstGeom prst="roundRect">
            <a:avLst>
              <a:gd name="adj" fmla="val 1667"/>
            </a:avLst>
          </a:prstGeom>
          <a:solidFill>
            <a:srgbClr val="0B2F27">
              <a:alpha val="92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0" descr="/mnt/data/atlas_deck_work/site_render/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583" y="1188720"/>
            <a:ext cx="3462251" cy="44805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132320" y="5623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narrativa del sitio ya proyecta transformación digital, IA y soluciones empresariales modernas. El deck aterriza la capa organizacional, el modelo operativo y la visión de plataforma.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 breve + filosofía de construcción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Y PRINCIPIOS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1097280"/>
            <a:ext cx="5166360" cy="5120640"/>
          </a:xfrm>
          <a:prstGeom prst="roundRect">
            <a:avLst>
              <a:gd name="adj" fmla="val 1429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1353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surge de la trayectoria compartida de Israel Romero Flores y Emmanuel Campos Genaro.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1920240"/>
            <a:ext cx="0" cy="3520440"/>
          </a:xfrm>
          <a:prstGeom prst="line">
            <a:avLst/>
          </a:prstGeom>
          <a:noFill/>
          <a:ln w="16510">
            <a:solidFill>
              <a:srgbClr val="12B7A8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1874520"/>
            <a:ext cx="274320" cy="274320"/>
          </a:xfrm>
          <a:prstGeom prst="ellipse">
            <a:avLst/>
          </a:prstGeom>
          <a:solidFill>
            <a:srgbClr val="12B7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18653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18562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del camino emprendedor y de experimentación tecnológica compartida.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1051560" y="2788920"/>
            <a:ext cx="274320" cy="274320"/>
          </a:xfrm>
          <a:prstGeom prst="ellipse">
            <a:avLst/>
          </a:prstGeom>
          <a:solidFill>
            <a:srgbClr val="12B7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7797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2016-2021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2770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 de innovación presentados en espacios internacionales; automatización, sistemas inteligentes, invernaderos y modelos inspirados en neuronas artificiales.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1051560" y="3703320"/>
            <a:ext cx="274320" cy="274320"/>
          </a:xfrm>
          <a:prstGeom prst="ellipse">
            <a:avLst/>
          </a:prstGeom>
          <a:solidFill>
            <a:srgbClr val="12B7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6941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2022-2025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6850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Acumulación de experiencia en analítica, transformación digital, sistemas, producto, datos y arquitectura tecnológica.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1051560" y="4617720"/>
            <a:ext cx="274320" cy="274320"/>
          </a:xfrm>
          <a:prstGeom prst="ellipse">
            <a:avLst/>
          </a:prstGeom>
          <a:solidFill>
            <a:srgbClr val="13F2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46085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599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consolida operación activa en servicios y una visión propia de plataforma: BOS + ERP + RAGs internos + blockchain.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6217920" y="1097280"/>
            <a:ext cx="5193792" cy="5120640"/>
          </a:xfrm>
          <a:prstGeom prst="roundRect">
            <a:avLst>
              <a:gd name="adj" fmla="val 1429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73952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Filosofía Atlas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73952" y="1783080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0D352C">
              <a:alpha val="8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29400" y="1947672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1847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con propósito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73952" y="2496312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0A2C25">
              <a:alpha val="8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29400" y="2660904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antes que improvisación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73952" y="3209544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0D352C">
              <a:alpha val="8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29400" y="3374136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 y operación como punto de partida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73952" y="392277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0A2C25">
              <a:alpha val="8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29400" y="4087368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3986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 aplicable, no decorativa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73952" y="4636008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0D352C">
              <a:alpha val="8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29400" y="4800600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4700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 continua</a:t>
            </a:r>
            <a:endParaRPr lang="en-US" sz="1200" dirty="0"/>
          </a:p>
        </p:txBody>
      </p:sp>
      <p:pic>
        <p:nvPicPr>
          <p:cNvPr id="48" name="Image 0" descr="/mnt/data/atlas_deck_work/crops/hero_de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5091" y="4892040"/>
            <a:ext cx="863858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plataforma Atlas: BOS + ERP + inteligencia contextual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OBJETIVO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0789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visión de producto es unificar operación, datos, conocimiento interno e incentivos digitales dentro de una misma arquitectura modular.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77240" y="1783080"/>
            <a:ext cx="7360920" cy="4480560"/>
          </a:xfrm>
          <a:prstGeom prst="roundRect">
            <a:avLst>
              <a:gd name="adj" fmla="val 1633"/>
            </a:avLst>
          </a:prstGeom>
          <a:solidFill>
            <a:srgbClr val="0B2F27">
              <a:alpha val="94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mnt/data/atlas_deck_work/crops/central_chip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458200" y="1635124"/>
            <a:ext cx="3017520" cy="40906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411980" y="3538728"/>
            <a:ext cx="-2491740" cy="-969264"/>
          </a:xfrm>
          <a:prstGeom prst="line">
            <a:avLst/>
          </a:prstGeom>
          <a:noFill/>
          <a:ln w="17780">
            <a:solidFill>
              <a:srgbClr val="12B7A8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4411980" y="3538728"/>
            <a:ext cx="1897380" cy="-969264"/>
          </a:xfrm>
          <a:prstGeom prst="line">
            <a:avLst/>
          </a:prstGeom>
          <a:noFill/>
          <a:ln w="17780">
            <a:solidFill>
              <a:srgbClr val="12B7A8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4411980" y="3538728"/>
            <a:ext cx="-2446020" cy="1069848"/>
          </a:xfrm>
          <a:prstGeom prst="line">
            <a:avLst/>
          </a:prstGeom>
          <a:noFill/>
          <a:ln w="17780">
            <a:solidFill>
              <a:srgbClr val="12B7A8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4411980" y="3538728"/>
            <a:ext cx="1828800" cy="1069848"/>
          </a:xfrm>
          <a:prstGeom prst="line">
            <a:avLst/>
          </a:prstGeom>
          <a:noFill/>
          <a:ln w="17780">
            <a:solidFill>
              <a:srgbClr val="12B7A8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4411980" y="3538728"/>
            <a:ext cx="-201168" cy="2048256"/>
          </a:xfrm>
          <a:prstGeom prst="line">
            <a:avLst/>
          </a:prstGeom>
          <a:noFill/>
          <a:ln w="17780">
            <a:solidFill>
              <a:srgbClr val="12B7A8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3520440" y="3127248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0D4336"/>
          </a:solidFill>
          <a:ln w="12700">
            <a:solidFill>
              <a:srgbClr val="13F287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840480" y="3273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 Atlas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749040" y="3566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operativo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143000" y="224028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0A3028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280160" y="2350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252728" y="26243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Operación, finanzas y control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5440680" y="224028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0A3028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577840" y="2350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+ LaaS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550408" y="2624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 y loyalty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1005840" y="42793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A3028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143000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RAGs internos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1115568" y="466344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 y contexto</a:t>
            </a:r>
            <a:endParaRPr lang="en-US" sz="970" dirty="0"/>
          </a:p>
        </p:txBody>
      </p:sp>
      <p:sp>
        <p:nvSpPr>
          <p:cNvPr id="36" name="Shape 33"/>
          <p:cNvSpPr/>
          <p:nvPr/>
        </p:nvSpPr>
        <p:spPr>
          <a:xfrm>
            <a:off x="5257800" y="4279392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0A3028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394960" y="4389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367528" y="466344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y cashback</a:t>
            </a:r>
            <a:endParaRPr lang="en-US" sz="970" dirty="0"/>
          </a:p>
        </p:txBody>
      </p:sp>
      <p:sp>
        <p:nvSpPr>
          <p:cNvPr id="39" name="Shape 36"/>
          <p:cNvSpPr/>
          <p:nvPr/>
        </p:nvSpPr>
        <p:spPr>
          <a:xfrm>
            <a:off x="2907792" y="52578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A3028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044952" y="5367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+ automatización IA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3017520" y="564184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flujos inteligentes</a:t>
            </a:r>
            <a:endParaRPr lang="en-US" sz="970" dirty="0"/>
          </a:p>
        </p:txBody>
      </p:sp>
      <p:sp>
        <p:nvSpPr>
          <p:cNvPr id="42" name="Text 39"/>
          <p:cNvSpPr/>
          <p:nvPr/>
        </p:nvSpPr>
        <p:spPr>
          <a:xfrm>
            <a:off x="8549640" y="1353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549640" y="166420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Trazabilidad operativa</a:t>
            </a:r>
            <a:endParaRPr lang="en-US" sz="12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Decisiones con contexto interno</a:t>
            </a:r>
            <a:endParaRPr lang="en-US" sz="12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Integración modular</a:t>
            </a:r>
            <a:endParaRPr lang="en-US" sz="12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para retail, distribución, industria y startups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+ LaaS: transacción, cashback y fidelización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DE MAYOR ÉXITO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1155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 las soluciones con mayor tracción es el módulo de Punto de Venta, concebido como una pieza estratégica dentro del ecosistema Atlas.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77240" y="187452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" y="21214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resuelve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24128" y="2542032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245973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 ventas y operación comercial en un flujo único.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24128" y="3200400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11810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reglas de loyalty como servicio (LaaS).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4128" y="3858768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37764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cashback con soporte blockchain para trazabilidad.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24128" y="4517136"/>
            <a:ext cx="146304" cy="146304"/>
          </a:xfrm>
          <a:prstGeom prst="ellipse">
            <a:avLst/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44348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la compra en un punto de recompra, data y relación.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874520" y="5394960"/>
            <a:ext cx="530352" cy="0"/>
          </a:xfrm>
          <a:prstGeom prst="line">
            <a:avLst/>
          </a:prstGeom>
          <a:noFill/>
          <a:ln w="19050">
            <a:solidFill>
              <a:srgbClr val="12B7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788920" y="5394960"/>
            <a:ext cx="530352" cy="0"/>
          </a:xfrm>
          <a:prstGeom prst="line">
            <a:avLst/>
          </a:prstGeom>
          <a:noFill/>
          <a:ln w="19050">
            <a:solidFill>
              <a:srgbClr val="12B7A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03320" y="5394960"/>
            <a:ext cx="530352" cy="0"/>
          </a:xfrm>
          <a:prstGeom prst="line">
            <a:avLst/>
          </a:prstGeom>
          <a:noFill/>
          <a:ln w="19050">
            <a:solidFill>
              <a:srgbClr val="12B7A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188720" y="5074920"/>
            <a:ext cx="877824" cy="594360"/>
          </a:xfrm>
          <a:prstGeom prst="roundRect">
            <a:avLst>
              <a:gd name="adj" fmla="val 12308"/>
            </a:avLst>
          </a:prstGeom>
          <a:solidFill>
            <a:srgbClr val="0A2D25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52728" y="5184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2359152" y="5074920"/>
            <a:ext cx="877824" cy="594360"/>
          </a:xfrm>
          <a:prstGeom prst="roundRect">
            <a:avLst>
              <a:gd name="adj" fmla="val 12308"/>
            </a:avLst>
          </a:prstGeom>
          <a:solidFill>
            <a:srgbClr val="10372E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23160" y="5184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01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lealtad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3529584" y="5074920"/>
            <a:ext cx="877824" cy="594360"/>
          </a:xfrm>
          <a:prstGeom prst="roundRect">
            <a:avLst>
              <a:gd name="adj" fmla="val 12308"/>
            </a:avLst>
          </a:prstGeom>
          <a:solidFill>
            <a:srgbClr val="0A2D25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593592" y="5184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Cashback</a:t>
            </a:r>
            <a:endParaRPr lang="en-US" sz="101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registrado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4700016" y="5074920"/>
            <a:ext cx="877824" cy="594360"/>
          </a:xfrm>
          <a:prstGeom prst="roundRect">
            <a:avLst>
              <a:gd name="adj" fmla="val 12308"/>
            </a:avLst>
          </a:prstGeom>
          <a:solidFill>
            <a:srgbClr val="0A2D25">
              <a:alpha val="98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64024" y="5184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Recompra +</a:t>
            </a:r>
            <a:endParaRPr lang="en-US" sz="101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1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5806440" y="1078992"/>
            <a:ext cx="5440680" cy="5440680"/>
          </a:xfrm>
          <a:prstGeom prst="roundRect">
            <a:avLst>
              <a:gd name="adj" fmla="val 1345"/>
            </a:avLst>
          </a:prstGeom>
          <a:solidFill>
            <a:srgbClr val="10372E">
              <a:alpha val="95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pic>
        <p:nvPicPr>
          <p:cNvPr id="39" name="Image 0" descr="/mnt/data/atlas_deck_work/crops/robot_arm.png">    </p:cNvPr>
          <p:cNvPicPr>
            <a:picLocks noChangeAspect="1"/>
          </p:cNvPicPr>
          <p:nvPr/>
        </p:nvPicPr>
        <p:blipFill>
          <a:blip r:embed="rId1"/>
          <a:srcRect l="4916" r="4916" t="0" b="0"/>
          <a:stretch/>
        </p:blipFill>
        <p:spPr>
          <a:xfrm>
            <a:off x="5989320" y="1280160"/>
            <a:ext cx="5074920" cy="233172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6144768" y="3886200"/>
            <a:ext cx="4754880" cy="1783080"/>
          </a:xfrm>
          <a:prstGeom prst="roundRect">
            <a:avLst>
              <a:gd name="adj" fmla="val 4103"/>
            </a:avLst>
          </a:prstGeom>
          <a:solidFill>
            <a:srgbClr val="071E1A">
              <a:alpha val="92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635508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Encaje estratégico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355080" y="442569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3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POS materializa la tesis de Atlas: una capa operativa capaz de conectar transacción, incentivos digitales, data y experiencia del cliente en un solo sistema.</a:t>
            </a:r>
            <a:endParaRPr lang="en-US" sz="13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actuales y capacidad de ejecución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VIGENTE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1155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madura la visión de plataforma, Atlas mantiene operación activa con servicios que fortalecen talento, delivery y transformación tecnológica.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1828800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Staffing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41832" y="22677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perfiles tecnológicos para acelerar capacidades.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447288" y="1828800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188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Consulting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3611880" y="22677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Acompañamiento estratégico y técnico para evolución digital.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182112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1832" y="3346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con IA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41832" y="36210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Flujos, asistentes y procesos inteligentes orientados a eficiencia.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447288" y="3182112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1880" y="3346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APIs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3611880" y="36210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Integraciones entre sistemas internos, externos y canales operativos.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77240" y="4535424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1832" y="4700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ERP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41832" y="4974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empresariales orientados a control, administración y escalabilidad.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3447288" y="4535424"/>
            <a:ext cx="2331720" cy="1042416"/>
          </a:xfrm>
          <a:prstGeom prst="roundRect">
            <a:avLst>
              <a:gd name="adj" fmla="val 7018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11880" y="4700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2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Design Consulting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3611880" y="4974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inicial de producto, arquitectura y enfoque de construcción.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629400" y="1024128"/>
            <a:ext cx="4709160" cy="5394960"/>
          </a:xfrm>
          <a:prstGeom prst="roundRect">
            <a:avLst>
              <a:gd name="adj" fmla="val 1553"/>
            </a:avLst>
          </a:prstGeom>
          <a:solidFill>
            <a:srgbClr val="0B2F27">
              <a:alpha val="95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pic>
        <p:nvPicPr>
          <p:cNvPr id="36" name="Image 0" descr="/mnt/data/atlas_deck_work/crops/vision_face.png">    </p:cNvPr>
          <p:cNvPicPr>
            <a:picLocks noChangeAspect="1"/>
          </p:cNvPicPr>
          <p:nvPr/>
        </p:nvPicPr>
        <p:blipFill>
          <a:blip r:embed="rId1"/>
          <a:srcRect l="18697" r="18697" t="0" b="0"/>
          <a:stretch/>
        </p:blipFill>
        <p:spPr>
          <a:xfrm>
            <a:off x="6812280" y="1207008"/>
            <a:ext cx="4343400" cy="2606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949440" y="4069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híbrido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949440" y="437083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1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Consultoría + desarrollo + staffing + producto propio. Esta combinación le permite a Atlas financiar ejecución, mantener cercanía con clientes y validar hipótesis de plataforma en contextos reales.</a:t>
            </a:r>
            <a:endParaRPr lang="en-US" sz="1310" dirty="0"/>
          </a:p>
        </p:txBody>
      </p:sp>
      <p:sp>
        <p:nvSpPr>
          <p:cNvPr id="39" name="Shape 36"/>
          <p:cNvSpPr/>
          <p:nvPr/>
        </p:nvSpPr>
        <p:spPr>
          <a:xfrm>
            <a:off x="6931152" y="5669280"/>
            <a:ext cx="12390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31736" y="5715000"/>
            <a:ext cx="10378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activo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613648" y="5669280"/>
            <a:ext cx="1650492" cy="310896"/>
          </a:xfrm>
          <a:prstGeom prst="roundRect">
            <a:avLst>
              <a:gd name="adj" fmla="val 23529"/>
            </a:avLst>
          </a:prstGeom>
          <a:solidFill>
            <a:srgbClr val="10372E"/>
          </a:solidFill>
          <a:ln w="12700">
            <a:solidFill>
              <a:srgbClr val="10372E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714232" y="5715000"/>
            <a:ext cx="14493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en evolución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2000" b="1">
                <a:solidFill>
                  <a:srgbClr val="F4F7F6"/>
                </a:solidFill>
                <a:latin typeface="Aptos"/>
              </a:rPr>
              <a:t>Liderazgo ejecutivo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000" b="1">
                <a:solidFill>
                  <a:srgbClr val="13F287"/>
                </a:solidFill>
                <a:latin typeface="Aptos"/>
              </a:rPr>
              <a:t>FOUNDER-LED STRUCTURE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07899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300" b="0">
                <a:solidFill>
                  <a:srgbClr val="D5E2DE"/>
                </a:solidFill>
                <a:latin typeface="Aptos"/>
              </a:rPr>
              <a:t>Atlas Tech opera bajo una visión founder-led encabezada por Emmanuel Campos Genaro como Founder &amp; CEO. Israel Romero Flores lidera crecimiento, clientes clave y expansión comercial como CGCO. Leonardo Tonatiuh González García fortalece la capacidad tecnológica, científica y deep tech como CTO.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77240" y="182880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82880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800" b="1">
                <a:solidFill>
                  <a:srgbClr val="F4F7F6"/>
                </a:solidFill>
                <a:latin typeface="Aptos"/>
              </a:rPr>
              <a:t>Israel Romero Flores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51560" y="2505456"/>
            <a:ext cx="24048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255117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50" b="1">
                <a:solidFill>
                  <a:srgbClr val="03221A"/>
                </a:solidFill>
                <a:latin typeface="Aptos"/>
              </a:rPr>
              <a:t>Chief Growth &amp; Customer Officer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0632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200" b="0">
                <a:solidFill>
                  <a:srgbClr val="D5E2DE"/>
                </a:solidFill>
                <a:latin typeface="Aptos"/>
              </a:rPr>
              <a:t>Lidera crecimiento, desarrollo comercial, clientes clave, ventas consultivas, customer success ejecutivo, expansión comercial y relaciones estratégicas de negocio.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51560" y="42793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950" b="1">
                <a:solidFill>
                  <a:srgbClr val="8BA79F"/>
                </a:solidFill>
                <a:latin typeface="Aptos"/>
              </a:rPr>
              <a:t>Growth, Key Accounts, Consultative Sales &amp; Executive Customer Success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084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800" b="1">
                <a:solidFill>
                  <a:srgbClr val="F4F7F6"/>
                </a:solidFill>
                <a:latin typeface="Aptos"/>
              </a:rPr>
              <a:t>Emmanuel Campos Genaro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46520" y="2505456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2551176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50" b="1">
                <a:solidFill>
                  <a:srgbClr val="03221A"/>
                </a:solidFill>
                <a:latin typeface="Aptos"/>
              </a:rPr>
              <a:t>Founder &amp; Chief Executive Officer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0632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200" b="0">
                <a:solidFill>
                  <a:srgbClr val="D5E2DE"/>
                </a:solidFill>
                <a:latin typeface="Aptos"/>
              </a:rPr>
              <a:t>Fundador principal y líder de visión de Atlas Tech. Dirige estrategia general, visión de producto, arquitectura de negocio, posicionamiento tecnológico y evolución del portafolio.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446520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950" b="1">
                <a:solidFill>
                  <a:srgbClr val="8BA79F"/>
                </a:solidFill>
                <a:latin typeface="Aptos"/>
              </a:rPr>
              <a:t>Vision, Product Strategy, Business Architecture &amp; Venture Leadership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5623560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0A2E26">
              <a:alpha val="95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1560" y="583387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800" b="1">
                <a:solidFill>
                  <a:srgbClr val="F4F7F6"/>
                </a:solidFill>
                <a:latin typeface="Aptos"/>
              </a:rPr>
              <a:t>Leonardo Tonatiuh González García</a:t>
            </a:r>
            <a:endParaRPr lang="en-US" sz="1160" dirty="0"/>
          </a:p>
          <a:p>
            <a:r>
              <a:rPr sz="1000" b="1">
                <a:solidFill>
                  <a:srgbClr val="13F287"/>
                </a:solidFill>
                <a:latin typeface="Aptos"/>
              </a:rPr>
              <a:t>Co-Founder &amp; Chief Technology Officer</a:t>
            </a:r>
          </a:p>
          <a:p>
            <a:r>
              <a:rPr sz="950" b="1">
                <a:solidFill>
                  <a:srgbClr val="8BA79F"/>
                </a:solidFill>
                <a:latin typeface="Aptos"/>
              </a:rPr>
              <a:t>Technology Strategy, AI, Research, Computational Architecture &amp; Deep Tech</a:t>
            </a:r>
          </a:p>
          <a:p>
            <a:r>
              <a:rPr sz="1200" b="0">
                <a:solidFill>
                  <a:srgbClr val="D5E2DE"/>
                </a:solidFill>
                <a:latin typeface="Aptos"/>
              </a:rPr>
              <a:t>Lidera la estrategia tecnológica, arquitectura computacional, inteligencia artificial, investigación aplicada, modelos avanzados, analítica y capacidades deep tech.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organizacional actual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ORGANIGRAMA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0789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250" b="0">
                <a:solidFill>
                  <a:srgbClr val="D5E2DE"/>
                </a:solidFill>
                <a:latin typeface="Aptos"/>
              </a:rPr>
              <a:t>Estructura ejecutiva refinada con un CEO founder-led, un frente de growth/customer liderado por CGCO, una capa tecnológica encabezada por CTO y un núcleo de delivery con soporte funcional para clientes, legal y desarrollo organizacional.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2080260" y="2532888"/>
            <a:ext cx="-91440" cy="1655064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0260" y="2532888"/>
            <a:ext cx="2679192" cy="1655064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3460" y="2532888"/>
            <a:ext cx="4572" cy="411480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694176"/>
            <a:ext cx="-1193292" cy="1719072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3694176"/>
            <a:ext cx="1024128" cy="1719072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3460" y="2532888"/>
            <a:ext cx="2542032" cy="1655064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3460" y="2532888"/>
            <a:ext cx="4937760" cy="1655064"/>
          </a:xfrm>
          <a:prstGeom prst="line">
            <a:avLst/>
          </a:prstGeom>
          <a:noFill/>
          <a:ln w="16510">
            <a:solidFill>
              <a:srgbClr val="12B7A8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157984"/>
            <a:ext cx="411480" cy="0"/>
          </a:xfrm>
          <a:prstGeom prst="line">
            <a:avLst/>
          </a:prstGeom>
          <a:noFill/>
          <a:ln w="19050">
            <a:solidFill>
              <a:srgbClr val="13F28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178308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C4035"/>
          </a:solidFill>
          <a:ln w="12700">
            <a:solidFill>
              <a:srgbClr val="13F287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42416" y="19202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350" b="1">
                <a:solidFill>
                  <a:srgbClr val="F4F7F6"/>
                </a:solidFill>
                <a:latin typeface="Aptos"/>
              </a:rPr>
              <a:t>Emmanuel Campos Genaro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042416" y="21762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950" b="0">
                <a:solidFill>
                  <a:srgbClr val="D5E2DE"/>
                </a:solidFill>
                <a:latin typeface="Aptos"/>
              </a:rPr>
              <a:t>Founder &amp; CEO</a:t>
            </a:r>
            <a:endParaRPr lang="en-US" sz="990" dirty="0"/>
          </a:p>
          <a:p>
            <a:r>
              <a:rPr sz="950" b="0">
                <a:solidFill>
                  <a:srgbClr val="D5E2DE"/>
                </a:solidFill>
                <a:latin typeface="Aptos"/>
              </a:rPr>
              <a:t>Vision / Product Strategy / Business Architecture</a:t>
            </a:r>
          </a:p>
        </p:txBody>
      </p:sp>
      <p:sp>
        <p:nvSpPr>
          <p:cNvPr id="28" name="Shape 26"/>
          <p:cNvSpPr/>
          <p:nvPr/>
        </p:nvSpPr>
        <p:spPr>
          <a:xfrm>
            <a:off x="3657600" y="178308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C4035"/>
          </a:solidFill>
          <a:ln w="12700">
            <a:solidFill>
              <a:srgbClr val="13F287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85616" y="19202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350" b="1">
                <a:solidFill>
                  <a:srgbClr val="F4F7F6"/>
                </a:solidFill>
                <a:latin typeface="Aptos"/>
              </a:rPr>
              <a:t>Israel Romero Flores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3785616" y="21762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950" b="0">
                <a:solidFill>
                  <a:srgbClr val="D5E2DE"/>
                </a:solidFill>
                <a:latin typeface="Aptos"/>
              </a:rPr>
              <a:t>Co-Founder &amp; CGCO</a:t>
            </a:r>
            <a:endParaRPr lang="en-US" sz="990" dirty="0"/>
          </a:p>
          <a:p>
            <a:r>
              <a:rPr sz="950" b="0">
                <a:solidFill>
                  <a:srgbClr val="D5E2DE"/>
                </a:solidFill>
                <a:latin typeface="Aptos"/>
              </a:rPr>
              <a:t>Growth / Key Accounts / Executive CS</a:t>
            </a:r>
          </a:p>
        </p:txBody>
      </p:sp>
      <p:sp>
        <p:nvSpPr>
          <p:cNvPr id="31" name="Shape 29"/>
          <p:cNvSpPr/>
          <p:nvPr/>
        </p:nvSpPr>
        <p:spPr>
          <a:xfrm>
            <a:off x="3639312" y="2944368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67328" y="308152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Aldo Daniel Martínez Pérez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67328" y="332841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950" b="0">
                <a:solidFill>
                  <a:srgbClr val="D5E2DE"/>
                </a:solidFill>
                <a:latin typeface="Aptos"/>
              </a:rPr>
              <a:t>PM + Lead Developer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68680" y="4187952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96696" y="432511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Pablo FQ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572000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y comunicación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3456432" y="4187952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84448" y="4325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Fabiola Rodrigues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84448" y="4572000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Success Manager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382512" y="4187952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10528" y="432511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Andrés Gonzales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10528" y="45720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641080" y="4187952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769096" y="432511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Natalia Dávila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69096" y="4572000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continua + DO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2697480" y="5413248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825496" y="555040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José Ventolero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825496" y="5797296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junior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4754880" y="5413248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0A2E26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82896" y="55504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Pablo Marmolejo + Alejandro Curile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82896" y="579729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recurrentes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6410000" y="1783080"/>
            <a:ext cx="2331720" cy="749808"/>
          </a:xfrm>
          <a:prstGeom prst="roundRect">
            <a:avLst>
              <a:gd name="adj" fmla="val 4103"/>
            </a:avLst>
          </a:prstGeom>
          <a:solidFill>
            <a:srgbClr val="0C4035">
              <a:alpha val="95000"/>
            </a:srgbClr>
          </a:solidFill>
          <a:ln w="12700">
            <a:solidFill>
              <a:srgbClr val="13F287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10528" y="19202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350" b="1">
                <a:solidFill>
                  <a:srgbClr val="F4F7F6"/>
                </a:solidFill>
                <a:latin typeface="Aptos"/>
              </a:rPr>
              <a:t>Leonardo Tonatiuh González García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510528" y="21762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950" b="0">
                <a:solidFill>
                  <a:srgbClr val="D5E2DE"/>
                </a:solidFill>
                <a:latin typeface="Aptos"/>
              </a:rPr>
              <a:t>Co-Founder &amp; CTO</a:t>
            </a:r>
            <a:endParaRPr lang="en-US" sz="1080" dirty="0"/>
          </a:p>
          <a:p>
            <a:r>
              <a:rPr sz="950" b="0">
                <a:solidFill>
                  <a:srgbClr val="D5E2DE"/>
                </a:solidFill>
                <a:latin typeface="Aptos"/>
              </a:rPr>
              <a:t>Technology / AI / Research / Deep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 funcionales del equipo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SNAPSHOT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13716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" y="1554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" y="18836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250" b="0">
                <a:solidFill>
                  <a:srgbClr val="D5E2DE"/>
                </a:solidFill>
                <a:latin typeface="Aptos"/>
              </a:rPr>
              <a:t>Emmanuel Campos Genaro</a:t>
            </a:r>
            <a:endParaRPr lang="en-US" sz="1180" dirty="0"/>
          </a:p>
          <a:p>
            <a:r>
              <a:rPr sz="1250" b="0">
                <a:solidFill>
                  <a:srgbClr val="D5E2DE"/>
                </a:solidFill>
                <a:latin typeface="Aptos"/>
              </a:rPr>
              <a:t>Israel Romero Flores</a:t>
            </a:r>
          </a:p>
          <a:p>
            <a:r>
              <a:rPr sz="1250" b="0">
                <a:solidFill>
                  <a:srgbClr val="D5E2DE"/>
                </a:solidFill>
                <a:latin typeface="Aptos"/>
              </a:rPr>
              <a:t>Leonardo Tonatiuh González García</a:t>
            </a:r>
          </a:p>
        </p:txBody>
      </p:sp>
      <p:sp>
        <p:nvSpPr>
          <p:cNvPr id="19" name="Text 17"/>
          <p:cNvSpPr/>
          <p:nvPr/>
        </p:nvSpPr>
        <p:spPr>
          <a:xfrm>
            <a:off x="3474720" y="18836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sz="1150" b="0">
                <a:solidFill>
                  <a:srgbClr val="D5E2DE"/>
                </a:solidFill>
                <a:latin typeface="Aptos"/>
              </a:rPr>
              <a:t>CEO founder-led, growth/customer leadership y dirección tecnológica deep tech para sostener visión, adopción y robustez de plataforma.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1554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&amp; Engineering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28816" y="18836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Aldo Daniel Martínez Pérez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José Ventolero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Pablo Marmolejo Gaytan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Alejandro Curile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006840" y="18836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PM, lead development, base de ejecución y soporte técnico recurrente.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6696" y="3886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&amp; Client Experience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96" y="421538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Pablo FQ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Fabiola Rodrigues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3474720" y="421538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Comunicación, contenidos, experiencia del cliente y seguimiento operativo.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309360" y="370332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28816" y="3886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&amp; Organizational Enablement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28816" y="421538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Andrés Gonzales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Natalia Dávila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9006840" y="421538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legal, mejora continua y desarrollo organizacional.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77240" y="6126480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0A2D25">
              <a:alpha val="92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24128" y="622706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sz="1050" b="0">
                <a:solidFill>
                  <a:srgbClr val="8BA79F"/>
                </a:solidFill>
                <a:latin typeface="Aptos"/>
              </a:rPr>
              <a:t>Estructura multidisciplinaria en consolidación: combina liderazgo ejecutivo, producto, delivery, experiencia de cliente, marca, soporte legal y fortalecimiento organizacional.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6504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5768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5032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54296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2824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0616" y="109728"/>
            <a:ext cx="0" cy="6400800"/>
          </a:xfrm>
          <a:prstGeom prst="line">
            <a:avLst/>
          </a:prstGeom>
          <a:noFill/>
          <a:ln w="12700">
            <a:solidFill>
              <a:srgbClr val="0A302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109728"/>
            <a:ext cx="0" cy="6400800"/>
          </a:xfrm>
          <a:prstGeom prst="line">
            <a:avLst/>
          </a:prstGeom>
          <a:noFill/>
          <a:ln w="12700">
            <a:solidFill>
              <a:srgbClr val="0B4035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trabaja Atlas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886968"/>
            <a:ext cx="1920240" cy="0"/>
          </a:xfrm>
          <a:prstGeom prst="line">
            <a:avLst/>
          </a:prstGeom>
          <a:noFill/>
          <a:ln w="19050">
            <a:solidFill>
              <a:srgbClr val="13F2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8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operativo busca llevar del diagnóstico a la evolución continua, manteniendo cercanía con negocio, trazabilidad técnica y foco en adopción.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1874520" y="3822192"/>
            <a:ext cx="1097280" cy="0"/>
          </a:xfrm>
          <a:prstGeom prst="line">
            <a:avLst/>
          </a:prstGeom>
          <a:noFill/>
          <a:ln w="19050">
            <a:solidFill>
              <a:srgbClr val="12B7A8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3822192"/>
            <a:ext cx="1097280" cy="0"/>
          </a:xfrm>
          <a:prstGeom prst="line">
            <a:avLst/>
          </a:prstGeom>
          <a:noFill/>
          <a:ln w="19050">
            <a:solidFill>
              <a:srgbClr val="12B7A8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3822192"/>
            <a:ext cx="1097280" cy="0"/>
          </a:xfrm>
          <a:prstGeom prst="line">
            <a:avLst/>
          </a:prstGeom>
          <a:noFill/>
          <a:ln w="19050">
            <a:solidFill>
              <a:srgbClr val="12B7A8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9560" y="3822192"/>
            <a:ext cx="1097280" cy="0"/>
          </a:xfrm>
          <a:prstGeom prst="line">
            <a:avLst/>
          </a:prstGeom>
          <a:noFill/>
          <a:ln w="19050">
            <a:solidFill>
              <a:srgbClr val="12B7A8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2926080"/>
            <a:ext cx="1691640" cy="1719072"/>
          </a:xfrm>
          <a:prstGeom prst="roundRect">
            <a:avLst>
              <a:gd name="adj" fmla="val 4324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1832" y="309067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1363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1832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dolor operativo y objetivo.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07792" y="2926080"/>
            <a:ext cx="1691640" cy="1719072"/>
          </a:xfrm>
          <a:prstGeom prst="roundRect">
            <a:avLst>
              <a:gd name="adj" fmla="val 4324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72384" y="309067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31363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72384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072384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funcional y técnico de la solución.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38344" y="2926080"/>
            <a:ext cx="1691640" cy="1719072"/>
          </a:xfrm>
          <a:prstGeom prst="roundRect">
            <a:avLst>
              <a:gd name="adj" fmla="val 4324"/>
            </a:avLst>
          </a:prstGeom>
          <a:solidFill>
            <a:srgbClr val="10372E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02936" y="309067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1363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02936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02936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Desarrollo, integraciones y validación.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68896" y="2926080"/>
            <a:ext cx="1691640" cy="1719072"/>
          </a:xfrm>
          <a:prstGeom prst="roundRect">
            <a:avLst>
              <a:gd name="adj" fmla="val 4324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33488" y="309067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34072" y="31363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333488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Adopción, capacitación y salida a operación.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299448" y="2926080"/>
            <a:ext cx="1691640" cy="1719072"/>
          </a:xfrm>
          <a:prstGeom prst="roundRect">
            <a:avLst>
              <a:gd name="adj" fmla="val 4324"/>
            </a:avLst>
          </a:prstGeom>
          <a:solidFill>
            <a:srgbClr val="0B2F27">
              <a:alpha val="96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464040" y="3090672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64624" y="31363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64040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464040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E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continua, métricas y nuevas capacidades.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98280" y="1143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2F27">
              <a:alpha val="95000"/>
            </a:srgbClr>
          </a:solidFill>
          <a:ln w="12700">
            <a:solidFill>
              <a:srgbClr val="17453A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281160" y="13533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típicos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281160" y="1673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/ módulo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Integraciones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Acompañamiento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tlas_deck_work/crops/atlas_footer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rcRect l="0" r="0" t="6533" b="653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65836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41832" y="7040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41248" y="1280160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 construye la siguiente capa de infraestructura empresarial.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41248" y="2286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2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Operación + conocimiento + inteligencia + fidelización en una misma arquitectura.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1248" y="32004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4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opera con servicios especializados; mañana busca consolidar un BOS con ERP, RAGs internos, POS y blockchain aplicada como base de crecimiento para organizaciones en transformación.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4937760"/>
            <a:ext cx="41605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4983480"/>
            <a:ext cx="2148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4937760"/>
            <a:ext cx="41605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9384" y="4983480"/>
            <a:ext cx="2148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16352" y="4937760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16936" y="49834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86784" y="4937760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87368" y="498348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+ LaaS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4937760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13F287"/>
          </a:solidFill>
          <a:ln w="12700">
            <a:solidFill>
              <a:srgbClr val="13F28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9864" y="498348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2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1248" y="5989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3F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hola@atlastech.mx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144000" y="6035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8BA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maestro organizacional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8E3C1"/>
                </a:solidFill>
              </a:rPr>
              <a:t>PORTAFOLIO ESTRATÉGICO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</a:rPr>
              <a:t>Nuevos proyectos y plataformas en expansión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2DBEB"/>
                </a:solidFill>
              </a:defRPr>
            </a:pPr>
            <a:r>
              <a:t>Además del núcleo BOS + ERP + POS, Atlas está abriendo frentes que amplían su tesis de infraestructura digital: knowledge systems, loyalty/blockchain, verticales GovTech y operaciones inteligentes por industria.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4572000" cy="16459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73152" cy="1645920"/>
          </a:xfrm>
          <a:prstGeom prst="rect">
            <a:avLst/>
          </a:prstGeom>
          <a:solidFill>
            <a:srgbClr val="58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Atlas Cortex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Core de conocimiento organizacional: RAGs internos, memoria institucional, documentos, decisiones, clientes, proyectos y agentes de trabajo para convertir información dispersa en inteligencia operativa.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965960"/>
            <a:ext cx="4572000" cy="16459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965960"/>
            <a:ext cx="73152" cy="1645920"/>
          </a:xfrm>
          <a:prstGeom prst="rect">
            <a:avLst/>
          </a:prstGeom>
          <a:solidFill>
            <a:srgbClr val="58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10312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Open Cashback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468880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Infraestructura Loyalty as a Service basada en blockchain. Extiende el POS con cashback, recompensas, trazabilidad y nuevos mecanismos de relación digital entre negocio y cliente.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4572000" cy="16459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73152" cy="1645920"/>
          </a:xfrm>
          <a:prstGeom prst="rect">
            <a:avLst/>
          </a:prstGeom>
          <a:solidFill>
            <a:srgbClr val="58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GovTech / CIVIA - ATENEA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Frente para gobierno digital, inteligencia política y operación territorial. Incluye atención ciudadana, analítica, GIS, war room y sistemas de soporte a decisión.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069080"/>
            <a:ext cx="4572000" cy="16459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4069080"/>
            <a:ext cx="73152" cy="1645920"/>
          </a:xfrm>
          <a:prstGeom prst="rect">
            <a:avLst/>
          </a:prstGeom>
          <a:solidFill>
            <a:srgbClr val="58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2062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FlowOps y verticales operativas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572000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Desarrollo de sistemas empresariales especializados por industria: retail, distribución, manufactura, automotriz, salud y operaciones multi-sucursal.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96"/>
                </a:solidFill>
              </a:rPr>
              <a:t>Complemento estratégico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8E3C1"/>
                </a:solidFill>
              </a:rPr>
              <a:t>TECH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</a:rPr>
              <a:t>Horizontes tecnológicos de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2DBEB"/>
                </a:solidFill>
              </a:defRPr>
            </a:pPr>
            <a:r>
              <a:t>La visión no es sumar tecnologías aisladas, sino integrarlas dentro de una arquitectura útil. Estos son los horizontes que guían la evolución del stack y del portafolio.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ERP agéntico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Flujos operativos asistidos por agentes, copilots internos, automatización de tareas, seguimiento de casos y ejecución contextual sobre datos empresariales.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65960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65960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1031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RAG y knowledge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688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Motores de recuperación sobre documentos, políticas, historial de clientes, SOPs y decisiones para habilitar memoria organizacional y respuesta inteligente.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965960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1965960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Blockchain aplicada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688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Cashback, loyalty, auditoría, trazabilidad e incentivos digitales. Uso pragmático de tecnología descentralizada donde genere confianza o diferenciación.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799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Data + observabilidad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59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Dashboards, telemetría operativa, salud del negocio, alertamiento y analítica accionable para pasar de operación reactiva a operación instrumentada.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977639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3977639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114799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APIs e interoperabilidad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480559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Capa de integración para conectar ERP, POS, CRMs, e-commerce, canales de pago, logística, government tech y sistemas legados.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977639"/>
            <a:ext cx="2834640" cy="15544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3977639"/>
            <a:ext cx="73152" cy="155448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4114799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Moonshots y frontier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480559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Exploración de edge/IoT, visión computacional, movilidad inteligente y nuevos productos deep-tech cuando haya sinergia con la tesis central.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96"/>
                </a:solidFill>
              </a:rPr>
              <a:t>Complemento estratégico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8E3C1"/>
                </a:solidFill>
              </a:rPr>
              <a:t>H1 / H2 /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</a:rPr>
              <a:t>Roadmap de expansión por horizontes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2DBEB"/>
                </a:solidFill>
              </a:defRPr>
            </a:pPr>
            <a:r>
              <a:t>La expansión se organiza en capas: consolidar el núcleo que ya genera tracción, extender capacidades diferenciales y abrir nuevas apuestas tecnológicas.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2743200" cy="32004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58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5F9FF"/>
                </a:solidFill>
              </a:rPr>
              <a:t>H1 | Consolidación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8E3C1"/>
                </a:solidFill>
              </a:rPr>
              <a:t>0-12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Fortalecer POS + ERP + RAGs internos.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Estandarizar módulos base.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Acelerar delivery multi-tenant.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Formalizar playbooks por industria.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057400"/>
            <a:ext cx="2743200" cy="32004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4A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40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5F9FF"/>
                </a:solidFill>
              </a:rPr>
              <a:t>H2 | Expansión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7860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B7FF"/>
                </a:solidFill>
              </a:rPr>
              <a:t>12-24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80360"/>
            <a:ext cx="2286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Escalar loyalty/blockchain.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Profundizar Atlas Cortex.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Abrir verticales como GovTech y FlowOps.</a:t>
            </a:r>
          </a:p>
          <a:p>
            <a:pPr>
              <a:defRPr sz="1200">
                <a:solidFill>
                  <a:srgbClr val="CDD6E5"/>
                </a:solidFill>
              </a:defRPr>
            </a:pPr>
            <a:r>
              <a:t>Integrar más automatización agéntica.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57400"/>
            <a:ext cx="2743200" cy="32004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8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40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5F9FF"/>
                </a:solidFill>
              </a:rPr>
              <a:t>H3 | Frontier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7860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966FF"/>
                </a:solidFill>
              </a:rPr>
              <a:t>24+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80360"/>
            <a:ext cx="2286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Explorar nuevos productos de IA aplicada, edge/IoT, movilidad inteligente y plataformas especializadas con potencial regional.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96"/>
                </a:solidFill>
              </a:rPr>
              <a:t>Complemento estratégico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8E3C1"/>
                </a:solidFill>
              </a:rPr>
              <a:t>IMPLICACIÓN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</a:rPr>
              <a:t>Por qué estos frentes importan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2DBEB"/>
                </a:solidFill>
              </a:defRPr>
            </a:pPr>
            <a:r>
              <a:t>El complemento de proyectos y horizontes tecnológicos convierte a Atlas en algo más que un proveedor de software: lo posiciona como un constructor de infraestructura digital, conocimiento operativo e incentivos inteligentes.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4754880" cy="310896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" cy="3108960"/>
          </a:xfrm>
          <a:prstGeom prst="rect">
            <a:avLst/>
          </a:prstGeom>
          <a:solidFill>
            <a:srgbClr val="58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Impacto organizacional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1. Diversifica el portafolio sin romper la tesis central.</a:t>
            </a:r>
            <a:br/>
            <a:r>
              <a:t>2. Reutiliza capacidades entre productos, clientes y verticales.</a:t>
            </a:r>
            <a:br/>
            <a:r>
              <a:t>3. Eleva barreras de entrada mediante conocimiento, datos y arquitectura.</a:t>
            </a:r>
            <a:br/>
            <a:r>
              <a:t>4. Permite pasar de servicios a plataformas y activos tecnológicos propios.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011680"/>
            <a:ext cx="4754880" cy="310896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2011680"/>
            <a:ext cx="73152" cy="3108960"/>
          </a:xfrm>
          <a:prstGeom prst="rect">
            <a:avLst/>
          </a:prstGeom>
          <a:solidFill>
            <a:srgbClr val="4A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14884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F9FF"/>
                </a:solidFill>
              </a:rPr>
              <a:t>Impacto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1460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DD6E5"/>
                </a:solidFill>
              </a:defRPr>
            </a:pPr>
            <a:r>
              <a:t>5. Abre nuevas rutas de crecimiento en loyalty, GovTech, knowledge systems y vertical SaaS.</a:t>
            </a:r>
            <a:br/>
            <a:r>
              <a:t>6. Fortalece la narrativa de Atlas como startup con operación actual y visión robusta de largo plazo.</a:t>
            </a:r>
            <a:br/>
            <a:r>
              <a:t>7. Crea una base para alianzas estratégicas, pilotos y productos con mayor valor defensible.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9FF"/>
                </a:solidFill>
              </a:rPr>
              <a:t>Atlas evoluciona de delivery tecnológico a plataforma de infraestructura empresarial inteligente.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96"/>
                </a:solidFill>
              </a:rPr>
              <a:t>Complemento estratégico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4592"/>
            <a:ext cx="292608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00" b="1">
                <a:solidFill>
                  <a:srgbClr val="13F287"/>
                </a:solidFill>
                <a:latin typeface="Aptos"/>
              </a:rPr>
              <a:t>EXECUTIVE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59436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2000" b="1">
                <a:solidFill>
                  <a:srgbClr val="F4F7F6"/>
                </a:solidFill>
                <a:latin typeface="Aptos"/>
              </a:rPr>
              <a:t>Estructura refinada del liderazgo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24128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250" b="0">
                <a:solidFill>
                  <a:srgbClr val="D5E2DE"/>
                </a:solidFill>
                <a:latin typeface="Aptos"/>
              </a:rPr>
              <a:t>Atlas Tech opera bajo una visión founder-led encabezada por Emmanuel Campos Genaro como Founder &amp; CEO, responsable de la dirección estratégica, visión de producto y arquitectura de negocio. Israel Romero Flores lidera crecimiento, clientes clave y expansión comercial como Chief Growth and Customer Officer. Leonardo Tonatiuh González García fortalece la capacidad tecnológica, científica y deep tech como Chief Technology Officer.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246120" cy="2331720"/>
          </a:xfrm>
          <a:prstGeom prst="roundRect">
            <a:avLst/>
          </a:prstGeom>
          <a:solidFill>
            <a:srgbClr val="0B2F27"/>
          </a:solidFill>
          <a:ln w="12700">
            <a:solidFill>
              <a:srgbClr val="17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39111"/>
            <a:ext cx="29169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500" b="1">
                <a:solidFill>
                  <a:srgbClr val="F4F7F6"/>
                </a:solidFill>
                <a:latin typeface="Aptos"/>
              </a:rPr>
              <a:t>Emmanuel Campos Genaro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404871"/>
            <a:ext cx="2788920" cy="256032"/>
          </a:xfrm>
          <a:prstGeom prst="roundRect">
            <a:avLst/>
          </a:prstGeom>
          <a:solidFill>
            <a:srgbClr val="13F287"/>
          </a:solidFill>
          <a:ln>
            <a:solidFill>
              <a:srgbClr val="13F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32303"/>
            <a:ext cx="26060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869" b="1">
                <a:solidFill>
                  <a:srgbClr val="03221A"/>
                </a:solidFill>
                <a:latin typeface="Aptos"/>
              </a:rP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43199"/>
            <a:ext cx="29169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900" b="1">
                <a:solidFill>
                  <a:srgbClr val="8BA79F"/>
                </a:solidFill>
                <a:latin typeface="Aptos"/>
              </a:rPr>
              <a:t>Vision, Product Strategy, Business Architecture &amp; Venture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36391"/>
            <a:ext cx="2916936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80" b="0">
                <a:solidFill>
                  <a:srgbClr val="D5E2DE"/>
                </a:solidFill>
                <a:latin typeface="Aptos"/>
              </a:rPr>
              <a:t>Fundador principal y líder de visión de Atlas Tech. Conecta mercado, producto, tecnología, operación e inversión para convertir oportunidades en plataformas escalables.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74519"/>
            <a:ext cx="3246120" cy="2331720"/>
          </a:xfrm>
          <a:prstGeom prst="roundRect">
            <a:avLst/>
          </a:prstGeom>
          <a:solidFill>
            <a:srgbClr val="0B2F27"/>
          </a:solidFill>
          <a:ln w="12700">
            <a:solidFill>
              <a:srgbClr val="17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39111"/>
            <a:ext cx="29169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500" b="1">
                <a:solidFill>
                  <a:srgbClr val="F4F7F6"/>
                </a:solidFill>
                <a:latin typeface="Aptos"/>
              </a:rPr>
              <a:t>Israel Romero Flores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2404871"/>
            <a:ext cx="2788920" cy="256032"/>
          </a:xfrm>
          <a:prstGeom prst="roundRect">
            <a:avLst/>
          </a:prstGeom>
          <a:solidFill>
            <a:srgbClr val="13F287"/>
          </a:solidFill>
          <a:ln>
            <a:solidFill>
              <a:srgbClr val="13F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432303"/>
            <a:ext cx="26060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869" b="1">
                <a:solidFill>
                  <a:srgbClr val="03221A"/>
                </a:solidFill>
                <a:latin typeface="Aptos"/>
              </a:rPr>
              <a:t>Co-Founder &amp; Chief Growth and Customer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743199"/>
            <a:ext cx="29169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900" b="1">
                <a:solidFill>
                  <a:srgbClr val="8BA79F"/>
                </a:solidFill>
                <a:latin typeface="Aptos"/>
              </a:rPr>
              <a:t>Growth, Key Accounts, Consultative Sales &amp; Executive Customer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136391"/>
            <a:ext cx="2916936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80" b="0">
                <a:solidFill>
                  <a:srgbClr val="D5E2DE"/>
                </a:solidFill>
                <a:latin typeface="Aptos"/>
              </a:rPr>
              <a:t>Lidera crecimiento, desarrollo comercial, clientes clave, ventas consultivas, customer success ejecutivo, expansión comercial y relaciones estratégicas de negocio.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74519"/>
            <a:ext cx="3246120" cy="2331720"/>
          </a:xfrm>
          <a:prstGeom prst="roundRect">
            <a:avLst/>
          </a:prstGeom>
          <a:solidFill>
            <a:srgbClr val="0B2F27"/>
          </a:solidFill>
          <a:ln w="12700">
            <a:solidFill>
              <a:srgbClr val="17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2039111"/>
            <a:ext cx="29169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500" b="1">
                <a:solidFill>
                  <a:srgbClr val="F4F7F6"/>
                </a:solidFill>
                <a:latin typeface="Aptos"/>
              </a:rPr>
              <a:t>Leonardo Tonatiuh González García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48471" y="2404871"/>
            <a:ext cx="2788920" cy="256032"/>
          </a:xfrm>
          <a:prstGeom prst="roundRect">
            <a:avLst/>
          </a:prstGeom>
          <a:solidFill>
            <a:srgbClr val="13F287"/>
          </a:solidFill>
          <a:ln>
            <a:solidFill>
              <a:srgbClr val="13F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2432303"/>
            <a:ext cx="260604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869" b="1">
                <a:solidFill>
                  <a:srgbClr val="03221A"/>
                </a:solidFill>
                <a:latin typeface="Aptos"/>
              </a:rPr>
              <a:t>Co-Founder &amp; Chief Technology Officer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743199"/>
            <a:ext cx="29169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900" b="1">
                <a:solidFill>
                  <a:srgbClr val="8BA79F"/>
                </a:solidFill>
                <a:latin typeface="Aptos"/>
              </a:rPr>
              <a:t>Technology Strategy, AI, Research, Computational Architecture &amp; Deep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3136391"/>
            <a:ext cx="2916936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080" b="0">
                <a:solidFill>
                  <a:srgbClr val="D5E2DE"/>
                </a:solidFill>
                <a:latin typeface="Aptos"/>
              </a:rPr>
              <a:t>Lidera la estrategia tecnológica, arquitectura computacional, inteligencia artificial, investigación aplicada, modelos avanzados, analítica y capacidades deep tech.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102412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50" b="1">
                <a:solidFill>
                  <a:srgbClr val="8BA79F"/>
                </a:solidFill>
                <a:latin typeface="Aptos"/>
              </a:rPr>
              <a:t>Esta estructura queda natural y consistente: Emmanuel como CEO visionario-productivo, Israel como growth/customer y Leonardo como CTO deep 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Tech - Deck Maestro</dc:title>
  <dc:subject>Atlas Tech deck maestro organizacional</dc:subject>
  <dc:creator>OpenAI</dc:creator>
  <cp:lastModifiedBy>OpenAI</cp:lastModifiedBy>
  <cp:revision>1</cp:revision>
  <dcterms:created xsi:type="dcterms:W3CDTF">2026-03-20T03:16:23Z</dcterms:created>
  <dcterms:modified xsi:type="dcterms:W3CDTF">2026-03-20T03:16:23Z</dcterms:modified>
</cp:coreProperties>
</file>