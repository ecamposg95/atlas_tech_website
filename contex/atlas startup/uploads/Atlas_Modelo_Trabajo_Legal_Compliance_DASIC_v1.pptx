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Tech internal deck. Slide 1. Official legal sources consulted: LFDA, LFPDPPP, LFPPI from Cámara de Diputados. Final legal position subject to review of DASIC contracts, SOWs, invoices and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Tech internal deck. Slide 2. Official legal sources consulted: LFDA, LFPDPPP, LFPPI from Cámara de Diputados. Final legal position subject to review of DASIC contracts, SOWs, invoices and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Tech internal deck. Slide 3. Official legal sources consulted: LFDA, LFPDPPP, LFPPI from Cámara de Diputados. Final legal position subject to review of DASIC contracts, SOWs, invoices and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Tech internal deck. Slide 4. Official legal sources consulted: LFDA, LFPDPPP, LFPPI from Cámara de Diputados. Final legal position subject to review of DASIC contracts, SOWs, invoices and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Tech internal deck. Slide 5. Official legal sources consulted: LFDA, LFPDPPP, LFPPI from Cámara de Diputados. Final legal position subject to review of DASIC contracts, SOWs, invoices and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Tech internal deck. Slide 6. Official legal sources consulted: LFDA, LFPDPPP, LFPPI from Cámara de Diputados. Final legal position subject to review of DASIC contracts, SOWs, invoices and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Tech internal deck. Slide 7. Official legal sources consulted: LFDA, LFPDPPP, LFPPI from Cámara de Diputados. Final legal position subject to review of DASIC contracts, SOWs, invoices and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Tech internal deck. Slide 8. Official legal sources consulted: LFDA, LFPDPPP, LFPPI from Cámara de Diputados. Final legal position subject to review of DASIC contracts, SOWs, invoices and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Tech internal deck. Slide 9. Official legal sources consulted: LFDA, LFPDPPP, LFPPI from Cámara de Diputados. Final legal position subject to review of DASIC contracts, SOWs, invoices and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Tech internal deck. Slide 10. Official legal sources consulted: LFDA, LFPDPPP, LFPPI from Cámara de Diputados. Final legal position subject to review of DASIC contracts, SOWs, invoices and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Tech internal deck. Slide 11. Official legal sources consulted: LFDA, LFPDPPP, LFPPI from Cámara de Diputados. Final legal position subject to review of DASIC contracts, SOWs, invoices and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Tech internal deck. Slide 12. Official legal sources consulted: LFDA, LFPDPPP, LFPPI from Cámara de Diputados. Final legal position subject to review of DASIC contracts, SOWs, invoices and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Tech internal deck. Slide 13. Official legal sources consulted: LFDA, LFPDPPP, LFPPI from Cámara de Diputados. Final legal position subject to review of DASIC contracts, SOWs, invoices and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Tech internal deck. Slide 14. Official legal sources consulted: LFDA, LFPDPPP, LFPPI from Cámara de Diputados. Final legal position subject to review of DASIC contracts, SOWs, invoices and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Tech internal deck. Slide 15. Official legal sources consulted: LFDA, LFPDPPP, LFPPI from Cámara de Diputados. Final legal position subject to review of DASIC contracts, SOWs, invoices and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Tech internal deck. Slide 16. Official legal sources consulted: LFDA, LFPDPPP, LFPPI from Cámara de Diputados. Final legal position subject to review of DASIC contracts, SOWs, invoices and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10528"/>
            <a:ext cx="11430000" cy="0"/>
          </a:xfrm>
          <a:prstGeom prst="line">
            <a:avLst/>
          </a:prstGeom>
          <a:noFill/>
          <a:ln w="10160">
            <a:solidFill>
              <a:srgbClr val="D6DEE8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  ·  Software, AI &amp; Business Operating Systems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high_tech_abstract_digital_illustration_co_batch_1.png">    </p:cNvPr>
          <p:cNvPicPr>
            <a:picLocks noChangeAspect="1"/>
          </p:cNvPicPr>
          <p:nvPr/>
        </p:nvPicPr>
        <p:blipFill>
          <a:blip r:embed="rId1"/>
          <a:srcRect l="22873" r="22873" t="0" b="0"/>
          <a:stretch/>
        </p:blipFill>
        <p:spPr>
          <a:xfrm>
            <a:off x="5577840" y="0"/>
            <a:ext cx="66111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1722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5029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33"/>
                </a:solidFill>
              </a:rPr>
              <a:t>ATLAS TECH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658368" y="1298448"/>
            <a:ext cx="2606040" cy="292608"/>
          </a:xfrm>
          <a:prstGeom prst="roundRect">
            <a:avLst>
              <a:gd name="adj" fmla="val 18750"/>
            </a:avLst>
          </a:prstGeom>
          <a:solidFill>
            <a:srgbClr val="162033">
              <a:alpha val="90000"/>
            </a:srgbClr>
          </a:solidFill>
          <a:ln w="12700">
            <a:solidFill>
              <a:srgbClr val="162033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367028"/>
            <a:ext cx="2386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SOFTWARE · AI · COMPLIANCE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1828800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33"/>
                </a:solidFill>
              </a:rPr>
              <a:t>Cómo trabaja Atlas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85800" y="2542032"/>
            <a:ext cx="4736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5B6472"/>
                </a:solidFill>
              </a:rPr>
              <a:t>Modelo operativo, gobierno de software y preparación legal para clientes industriales.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685800" y="3520440"/>
            <a:ext cx="32004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8587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62033"/>
                </a:solidFill>
              </a:rPr>
              <a:t>Preparado para revisión ejecutiva con DASIC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685800" y="41879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Este material comunica el marco de trabajo de Atlas y la lógica de protección de activos, datos, confidencialidad y continuidad operativa.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685800" y="6144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</a:rPr>
              <a:t>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ATLAS OPERATING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De proveedor de desarrollo a socio tecnológico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61320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2033"/>
                </a:solidFill>
              </a:rPr>
              <a:t>ATLAS TECH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17320"/>
            <a:ext cx="51206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</a:rPr>
              <a:t>Atlas trabaja como una compañía de software: entiende el negocio, convierte operación en arquitectura, entrega producto usable y gobierna riesgos técnicos, legales y de datos.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792" y="2926080"/>
            <a:ext cx="48006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DEE8">
                <a:alpha val="95000"/>
              </a:srgbClr>
            </a:solidFill>
            <a:prstDash val="solid"/>
          </a:ln>
          <a:effectLst>
            <a:outerShdw sx="100000" sy="100000" kx="0" ky="0" algn="bl" rotWithShape="0" blurRad="17780" dist="12700" dir="2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090672"/>
            <a:ext cx="439826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La madurez no se demuestra solo con pantallas: se demuestra con trazabilidad, documentación, seguridad, contratos, datos gobernados y continuidad operativa.</a:t>
            </a:r>
            <a:endParaRPr lang="en-US" sz="1300" dirty="0"/>
          </a:p>
        </p:txBody>
      </p:sp>
      <p:pic>
        <p:nvPicPr>
          <p:cNvPr id="9" name="Image 0" descr="/mnt/data/a_clean_white_tech_infographic_scene_wide_landsca_batch_3.png">    </p:cNvPr>
          <p:cNvPicPr>
            <a:picLocks noChangeAspect="1"/>
          </p:cNvPicPr>
          <p:nvPr/>
        </p:nvPicPr>
        <p:blipFill>
          <a:blip r:embed="rId1"/>
          <a:srcRect l="12142" r="12142" t="0" b="0"/>
          <a:stretch/>
        </p:blipFill>
        <p:spPr>
          <a:xfrm>
            <a:off x="5852160" y="1298448"/>
            <a:ext cx="5806440" cy="43159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5440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B981"/>
                </a:solidFill>
              </a:rPr>
              <a:t>01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77240" y="5833872"/>
            <a:ext cx="1463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Producto ejecutable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331720" y="5440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</a:rPr>
              <a:t>02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2331720" y="5833872"/>
            <a:ext cx="1463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Gobierno contractual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867912" y="5440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C3AED"/>
                </a:solidFill>
              </a:rPr>
              <a:t>03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3867912" y="5833872"/>
            <a:ext cx="1463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Protección de datos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ATLAS OPERATING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El modelo Atlas: diagnóstico → plataforma → gobierno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61320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2033"/>
                </a:solidFill>
              </a:rPr>
              <a:t>ATLAS TECH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pic>
        <p:nvPicPr>
          <p:cNvPr id="6" name="Image 0" descr="/mnt/data/a_clean_high_end_3d_illustrative_corporate_infogr_batch_4.png">    </p:cNvPr>
          <p:cNvPicPr>
            <a:picLocks noChangeAspect="1"/>
          </p:cNvPicPr>
          <p:nvPr/>
        </p:nvPicPr>
        <p:blipFill>
          <a:blip r:embed="rId1"/>
          <a:srcRect l="0" r="0" t="26849" b="26849"/>
          <a:stretch/>
        </p:blipFill>
        <p:spPr>
          <a:xfrm>
            <a:off x="475488" y="1234440"/>
            <a:ext cx="11228832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46227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71016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Discover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4828032"/>
            <a:ext cx="1874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Negocio, dolores, procesos reales y prioridades.</a:t>
            </a:r>
            <a:endParaRPr lang="en-US" sz="860" dirty="0"/>
          </a:p>
        </p:txBody>
      </p:sp>
      <p:sp>
        <p:nvSpPr>
          <p:cNvPr id="10" name="Text 7"/>
          <p:cNvSpPr/>
          <p:nvPr/>
        </p:nvSpPr>
        <p:spPr>
          <a:xfrm>
            <a:off x="2852928" y="446227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438144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Spec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852928" y="4828032"/>
            <a:ext cx="1874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Historias de usuario, criterios de aceptación y alcance.</a:t>
            </a:r>
            <a:endParaRPr lang="en-US" sz="860" dirty="0"/>
          </a:p>
        </p:txBody>
      </p:sp>
      <p:sp>
        <p:nvSpPr>
          <p:cNvPr id="13" name="Text 10"/>
          <p:cNvSpPr/>
          <p:nvPr/>
        </p:nvSpPr>
        <p:spPr>
          <a:xfrm>
            <a:off x="5010912" y="446227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596128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Build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10912" y="4828032"/>
            <a:ext cx="1874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Sprints, arquitectura, componentes y QA.</a:t>
            </a:r>
            <a:endParaRPr lang="en-US" sz="860" dirty="0"/>
          </a:p>
        </p:txBody>
      </p:sp>
      <p:sp>
        <p:nvSpPr>
          <p:cNvPr id="16" name="Text 13"/>
          <p:cNvSpPr/>
          <p:nvPr/>
        </p:nvSpPr>
        <p:spPr>
          <a:xfrm>
            <a:off x="7178040" y="446227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63256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Deploy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178040" y="4828032"/>
            <a:ext cx="1874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Ambiente productivo, acceso, capacitación y soporte.</a:t>
            </a:r>
            <a:endParaRPr lang="en-US" sz="860" dirty="0"/>
          </a:p>
        </p:txBody>
      </p:sp>
      <p:sp>
        <p:nvSpPr>
          <p:cNvPr id="19" name="Text 16"/>
          <p:cNvSpPr/>
          <p:nvPr/>
        </p:nvSpPr>
        <p:spPr>
          <a:xfrm>
            <a:off x="9345168" y="446227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33"/>
                </a:solidFill>
              </a:rPr>
              <a:t>05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930384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Govern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345168" y="4828032"/>
            <a:ext cx="1874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Legal, datos, seguridad, cambios y continuidad.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1051560" y="5559552"/>
            <a:ext cx="10104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6DEE8">
                <a:alpha val="95000"/>
              </a:srgbClr>
            </a:solidFill>
            <a:prstDash val="solid"/>
          </a:ln>
          <a:effectLst>
            <a:outerShdw sx="100000" sy="100000" kx="0" ky="0" algn="bl" rotWithShape="0" blurRad="17780" dist="12700" dir="2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252728" y="5724144"/>
            <a:ext cx="970178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Principio rector: cada entrega debe ser entendible para negocio, ejecutable por usuarios, mantenible por ingeniería y defendible legalmente.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ATLAS OPERATING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Cuando el cliente no tiene procesos definidos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61320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2033"/>
                </a:solidFill>
              </a:rPr>
              <a:t>ATLAS TECH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371600"/>
            <a:ext cx="51206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62033"/>
                </a:solidFill>
              </a:rPr>
              <a:t>Atlas no espera a que exista una operación perfecta. Construye claridad operativa mediante sesiones guiadas y convierte conocimiento disperso en especificaciones ejecutables.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2267712" y="3118104"/>
            <a:ext cx="566928" cy="0"/>
          </a:xfrm>
          <a:prstGeom prst="line">
            <a:avLst/>
          </a:prstGeom>
          <a:noFill/>
          <a:ln w="2286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89704" y="3118104"/>
            <a:ext cx="566928" cy="0"/>
          </a:xfrm>
          <a:prstGeom prst="line">
            <a:avLst/>
          </a:prstGeom>
          <a:noFill/>
          <a:ln w="2286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711696" y="3118104"/>
            <a:ext cx="566928" cy="0"/>
          </a:xfrm>
          <a:prstGeom prst="line">
            <a:avLst/>
          </a:prstGeom>
          <a:noFill/>
          <a:ln w="2286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33688" y="3118104"/>
            <a:ext cx="566928" cy="0"/>
          </a:xfrm>
          <a:prstGeom prst="line">
            <a:avLst/>
          </a:prstGeom>
          <a:noFill/>
          <a:ln w="2286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1520" y="278892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296265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06324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89888" y="294436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Conocimiento tácito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89888" y="3200400"/>
            <a:ext cx="9052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WhatsApp, Excel, criterios verbales, urgencias operativas.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53512" y="278892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18104" y="296265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18104" y="306324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11880" y="294436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Sesiones de descubrimiento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11880" y="3200400"/>
            <a:ext cx="9052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Mapeo de roles, flujos, excepciones y reglas reales.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75504" y="278892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40096" y="296265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0096" y="306324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33872" y="294436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Historias de usuario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833872" y="3200400"/>
            <a:ext cx="9052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“Como usuario necesito…” + criterio de aceptación.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97496" y="278892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62088" y="296265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62088" y="306324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55864" y="294436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Backlog priorizado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055864" y="3200400"/>
            <a:ext cx="9052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MVP, fase 2, deuda técnica, fuera de alcance.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619488" y="278892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1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784080" y="2962656"/>
            <a:ext cx="384048" cy="384048"/>
          </a:xfrm>
          <a:prstGeom prst="ellipse">
            <a:avLst/>
          </a:prstGeom>
          <a:solidFill>
            <a:srgbClr val="162033"/>
          </a:solidFill>
          <a:ln w="12700">
            <a:solidFill>
              <a:srgbClr val="1620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0" y="306324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277856" y="294436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Release gobernado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77856" y="3200400"/>
            <a:ext cx="9052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Entrega medible, trazabilidad, soporte y cambio controlado.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41248" y="4892040"/>
            <a:ext cx="104698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D6DEE8">
                <a:alpha val="95000"/>
              </a:srgbClr>
            </a:solidFill>
            <a:prstDash val="solid"/>
          </a:ln>
          <a:effectLst>
            <a:outerShdw sx="100000" sy="100000" kx="0" ky="0" algn="bl" rotWithShape="0" blurRad="17780" dist="12700" dir="2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42416" y="5056632"/>
            <a:ext cx="100675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Esto es especialmente relevante para DASIC: gran parte del valor inicial fue convertir operación no documentada en producto, módulos, reglas y flujos verificables.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ATLAS OPERATING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Gobierno de entrega: visibilidad, control y cadencia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61320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2033"/>
                </a:solidFill>
              </a:rPr>
              <a:t>ATLAS TECH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3"/>
                </a:solidFill>
              </a:rPr>
              <a:t>Cada proyecto debe tener una estructura mínima de gobierno para evitar ambigüedad, retrabajo y expectativas no documentadas.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8096" y="2075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Comité ejecutivo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25496" y="2075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B6472"/>
                </a:solidFill>
              </a:rPr>
              <a:t>Decisiones de alcance, pagos, riesgos y prioridades.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768096" y="2496312"/>
            <a:ext cx="5715000" cy="0"/>
          </a:xfrm>
          <a:prstGeom prst="line">
            <a:avLst/>
          </a:prstGeom>
          <a:noFill/>
          <a:ln w="889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73405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Product owner cliente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25496" y="2734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B6472"/>
                </a:solidFill>
              </a:rPr>
              <a:t>Valida procesos, datos, usuarios y reglas de negocio.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768096" y="3154680"/>
            <a:ext cx="5715000" cy="0"/>
          </a:xfrm>
          <a:prstGeom prst="line">
            <a:avLst/>
          </a:prstGeom>
          <a:noFill/>
          <a:ln w="889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33924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Squad Atlas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25496" y="33924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B6472"/>
                </a:solidFill>
              </a:rPr>
              <a:t>Producto, desarrollo, QA, datos, integración y soporte.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768096" y="3813048"/>
            <a:ext cx="5715000" cy="0"/>
          </a:xfrm>
          <a:prstGeom prst="line">
            <a:avLst/>
          </a:prstGeom>
          <a:noFill/>
          <a:ln w="889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0507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Artifacts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25496" y="4050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B6472"/>
                </a:solidFill>
              </a:rPr>
              <a:t>SOW, backlog, user stories, changelog, release notes, actas.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768096" y="4471416"/>
            <a:ext cx="5715000" cy="0"/>
          </a:xfrm>
          <a:prstGeom prst="line">
            <a:avLst/>
          </a:prstGeom>
          <a:noFill/>
          <a:ln w="889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4709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Cadencia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825496" y="4709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B6472"/>
                </a:solidFill>
              </a:rPr>
              <a:t>Demo, retro, priorización y control de cambios por sprint.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768096" y="5129784"/>
            <a:ext cx="5715000" cy="0"/>
          </a:xfrm>
          <a:prstGeom prst="line">
            <a:avLst/>
          </a:prstGeom>
          <a:noFill/>
          <a:ln w="889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1444752"/>
            <a:ext cx="44348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0160">
            <a:solidFill>
              <a:srgbClr val="D6DEE8"/>
            </a:solidFill>
            <a:prstDash val="solid"/>
          </a:ln>
          <a:effectLst>
            <a:outerShdw sx="100000" sy="100000" kx="0" ky="0" algn="bl" rotWithShape="0" blurRad="13970" dist="1016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42048" y="17647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33"/>
                </a:solidFill>
              </a:rPr>
              <a:t>El control real vive en la evidencia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278624" y="2304288"/>
            <a:ext cx="3566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• Repositorio y ramas trazables
</a:t>
            </a:r>
            <a:pPr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• Commits vinculados a requerimientos
</a:t>
            </a:r>
            <a:pPr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• Ambientes diferenciados
</a:t>
            </a:r>
            <a:pPr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• Pruebas y checklist de release
</a:t>
            </a:r>
            <a:pPr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• Bitácora de acuerdos y cambios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4901184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0160">
            <a:solidFill>
              <a:srgbClr val="D6DEE8">
                <a:alpha val="95000"/>
              </a:srgbClr>
            </a:solidFill>
            <a:prstDash val="solid"/>
          </a:ln>
          <a:effectLst>
            <a:outerShdw sx="100000" sy="100000" kx="0" ky="0" algn="bl" rotWithShape="0" blurRad="17780" dist="12700" dir="2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16368" y="5065776"/>
            <a:ext cx="320954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Lo que no está documentado tiende a convertirse en disputa de alcance.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ATLAS OPERATING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Análisis legal especializado integrado al modelo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61320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2033"/>
                </a:solidFill>
              </a:rPr>
              <a:t>ATLAS TECH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pic>
        <p:nvPicPr>
          <p:cNvPr id="6" name="Image 0" descr="/mnt/data/a_sleek_high_end_3d_rendered_abstract_tech_cybers_batch_2.png">    </p:cNvPr>
          <p:cNvPicPr>
            <a:picLocks noChangeAspect="1"/>
          </p:cNvPicPr>
          <p:nvPr/>
        </p:nvPicPr>
        <p:blipFill>
          <a:blip r:embed="rId1"/>
          <a:srcRect l="4273" r="4273" t="0" b="0"/>
          <a:stretch/>
        </p:blipFill>
        <p:spPr>
          <a:xfrm>
            <a:off x="6263640" y="1243584"/>
            <a:ext cx="534924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417320"/>
            <a:ext cx="52578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033"/>
                </a:solidFill>
              </a:rPr>
              <a:t>El trabajo de Atlas se estructura con una revisión legal especializada en software empresarial, propiedad intelectual, confidencialidad, privacidad, seguridad y operación SaaS en México.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58368" y="2624328"/>
            <a:ext cx="46634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6DEE8">
                <a:alpha val="95000"/>
              </a:srgbClr>
            </a:solidFill>
            <a:prstDash val="solid"/>
          </a:ln>
          <a:effectLst>
            <a:outerShdw sx="100000" sy="100000" kx="0" ky="0" algn="bl" rotWithShape="0" blurRad="17780" dist="12700" dir="2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9536" y="2788920"/>
            <a:ext cx="426110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No se trata solo de “hacer código”: se trata de proteger datos, separar activos, regular licencias, definir continuidad y evitar ambigüedad contractual.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58368" y="411480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ECFDF5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43159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IP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45902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5B6472"/>
                </a:solidFill>
              </a:rPr>
              <a:t>Background technology, custom developments, licencias y cesiones.</a:t>
            </a:r>
            <a:endParaRPr lang="en-US" sz="690" dirty="0"/>
          </a:p>
        </p:txBody>
      </p:sp>
      <p:sp>
        <p:nvSpPr>
          <p:cNvPr id="13" name="Shape 10"/>
          <p:cNvSpPr/>
          <p:nvPr/>
        </p:nvSpPr>
        <p:spPr>
          <a:xfrm>
            <a:off x="2532888" y="411480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79192" y="43159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Privacy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60904" y="45902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5B6472"/>
                </a:solidFill>
              </a:rPr>
              <a:t>Datos personales, roles responsable/encargado y medidas de seguridad.</a:t>
            </a:r>
            <a:endParaRPr lang="en-US" sz="690" dirty="0"/>
          </a:p>
        </p:txBody>
      </p:sp>
      <p:sp>
        <p:nvSpPr>
          <p:cNvPr id="16" name="Shape 13"/>
          <p:cNvSpPr/>
          <p:nvPr/>
        </p:nvSpPr>
        <p:spPr>
          <a:xfrm>
            <a:off x="4407408" y="411480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F5F3FF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53712" y="43159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Confidentiality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35424" y="45902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5B6472"/>
                </a:solidFill>
              </a:rPr>
              <a:t>Secretos industriales, información estratégica y acceso restringido.</a:t>
            </a:r>
            <a:endParaRPr lang="en-US" sz="690" dirty="0"/>
          </a:p>
        </p:txBody>
      </p:sp>
      <p:sp>
        <p:nvSpPr>
          <p:cNvPr id="19" name="Text 16"/>
          <p:cNvSpPr/>
          <p:nvPr/>
        </p:nvSpPr>
        <p:spPr>
          <a:xfrm>
            <a:off x="502920" y="629107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A8699"/>
                </a:solidFill>
              </a:rPr>
              <a:t>Nota: material estratégico de Atlas; no sustituye dictamen jurídico externo sobre contratos ya firmados.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ATLAS OPERATING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Propiedad intelectual: separar activos evita conflictos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61320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2033"/>
                </a:solidFill>
              </a:rPr>
              <a:t>ATLAS TECH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98448"/>
            <a:ext cx="713232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62033"/>
                </a:solidFill>
              </a:rPr>
              <a:t>La pregunta correcta no es “¿de quién es todo?”. La pregunta correcta es: ¿qué capa estamos analizando, qué existía antes, qué se creó para el cliente y qué se licencia?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85800" y="2212848"/>
            <a:ext cx="416052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31343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033"/>
                </a:solidFill>
              </a:rPr>
              <a:t>Datos del cliente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377440" y="2295144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2"/>
                </a:solidFill>
              </a:rPr>
              <a:t>Propiedad/control del cliente; Atlas procesa bajo instrucciones.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685800" y="2779776"/>
            <a:ext cx="4160520" cy="402336"/>
          </a:xfrm>
          <a:prstGeom prst="roundRect">
            <a:avLst>
              <a:gd name="adj" fmla="val 6818"/>
            </a:avLst>
          </a:prstGeom>
          <a:solidFill>
            <a:srgbClr val="F2F7FB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88036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033"/>
                </a:solidFill>
              </a:rPr>
              <a:t>Materiales del cliente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377440" y="2862072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2"/>
                </a:solidFill>
              </a:rPr>
              <a:t>Logos, catálogos, procesos, documentación y contenido propio.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685800" y="3346704"/>
            <a:ext cx="416052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44728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033"/>
                </a:solidFill>
              </a:rPr>
              <a:t>Tecnología previa Atlas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377440" y="3429000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2"/>
                </a:solidFill>
              </a:rPr>
              <a:t>Arquitectura, componentes, frameworks propios y know-how reusable.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85800" y="3913632"/>
            <a:ext cx="4160520" cy="402336"/>
          </a:xfrm>
          <a:prstGeom prst="roundRect">
            <a:avLst>
              <a:gd name="adj" fmla="val 6818"/>
            </a:avLst>
          </a:prstGeom>
          <a:solidFill>
            <a:srgbClr val="F2F7FB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01421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033"/>
                </a:solidFill>
              </a:rPr>
              <a:t>Configuración específica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377440" y="399592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2"/>
                </a:solidFill>
              </a:rPr>
              <a:t>Parámetros, flujos y reglas del tenant del cliente.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685800" y="4480560"/>
            <a:ext cx="416052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458114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033"/>
                </a:solidFill>
              </a:rPr>
              <a:t>Desarrollos custom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377440" y="4562856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2"/>
                </a:solidFill>
              </a:rPr>
              <a:t>Se clasifican por SOW: licencia, cesión o uso limitado.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85800" y="5047488"/>
            <a:ext cx="4160520" cy="402336"/>
          </a:xfrm>
          <a:prstGeom prst="roundRect">
            <a:avLst>
              <a:gd name="adj" fmla="val 6818"/>
            </a:avLst>
          </a:prstGeom>
          <a:solidFill>
            <a:srgbClr val="F2F7FB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514807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033"/>
                </a:solidFill>
              </a:rPr>
              <a:t>Software de terceros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2377440" y="5129784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2"/>
                </a:solidFill>
              </a:rPr>
              <a:t>Sujeto a licencias open source/comerciales; no se cede lo que no se posee.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5257800" y="3246120"/>
            <a:ext cx="731520" cy="475488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2011680"/>
            <a:ext cx="452628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2700" dist="889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48272" y="23317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033"/>
                </a:solidFill>
              </a:rPr>
              <a:t>IP Schedule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03720" y="2862072"/>
            <a:ext cx="3383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5B6472"/>
                </a:solidFill>
              </a:rPr>
              <a:t>El documento que clasifica activos, licencias, derechos de uso, restricciones, excepciones, entregables y escenarios de continuidad.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6967728" y="370332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62033"/>
                </a:solidFill>
              </a:rPr>
              <a:t>• Reduce ambigüedad
</a:t>
            </a:r>
            <a:pPr indent="0" marL="0">
              <a:buNone/>
            </a:pPr>
            <a:r>
              <a:rPr lang="en-US" sz="1030" dirty="0">
                <a:solidFill>
                  <a:srgbClr val="162033"/>
                </a:solidFill>
              </a:rPr>
              <a:t>• Protege plataforma Atlas
</a:t>
            </a:r>
            <a:pPr indent="0" marL="0">
              <a:buNone/>
            </a:pPr>
            <a:r>
              <a:rPr lang="en-US" sz="1030" dirty="0">
                <a:solidFill>
                  <a:srgbClr val="162033"/>
                </a:solidFill>
              </a:rPr>
              <a:t>• Da certeza operativa al cliente
</a:t>
            </a:r>
            <a:pPr indent="0" marL="0">
              <a:buNone/>
            </a:pPr>
            <a:r>
              <a:rPr lang="en-US" sz="1030" dirty="0">
                <a:solidFill>
                  <a:srgbClr val="162033"/>
                </a:solidFill>
              </a:rPr>
              <a:t>• Distingue implementación de cesión de IP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621792" y="60533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</a:rPr>
              <a:t>Referencia normativa: LFDA vigente — protección de programas de cómputo como obras literarias, código fuente/objeto y reglas de obra por encargo.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ATLAS OPERATING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Confidencialidad: jurídico + técnico + organizacional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61320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2033"/>
                </a:solidFill>
              </a:rPr>
              <a:t>ATLAS TECH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325880"/>
            <a:ext cx="525780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62033"/>
                </a:solidFill>
              </a:rPr>
              <a:t>Para que la confidencialidad sea defendible, debe existir una combinación de acuerdos escritos, clasificación de información y controles reales de acceso.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960120" y="2578608"/>
            <a:ext cx="1115568" cy="1115568"/>
          </a:xfrm>
          <a:prstGeom prst="ellipse">
            <a:avLst/>
          </a:prstGeom>
          <a:solidFill>
            <a:srgbClr val="162033"/>
          </a:solidFill>
          <a:ln w="12700">
            <a:solidFill>
              <a:srgbClr val="1620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97180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4088" y="3931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3"/>
                </a:solidFill>
              </a:rPr>
              <a:t>NDA bilateral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334256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Define información confidencial, excepciones, vigencia y uso permitido.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2578608"/>
            <a:ext cx="1115568" cy="11155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97180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70248" y="3931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3"/>
                </a:solidFill>
              </a:rPr>
              <a:t>Clasificación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4334256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Datos, código, arquitectura, procesos, precios, credenciales y secretos.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2440" y="2578608"/>
            <a:ext cx="1115568" cy="11155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297180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36408" y="3931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3"/>
                </a:solidFill>
              </a:rPr>
              <a:t>Controles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06640" y="4334256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Acceso need-to-know, MFA, repos privados, logs, ambientes y backups.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3136392"/>
            <a:ext cx="2194560" cy="0"/>
          </a:xfrm>
          <a:prstGeom prst="line">
            <a:avLst/>
          </a:prstGeom>
          <a:noFill/>
          <a:ln w="25400">
            <a:solidFill>
              <a:srgbClr val="D6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7568" y="3136392"/>
            <a:ext cx="2194560" cy="0"/>
          </a:xfrm>
          <a:prstGeom prst="line">
            <a:avLst/>
          </a:prstGeom>
          <a:noFill/>
          <a:ln w="25400">
            <a:solidFill>
              <a:srgbClr val="D6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532120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D6DEE8">
                <a:alpha val="95000"/>
              </a:srgbClr>
            </a:solidFill>
            <a:prstDash val="solid"/>
          </a:ln>
          <a:effectLst>
            <a:outerShdw sx="100000" sy="100000" kx="0" ky="0" algn="bl" rotWithShape="0" blurRad="17780" dist="12700" dir="2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15568" y="5696712"/>
            <a:ext cx="956462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En software industrial, la información sensible puede incluir procesos, precios, clientes, proveedores, arquitectura, credenciales, vulnerabilidades y roadmap.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60533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</a:rPr>
              <a:t>Referencia normativa: LFPPI vigente — secreto industrial requiere ventaja competitiva y medios suficientes de confidencialidad/acceso restringido.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ATLAS OPERATING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Privacidad y seguridad: datos gobernados, no solo almacenados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61320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2033"/>
                </a:solidFill>
              </a:rPr>
              <a:t>ATLAS TECH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pic>
        <p:nvPicPr>
          <p:cNvPr id="6" name="Image 0" descr="/mnt/data/a_sleek_high_end_3d_rendered_abstract_tech_cybers_batch_2.png">    </p:cNvPr>
          <p:cNvPicPr>
            <a:picLocks noChangeAspect="1"/>
          </p:cNvPicPr>
          <p:nvPr/>
        </p:nvPicPr>
        <p:blipFill>
          <a:blip r:embed="rId1"/>
          <a:srcRect l="4038" r="4038" t="0" b="0"/>
          <a:stretch/>
        </p:blipFill>
        <p:spPr>
          <a:xfrm>
            <a:off x="502920" y="1234440"/>
            <a:ext cx="4480560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32120" y="13258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3"/>
                </a:solidFill>
              </a:rPr>
              <a:t>Modelo mínimo para proyectos B2B con datos personales y datos de negocio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532120" y="1938528"/>
            <a:ext cx="516636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0" y="206654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Mapa de datos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059168" y="2039112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Qué datos existen, quién los provee, dónde viven y para qué se usan.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532120" y="2642616"/>
            <a:ext cx="5166360" cy="475488"/>
          </a:xfrm>
          <a:prstGeom prst="roundRect">
            <a:avLst>
              <a:gd name="adj" fmla="val 7692"/>
            </a:avLst>
          </a:prstGeom>
          <a:solidFill>
            <a:srgbClr val="F3F7FB"/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2770632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Roles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059168" y="2743200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Cliente como responsable; Atlas como encargado cuando procesa por instrucciones.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532120" y="3346704"/>
            <a:ext cx="516636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3474720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Medidas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059168" y="3447288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Administrativas, técnicas y físicas: acceso, cifrado, logs, backups y continuidad.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532120" y="4050792"/>
            <a:ext cx="5166360" cy="475488"/>
          </a:xfrm>
          <a:prstGeom prst="roundRect">
            <a:avLst>
              <a:gd name="adj" fmla="val 7692"/>
            </a:avLst>
          </a:prstGeom>
          <a:solidFill>
            <a:srgbClr val="F3F7FB"/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5000" y="4178808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Incidentes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059168" y="415137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Procedimiento de respuesta, notificación, mitigación y evidencia.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14400" y="4663440"/>
            <a:ext cx="9966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6DEE8">
                <a:alpha val="95000"/>
              </a:srgbClr>
            </a:solidFill>
            <a:prstDash val="solid"/>
          </a:ln>
          <a:effectLst>
            <a:outerShdw sx="100000" sy="100000" kx="0" ky="0" algn="bl" rotWithShape="0" blurRad="17780" dist="12700" dir="2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115568" y="4828032"/>
            <a:ext cx="956462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La seguridad debe poder explicarse en lenguaje ejecutivo: quién accede, a qué, para qué, desde dónde, con qué trazabilidad y bajo qué responsabilidad.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1792" y="60533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</a:rPr>
              <a:t>Referencia normativa: LFPDPPP vigente — tratamiento legítimo, responsable/encargado, confidencialidad y medidas de seguridad.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ATLAS OPERATING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IA, open source y supply chain: control sobre lo que usamos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61320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2033"/>
                </a:solidFill>
              </a:rPr>
              <a:t>ATLAS TECH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335024"/>
            <a:ext cx="5760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2033"/>
                </a:solidFill>
              </a:rPr>
              <a:t>Un software moderno no es solo código propio. Incluye librerías, frameworks, servicios cloud, modelos de IA, paquetes, APIs y proveedores.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04672" y="2331720"/>
            <a:ext cx="5074920" cy="402336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441448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33"/>
                </a:solidFill>
              </a:rPr>
              <a:t>Modelo / API 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514600" y="2432304"/>
            <a:ext cx="2971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política de datos, logs, retención, entrenamiento, región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24128" y="2843784"/>
            <a:ext cx="5074920" cy="402336"/>
          </a:xfrm>
          <a:prstGeom prst="roundRect">
            <a:avLst>
              <a:gd name="adj" fmla="val 6818"/>
            </a:avLst>
          </a:prstGeom>
          <a:solidFill>
            <a:srgbClr val="F5F3FF"/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953512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33"/>
                </a:solidFill>
              </a:rPr>
              <a:t>Dependencias OSS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34056" y="2944368"/>
            <a:ext cx="2971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licencia, versión, vulnerabilidades, mantenimiento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243584" y="3355848"/>
            <a:ext cx="5074920" cy="402336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26464" y="3465576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33"/>
                </a:solidFill>
              </a:rPr>
              <a:t>Servicios cloud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53512" y="3456432"/>
            <a:ext cx="2971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región, backups, credenciales, continuidad, subprocesadores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463040" y="3867912"/>
            <a:ext cx="5074920" cy="402336"/>
          </a:xfrm>
          <a:prstGeom prst="roundRect">
            <a:avLst>
              <a:gd name="adj" fmla="val 6818"/>
            </a:avLst>
          </a:prstGeom>
          <a:solidFill>
            <a:srgbClr val="ECFDF5"/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397764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33"/>
                </a:solidFill>
              </a:rPr>
              <a:t>Código Atlas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72968" y="3968496"/>
            <a:ext cx="2971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repositorio, ramas, owner, pruebas, changelog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682496" y="4379976"/>
            <a:ext cx="507492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65376" y="4489704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33"/>
                </a:solidFill>
              </a:rPr>
              <a:t>Datos cliente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92424" y="4480560"/>
            <a:ext cx="2971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finalidad, acceso, exportación, eliminación, portabilidad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949440" y="1600200"/>
            <a:ext cx="4069080" cy="3566160"/>
          </a:xfrm>
          <a:prstGeom prst="roundRect">
            <a:avLst>
              <a:gd name="adj" fmla="val 2564"/>
            </a:avLst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  <a:effectLst>
            <a:outerShdw sx="100000" sy="100000" kx="0" ky="0" algn="bl" rotWithShape="0" blurRad="17780" dist="1016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33488" y="19019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Atlas rule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88352" y="2542032"/>
            <a:ext cx="3127248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2FF"/>
                </a:solidFill>
              </a:rPr>
              <a:t>No se debe prometer cesión de propiedad sobre software de terceros ni usar datos confidenciales del cliente para entrenamiento de modelos sin autorización expresa.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89520" y="4160520"/>
            <a:ext cx="2651760" cy="0"/>
          </a:xfrm>
          <a:prstGeom prst="line">
            <a:avLst/>
          </a:prstGeom>
          <a:noFill/>
          <a:ln w="3048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88352" y="44348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Esto protege a DASIC y también protege el core reutilizable de Atlas.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ATLAS OPERATING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Costos, pagos y alcance: separar conceptos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61320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2033"/>
                </a:solidFill>
              </a:rPr>
              <a:t>ATLAS TECH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353312"/>
            <a:ext cx="61722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2033"/>
                </a:solidFill>
              </a:rPr>
              <a:t>Un pago puede cubrir implementación, desarrollo, soporte o licencia. No debe confundirse automáticamente con una compra total de la tecnología subyacente.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" dist="762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624328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Implementación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30266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configuración, migración, puesta en marcha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3520440" y="242316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" dist="762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85032" y="2624328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Desarrollo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67328" y="30266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capacidad de ingeniería y construcción custom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309360" y="242316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" dist="762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2624328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SaaS / licencia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56248" y="30266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derecho de acceso y uso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9098280" y="242316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" dist="762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62872" y="2624328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Soporte / SLA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45168" y="30266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mantenimiento, continuidad y respuesta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1143000" y="4343400"/>
            <a:ext cx="9646920" cy="731520"/>
          </a:xfrm>
          <a:prstGeom prst="roundRect">
            <a:avLst>
              <a:gd name="adj" fmla="val 75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81328" y="460857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2033"/>
                </a:solidFill>
              </a:rPr>
              <a:t>Regla comercial: desarrollo ≠ cesión de IP ≠ exclusividad ≠ acceso a código fuente. Cada concepto debe valorarse y documentarse por separado.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1874520" y="55321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5B6472"/>
                </a:solidFill>
              </a:rPr>
              <a:t>Herramientas: SOW + Change Order + IP Schedule + SLA + anexo de costos y saldos.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ATLAS OPERATING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Matriz ejecutiva para conversaciones sensibles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61320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2033"/>
                </a:solidFill>
              </a:rPr>
              <a:t>ATLAS TECH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9844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62033"/>
                </a:solidFill>
              </a:rPr>
              <a:t>Antes de contestar de forma definitiva sobre propiedad, confidencialidad o continuidad, Atlas debe ubicar cada tema en una matriz simple de decisión.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2057400" cy="41148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185416"/>
            <a:ext cx="1819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Tema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063240" y="2057400"/>
            <a:ext cx="3429000" cy="41148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2185416"/>
            <a:ext cx="31912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Riesgo si queda ambiguo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812280" y="2057400"/>
            <a:ext cx="4297680" cy="411480"/>
          </a:xfrm>
          <a:prstGeom prst="roundRect">
            <a:avLst>
              <a:gd name="adj" fmla="val 6667"/>
            </a:avLst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1152" y="2185416"/>
            <a:ext cx="40599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Respuesta Atlas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31520" y="2578608"/>
            <a:ext cx="205740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688336"/>
            <a:ext cx="1837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033"/>
                </a:solidFill>
              </a:rPr>
              <a:t>Datos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3063240" y="2578608"/>
            <a:ext cx="342900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2688336"/>
            <a:ext cx="3209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Acceso, exportación, privacidad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812280" y="2578608"/>
            <a:ext cx="429768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2008" y="2688336"/>
            <a:ext cx="4078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Cliente controla sus datos; Atlas documenta tratamiento y seguridad.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731520" y="3145536"/>
            <a:ext cx="2057400" cy="402336"/>
          </a:xfrm>
          <a:prstGeom prst="roundRect">
            <a:avLst>
              <a:gd name="adj" fmla="val 6818"/>
            </a:avLst>
          </a:prstGeom>
          <a:solidFill>
            <a:srgbClr val="F3F7FB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255264"/>
            <a:ext cx="1837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033"/>
                </a:solidFill>
              </a:rPr>
              <a:t>Código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3063240" y="3145536"/>
            <a:ext cx="3429000" cy="402336"/>
          </a:xfrm>
          <a:prstGeom prst="roundRect">
            <a:avLst>
              <a:gd name="adj" fmla="val 6818"/>
            </a:avLst>
          </a:prstGeom>
          <a:solidFill>
            <a:srgbClr val="F3F7FB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72968" y="3255264"/>
            <a:ext cx="3209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Disputa de propiedad / reutilización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812280" y="3145536"/>
            <a:ext cx="4297680" cy="402336"/>
          </a:xfrm>
          <a:prstGeom prst="roundRect">
            <a:avLst>
              <a:gd name="adj" fmla="val 6818"/>
            </a:avLst>
          </a:prstGeom>
          <a:solidFill>
            <a:srgbClr val="F3F7FB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2008" y="3255264"/>
            <a:ext cx="4078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Clasificar por capas: previo, custom, configuración y terceros.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731520" y="3712464"/>
            <a:ext cx="205740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822192"/>
            <a:ext cx="1837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033"/>
                </a:solidFill>
              </a:rPr>
              <a:t>Alcance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3063240" y="3712464"/>
            <a:ext cx="342900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72968" y="3822192"/>
            <a:ext cx="3209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Retrabajo y creep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812280" y="3712464"/>
            <a:ext cx="429768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22008" y="3822192"/>
            <a:ext cx="4078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User stories, SOW y change orders.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731520" y="4279392"/>
            <a:ext cx="2057400" cy="402336"/>
          </a:xfrm>
          <a:prstGeom prst="roundRect">
            <a:avLst>
              <a:gd name="adj" fmla="val 6818"/>
            </a:avLst>
          </a:prstGeom>
          <a:solidFill>
            <a:srgbClr val="F3F7FB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4389120"/>
            <a:ext cx="1837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033"/>
                </a:solidFill>
              </a:rPr>
              <a:t>Continuidad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3063240" y="4279392"/>
            <a:ext cx="3429000" cy="402336"/>
          </a:xfrm>
          <a:prstGeom prst="roundRect">
            <a:avLst>
              <a:gd name="adj" fmla="val 6818"/>
            </a:avLst>
          </a:prstGeom>
          <a:solidFill>
            <a:srgbClr val="F3F7FB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72968" y="4389120"/>
            <a:ext cx="3209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Dependencia operativa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812280" y="4279392"/>
            <a:ext cx="4297680" cy="402336"/>
          </a:xfrm>
          <a:prstGeom prst="roundRect">
            <a:avLst>
              <a:gd name="adj" fmla="val 6818"/>
            </a:avLst>
          </a:prstGeom>
          <a:solidFill>
            <a:srgbClr val="F3F7FB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22008" y="4389120"/>
            <a:ext cx="4078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Backups, export, SLA y eventual escrow.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731520" y="4846320"/>
            <a:ext cx="205740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4956048"/>
            <a:ext cx="1837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033"/>
                </a:solidFill>
              </a:rPr>
              <a:t>IA / OSS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3063240" y="4846320"/>
            <a:ext cx="342900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72968" y="4956048"/>
            <a:ext cx="3209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Uso indebido o promesas imposibles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6812280" y="4846320"/>
            <a:ext cx="429768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EE8">
                <a:alpha val="7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22008" y="4956048"/>
            <a:ext cx="4078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Política de proveedores, licencias y datos.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1051560" y="5687568"/>
            <a:ext cx="9646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6DEE8">
                <a:alpha val="95000"/>
              </a:srgbClr>
            </a:solidFill>
            <a:prstDash val="solid"/>
          </a:ln>
          <a:effectLst>
            <a:outerShdw sx="100000" sy="100000" kx="0" ky="0" algn="bl" rotWithShape="0" blurRad="17780" dist="12700" dir="2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252728" y="5852160"/>
            <a:ext cx="92445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Objetivo de la reunión: no improvisar concesiones; ordenar hechos, acuerdos, pagos, documentación y decisiones pendientes.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ATLAS OPERATING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Documentos preparados para elevar la relación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61320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2033"/>
                </a:solidFill>
              </a:rPr>
              <a:t>ATLAS TECH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98448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62033"/>
                </a:solidFill>
              </a:rPr>
              <a:t>La presentación debe venir acompañada de documentos listos para activar si el cliente pide formalizar confidencialidad, IP, datos o soporte.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4672" y="2029968"/>
            <a:ext cx="48920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" dist="508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9264" y="216712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MSA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0" y="2148840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472"/>
                </a:solidFill>
              </a:rPr>
              <a:t>Contrato maestro de servicios y relación comercial.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804672" y="2779776"/>
            <a:ext cx="48920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" dist="508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9264" y="291693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SOW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0" y="2898648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472"/>
                </a:solidFill>
              </a:rPr>
              <a:t>Alcance, entregables, roles, calendario y criterios de aceptación.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804672" y="3529584"/>
            <a:ext cx="48920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" dist="508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9264" y="366674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33"/>
                </a:solidFill>
              </a:rPr>
              <a:t>NDA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86000" y="3648456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472"/>
                </a:solidFill>
              </a:rPr>
              <a:t>Confidencialidad bilateral y protección de secretos.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804672" y="4279392"/>
            <a:ext cx="48920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" dist="508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9264" y="441655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IP Schedule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86000" y="439826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472"/>
                </a:solidFill>
              </a:rPr>
              <a:t>Clasificación de datos, software, configuraciones y licencias.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245352" y="2029968"/>
            <a:ext cx="48920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" dist="508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9944" y="216712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DPA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26680" y="2148840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472"/>
                </a:solidFill>
              </a:rPr>
              <a:t>Tratamiento de datos personales, roles y medidas.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6245352" y="2779776"/>
            <a:ext cx="48920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" dist="508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9944" y="291693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Security Addendum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26680" y="2898648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472"/>
                </a:solidFill>
              </a:rPr>
              <a:t>Controles, accesos, incidentes, backups y continuidad.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6245352" y="3529584"/>
            <a:ext cx="48920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" dist="508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9944" y="366674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SLA / Support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26680" y="3648456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472"/>
                </a:solidFill>
              </a:rPr>
              <a:t>Niveles de servicio, canales, severidades y tiempos.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6245352" y="4279392"/>
            <a:ext cx="48920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" dist="508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9944" y="441655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33"/>
                </a:solidFill>
              </a:rPr>
              <a:t>Change Order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26680" y="439826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472"/>
                </a:solidFill>
              </a:rPr>
              <a:t>Alta de nuevos requerimientos sin contaminar el alcance.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1188720" y="5532120"/>
            <a:ext cx="9784080" cy="475488"/>
          </a:xfrm>
          <a:prstGeom prst="roundRect">
            <a:avLst>
              <a:gd name="adj" fmla="val 961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81328" y="5696712"/>
            <a:ext cx="9235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62033"/>
                </a:solidFill>
              </a:rPr>
              <a:t>Estos documentos no deben verse como burocracia; son el sistema operativo contractual de una relación de software seria.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ATLAS OPERATING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Mensaje ejecutivo para DASIC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61320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2033"/>
                </a:solidFill>
              </a:rPr>
              <a:t>ATLAS TECH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99616"/>
            <a:ext cx="104698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033"/>
                </a:solidFill>
              </a:rPr>
              <a:t>“Queremos darles certeza sobre su operación y sus datos, y al mismo tiempo proteger la tecnología que Atlas ha construido como plataforma. Para lograrlo, vamos a separar claramente: datos, configuración, desarrollos específicos, software de terceros, tecnología previa de Atlas, soporte y continuidad.”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0" y="3044952"/>
            <a:ext cx="8138160" cy="0"/>
          </a:xfrm>
          <a:prstGeom prst="line">
            <a:avLst/>
          </a:prstGeom>
          <a:noFill/>
          <a:ln w="3048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3858768"/>
            <a:ext cx="22128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" dist="762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" y="41148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Primero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3000" y="443484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B6472"/>
                </a:solidFill>
              </a:rPr>
              <a:t>Mostrar valor y avances reales.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749040" y="3858768"/>
            <a:ext cx="22128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" dist="762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04488" y="41148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Después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931920" y="443484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B6472"/>
                </a:solidFill>
              </a:rPr>
              <a:t>Conciliar costos, pagos y alcance.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537960" y="3858768"/>
            <a:ext cx="22128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" dist="762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93408" y="41148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Luego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20840" y="443484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B6472"/>
                </a:solidFill>
              </a:rPr>
              <a:t>Ordenar confidencialidad, IP, datos y seguridad.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9326880" y="3858768"/>
            <a:ext cx="22128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" dist="762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82328" y="41148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Finalmente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509760" y="443484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B6472"/>
                </a:solidFill>
              </a:rPr>
              <a:t>Formalizar documentos y decisiones.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1234440" y="5532120"/>
            <a:ext cx="96012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D6DEE8">
                <a:alpha val="95000"/>
              </a:srgbClr>
            </a:solidFill>
            <a:prstDash val="solid"/>
          </a:ln>
          <a:effectLst>
            <a:outerShdw sx="100000" sy="100000" kx="0" ky="0" algn="bl" rotWithShape="0" blurRad="17780" dist="12700" dir="2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435608" y="5696712"/>
            <a:ext cx="919886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No entrar a negociar “de quién es todo” sin antes clasificar activos, revisar contrato, pagos, SOW y evidencia técnica.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ATLAS OPERATING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Siguiente deck: avances específicos de DASIC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61320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2033"/>
                </a:solidFill>
              </a:rPr>
              <a:t>ATLAS TECH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9844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62033"/>
                </a:solidFill>
              </a:rPr>
              <a:t>Mientras se reúne la documentación, Atlas preparará una segunda presentación enfocada exclusivamente en el trabajo realizado para DASIC.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7048" y="215798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Rebranding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527048" y="24688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Identidad, narrativa, posicionamiento y materiales visuales.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1527048" y="2798064"/>
            <a:ext cx="429768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1762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22008" y="215798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Página web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22008" y="24688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Presencia digital, estructura de contenido y activos web.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922008" y="2798064"/>
            <a:ext cx="429768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723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7048" y="30540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Tienda en línea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27048" y="33649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WooCommerce/e-commerce creado, aunque no operado por DASIC.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1527048" y="3694176"/>
            <a:ext cx="429768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30723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22008" y="30540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Sesiones de producto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22008" y="33649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Descubrimiento, historias de usuario y reglas operativas.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922008" y="3694176"/>
            <a:ext cx="429768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9684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3"/>
                </a:solidFill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27048" y="395020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Sistema interno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527048" y="42611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Módulos, flujos, datos, usuarios, cotizaciones, inventario, CxC y remisiones.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1527048" y="4590288"/>
            <a:ext cx="429768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39684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22008" y="395020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Madurez pendiente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22008" y="42611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Procesos no definidos, adopción, operación, métricas y gobierno.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922008" y="4590288"/>
            <a:ext cx="429768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" y="5650992"/>
            <a:ext cx="97840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6DEE8">
                <a:alpha val="95000"/>
              </a:srgbClr>
            </a:solidFill>
            <a:prstDash val="solid"/>
          </a:ln>
          <a:effectLst>
            <a:outerShdw sx="100000" sy="100000" kx="0" ky="0" algn="bl" rotWithShape="0" blurRad="17780" dist="12700" dir="2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298448" y="5815584"/>
            <a:ext cx="938174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La narrativa debe mostrar que Atlas no solo desarrolló software: ordenó una operación, creó activos digitales y habilitó infraestructura para operar.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LEGAL SOURCE APPENDIX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Fuentes normativas consultadas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61320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2033"/>
                </a:solidFill>
              </a:rPr>
              <a:t>ATLAS TECH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016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9844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62033"/>
                </a:solidFill>
              </a:rPr>
              <a:t>Fuentes oficiales utilizadas para fundamentar la sección de gobierno legal y compliance. La posición final deberá aterrizarse contra los contratos y documentación específica de DASIC.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1024128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12848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62033"/>
                </a:solidFill>
              </a:rPr>
              <a:t>Ley Federal del Derecho de Autor — Cámara de Diputados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166360" y="221284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563EB"/>
                </a:solidFill>
              </a:rPr>
              <a:t>https://www.diputados.gob.mx/LeyesBiblio/pdf/LFDA.pdf</a:t>
            </a:r>
            <a:endParaRPr lang="en-US" sz="640" dirty="0"/>
          </a:p>
        </p:txBody>
      </p:sp>
      <p:sp>
        <p:nvSpPr>
          <p:cNvPr id="10" name="Text 8"/>
          <p:cNvSpPr/>
          <p:nvPr/>
        </p:nvSpPr>
        <p:spPr>
          <a:xfrm>
            <a:off x="8842248" y="2212848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B6472"/>
                </a:solidFill>
              </a:rPr>
              <a:t>Software, código fuente/objeto, obra por encargo, transmisión/licencia de derechos.</a:t>
            </a:r>
            <a:endParaRPr lang="en-US" sz="660" dirty="0"/>
          </a:p>
        </p:txBody>
      </p:sp>
      <p:sp>
        <p:nvSpPr>
          <p:cNvPr id="11" name="Shape 9"/>
          <p:cNvSpPr/>
          <p:nvPr/>
        </p:nvSpPr>
        <p:spPr>
          <a:xfrm>
            <a:off x="777240" y="2926080"/>
            <a:ext cx="10241280" cy="603504"/>
          </a:xfrm>
          <a:prstGeom prst="roundRect">
            <a:avLst>
              <a:gd name="adj" fmla="val 6061"/>
            </a:avLst>
          </a:prstGeom>
          <a:solidFill>
            <a:srgbClr val="F3F7FB"/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035808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62033"/>
                </a:solidFill>
              </a:rPr>
              <a:t>Reforma LFDA DOF 14/05/2026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5166360" y="303580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563EB"/>
                </a:solidFill>
              </a:rPr>
              <a:t>https://www.diputados.gob.mx/LeyesBiblio/ref/lfda/LFDA_ref16_14may26.pdf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8842248" y="3035808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B6472"/>
                </a:solidFill>
              </a:rPr>
              <a:t>Programas de computación, incluidos programas de inteligencia artificial.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777240" y="3749040"/>
            <a:ext cx="1024128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858768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62033"/>
                </a:solidFill>
              </a:rPr>
              <a:t>Ley Federal de Protección de Datos Personales en Posesión de los Particulares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5166360" y="38587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563EB"/>
                </a:solidFill>
              </a:rPr>
              <a:t>https://www.diputados.gob.mx/LeyesBiblio/pdf/LFPDPPP.pdf</a:t>
            </a:r>
            <a:endParaRPr lang="en-US" sz="640" dirty="0"/>
          </a:p>
        </p:txBody>
      </p:sp>
      <p:sp>
        <p:nvSpPr>
          <p:cNvPr id="18" name="Text 16"/>
          <p:cNvSpPr/>
          <p:nvPr/>
        </p:nvSpPr>
        <p:spPr>
          <a:xfrm>
            <a:off x="8842248" y="3858768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B6472"/>
                </a:solidFill>
              </a:rPr>
              <a:t>Tratamiento, responsable/encargado, confidencialidad, seguridad y vulneraciones.</a:t>
            </a:r>
            <a:endParaRPr lang="en-US" sz="660" dirty="0"/>
          </a:p>
        </p:txBody>
      </p:sp>
      <p:sp>
        <p:nvSpPr>
          <p:cNvPr id="19" name="Shape 17"/>
          <p:cNvSpPr/>
          <p:nvPr/>
        </p:nvSpPr>
        <p:spPr>
          <a:xfrm>
            <a:off x="777240" y="4572000"/>
            <a:ext cx="10241280" cy="603504"/>
          </a:xfrm>
          <a:prstGeom prst="roundRect">
            <a:avLst>
              <a:gd name="adj" fmla="val 6061"/>
            </a:avLst>
          </a:prstGeom>
          <a:solidFill>
            <a:srgbClr val="F3F7FB"/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681728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62033"/>
                </a:solidFill>
              </a:rPr>
              <a:t>Ley Federal de Protección a la Propiedad Industrial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166360" y="468172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563EB"/>
                </a:solidFill>
              </a:rPr>
              <a:t>https://www.diputados.gob.mx/LeyesBiblio/pdf/LFPPI.pdf</a:t>
            </a:r>
            <a:endParaRPr lang="en-US" sz="640" dirty="0"/>
          </a:p>
        </p:txBody>
      </p:sp>
      <p:sp>
        <p:nvSpPr>
          <p:cNvPr id="22" name="Text 20"/>
          <p:cNvSpPr/>
          <p:nvPr/>
        </p:nvSpPr>
        <p:spPr>
          <a:xfrm>
            <a:off x="8842248" y="4681728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B6472"/>
                </a:solidFill>
              </a:rPr>
              <a:t>Secretos industriales, confidencialidad, acceso restringido y medidas de protección.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1097280" y="5715000"/>
            <a:ext cx="97840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D6DEE8">
                <a:alpha val="95000"/>
              </a:srgbClr>
            </a:solidFill>
            <a:prstDash val="solid"/>
          </a:ln>
          <a:effectLst>
            <a:outerShdw sx="100000" sy="100000" kx="0" ky="0" algn="bl" rotWithShape="0" blurRad="17780" dist="12700" dir="2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298448" y="5879592"/>
            <a:ext cx="9381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Recomendación: convertir este apéndice en un Legal Brief interno y anexar la matriz de IP una vez recibida la documentación de DASIC.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Atlas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trabaja Atlas Tech</dc:title>
  <dc:subject>Atlas Tech Operating Model and Legal/Compliance Readiness</dc:subject>
  <dc:creator>Atlas Tech</dc:creator>
  <cp:lastModifiedBy>Atlas Tech</cp:lastModifiedBy>
  <cp:revision>1</cp:revision>
  <dcterms:created xsi:type="dcterms:W3CDTF">2026-08-10T06:56:14Z</dcterms:created>
  <dcterms:modified xsi:type="dcterms:W3CDTF">2026-08-10T06:56:14Z</dcterms:modified>
</cp:coreProperties>
</file>