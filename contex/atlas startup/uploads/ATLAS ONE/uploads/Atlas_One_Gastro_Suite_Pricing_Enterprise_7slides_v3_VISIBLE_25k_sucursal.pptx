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3504" y="10058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7F1EA"/>
                </a:solidFill>
              </a:rPr>
              <a:t>Atlas One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7F1EA"/>
                </a:solidFill>
              </a:rPr>
              <a:t>Gastro Suite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40080" y="2578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FAF9F"/>
                </a:solidFill>
              </a:rPr>
              <a:t>Beneficios, features clave y pricing para operación gastronómica inteligente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7B86A">
              <a:alpha val="12000"/>
            </a:srgbClr>
          </a:solidFill>
          <a:ln w="12700">
            <a:solidFill>
              <a:srgbClr val="E7B86A">
                <a:alpha val="7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282696"/>
            <a:ext cx="923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1EA"/>
                </a:solidFill>
              </a:rPr>
              <a:t>Restaurantes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1920240" y="320040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29968" y="3282696"/>
            <a:ext cx="4663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1EA"/>
                </a:solidFill>
              </a:rPr>
              <a:t>Bares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2743200" y="3200400"/>
            <a:ext cx="987552" cy="329184"/>
          </a:xfrm>
          <a:prstGeom prst="roundRect">
            <a:avLst>
              <a:gd name="adj" fmla="val 22222"/>
            </a:avLst>
          </a:prstGeom>
          <a:solidFill>
            <a:srgbClr val="C97A35">
              <a:alpha val="12000"/>
            </a:srgbClr>
          </a:solidFill>
          <a:ln w="12700">
            <a:solidFill>
              <a:srgbClr val="C97A35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2928" y="3282696"/>
            <a:ext cx="7680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1EA"/>
                </a:solidFill>
              </a:rPr>
              <a:t>Cafeterías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3886200" y="320040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5CD18A">
              <a:alpha val="12000"/>
            </a:srgbClr>
          </a:solidFill>
          <a:ln w="12700">
            <a:solidFill>
              <a:srgbClr val="5CD18A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95928" y="3282696"/>
            <a:ext cx="1106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1EA"/>
                </a:solidFill>
              </a:rPr>
              <a:t>+100 sucursales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cinematic_photograph_of_a_busy_modern_cafe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Control operativo en una sola plataforma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Conecta venta, cocina, barra, inventario y dirección sin fragmentar la operación.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2167128"/>
            <a:ext cx="45720" cy="1106424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2951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Vender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04672" y="2624328"/>
            <a:ext cx="22219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POS rápido, métodos de pago, tickets, cuentas abiertas y cortes de caja.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37560" y="21488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C97A35">
                <a:alpha val="3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55848" y="2167128"/>
            <a:ext cx="45720" cy="1106424"/>
          </a:xfrm>
          <a:prstGeom prst="rect">
            <a:avLst/>
          </a:prstGeom>
          <a:solidFill>
            <a:srgbClr val="C97A35"/>
          </a:solidFill>
          <a:ln w="12700">
            <a:solidFill>
              <a:srgbClr val="C97A3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2152" y="22951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Operar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3502152" y="2624328"/>
            <a:ext cx="22219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Mesas, comandas, cocina, barra, turnos y usuarios por rol.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35040" y="21488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7C4DFF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53328" y="2167128"/>
            <a:ext cx="45720" cy="110642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9632" y="22951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Controlar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199632" y="2624328"/>
            <a:ext cx="22219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Inventario, recetas, merma, insumos, caja y reportes.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32520" y="21488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5CD18A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50808" y="2167128"/>
            <a:ext cx="45720" cy="1106424"/>
          </a:xfrm>
          <a:prstGeom prst="rect">
            <a:avLst/>
          </a:prstGeom>
          <a:solidFill>
            <a:srgbClr val="5CD18A"/>
          </a:solidFill>
          <a:ln w="12700">
            <a:solidFill>
              <a:srgbClr val="5CD18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97112" y="229514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Escalar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8897112" y="2624328"/>
            <a:ext cx="22219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Multi-sucursal, dashboards ejecutivos y configuración por concepto.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58368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A151A">
              <a:alpha val="95000"/>
            </a:srgbClr>
          </a:solidFill>
          <a:ln w="12700">
            <a:solidFill>
              <a:srgbClr val="E7B86A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1422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B86A"/>
                </a:solidFill>
              </a:rPr>
              <a:t>1 plataforma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822960" y="463600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7F1EA"/>
                </a:solidFill>
              </a:rPr>
              <a:t>para restaurante, bar y café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2926080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A151A">
              <a:alpha val="95000"/>
            </a:srgbClr>
          </a:solidFill>
          <a:ln w="12700">
            <a:solidFill>
              <a:srgbClr val="E7B86A">
                <a:alpha val="5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90672" y="41422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B86A"/>
                </a:solidFill>
              </a:rPr>
              <a:t>100+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3090672" y="463600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7F1EA"/>
                </a:solidFill>
              </a:rPr>
              <a:t>sucursales preparadas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193792" y="39776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A151A">
              <a:alpha val="95000"/>
            </a:srgbClr>
          </a:solidFill>
          <a:ln w="12700">
            <a:solidFill>
              <a:srgbClr val="E7B86A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58384" y="41422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B86A"/>
                </a:solidFill>
              </a:rPr>
              <a:t>24/7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5358384" y="463600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7F1EA"/>
                </a:solidFill>
              </a:rPr>
              <a:t>respaldo en nube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cinematic_interior_bar_scene_upscale_lounge_atm_batch_2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Features clave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Lo esencial para operar con velocidad y medir con claridad.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2075688"/>
            <a:ext cx="45720" cy="713232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2037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POS rápido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804672" y="2532888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Caja, tickets y cobro ágil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93008" y="20574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C97A35">
                <a:alpha val="3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2075688"/>
            <a:ext cx="45720" cy="713232"/>
          </a:xfrm>
          <a:prstGeom prst="rect">
            <a:avLst/>
          </a:prstGeom>
          <a:solidFill>
            <a:srgbClr val="C97A35"/>
          </a:solidFill>
          <a:ln w="12700">
            <a:solidFill>
              <a:srgbClr val="C97A3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22037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Mesas / barra / mostrador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3657600" y="2532888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Experiencia según el concepto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345936" y="2057400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7C4DFF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64224" y="2075688"/>
            <a:ext cx="45720" cy="7132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22037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Comandas + KDS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6510528" y="2532888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Sala, cocina y barra conectadas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3008376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026664"/>
            <a:ext cx="45720" cy="713232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315468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Recetas e insumos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804672" y="3483864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Costo, margen y merma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93008" y="3008376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C97A35">
                <a:alpha val="3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11296" y="3026664"/>
            <a:ext cx="45720" cy="713232"/>
          </a:xfrm>
          <a:prstGeom prst="rect">
            <a:avLst/>
          </a:prstGeom>
          <a:solidFill>
            <a:srgbClr val="C97A35"/>
          </a:solidFill>
          <a:ln w="12700">
            <a:solidFill>
              <a:srgbClr val="C97A35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0" y="315468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Inventario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3657600" y="3483864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Stock, movimientos y alertas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45936" y="3008376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7C4DFF">
                <a:alpha val="3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64224" y="3026664"/>
            <a:ext cx="45720" cy="7132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0528" y="315468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Caja y cortes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6510528" y="3483864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Turnos, diferencias y métodos de pago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0080" y="3959352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" y="3977640"/>
            <a:ext cx="45720" cy="713232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" y="410565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Reportes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804672" y="4434840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KPIs para dueño y operación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493008" y="3959352"/>
            <a:ext cx="2697480" cy="749808"/>
          </a:xfrm>
          <a:prstGeom prst="roundRect">
            <a:avLst>
              <a:gd name="adj" fmla="val 9756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C97A35">
                <a:alpha val="35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11296" y="3977640"/>
            <a:ext cx="45720" cy="713232"/>
          </a:xfrm>
          <a:prstGeom prst="rect">
            <a:avLst/>
          </a:prstGeom>
          <a:solidFill>
            <a:srgbClr val="C97A35"/>
          </a:solidFill>
          <a:ln w="12700">
            <a:solidFill>
              <a:srgbClr val="C97A35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57600" y="410565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Multi-sucursal</a:t>
            </a:r>
            <a:endParaRPr lang="en-US" sz="1220" dirty="0"/>
          </a:p>
        </p:txBody>
      </p:sp>
      <p:sp>
        <p:nvSpPr>
          <p:cNvPr id="39" name="Text 36"/>
          <p:cNvSpPr/>
          <p:nvPr/>
        </p:nvSpPr>
        <p:spPr>
          <a:xfrm>
            <a:off x="3657600" y="4434840"/>
            <a:ext cx="240487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Comparativo por unidad y concepto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cinematic_interior_café_scene_in_warm_neu_batch_3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Pricing comercial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Planes que crecen con el tamaño y madurez de la operación.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8745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201A1B">
              <a:alpha val="96000"/>
            </a:srgbClr>
          </a:solidFill>
          <a:ln w="12700">
            <a:solidFill>
              <a:srgbClr val="C97A35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20939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Gastro Start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" y="24414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97A35"/>
                </a:solidFill>
              </a:rPr>
              <a:t>Desde $12/día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4088" y="289864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FAF9F"/>
                </a:solidFill>
              </a:rPr>
              <a:t>Negocios sencillos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704088" y="3410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POS básico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704088" y="372160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Caja y tickets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704088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Reportes básicos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704088" y="43434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Nube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364992" y="18745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201A1B">
              <a:alpha val="96000"/>
            </a:srgbClr>
          </a:solidFill>
          <a:ln w="12700">
            <a:solidFill>
              <a:srgbClr val="C97A35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0939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Gastro Business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66160" y="24414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97A35"/>
                </a:solidFill>
              </a:rPr>
              <a:t>Desde $799/mes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566160" y="289864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FAF9F"/>
                </a:solidFill>
              </a:rPr>
              <a:t>Operación diaria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3566160" y="3410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POS completo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3566160" y="372160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Inventario básico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3566160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Usuarios operativos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3566160" y="43434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Cortes de caja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6227064" y="18745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2C2219">
              <a:alpha val="96000"/>
            </a:srgbClr>
          </a:solidFill>
          <a:ln w="12700">
            <a:solidFill>
              <a:srgbClr val="E7B86A">
                <a:alpha val="8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44968" y="2020824"/>
            <a:ext cx="969264" cy="329184"/>
          </a:xfrm>
          <a:prstGeom prst="roundRect">
            <a:avLst>
              <a:gd name="adj" fmla="val 22222"/>
            </a:avLst>
          </a:prstGeom>
          <a:solidFill>
            <a:srgbClr val="E7B86A">
              <a:alpha val="12000"/>
            </a:srgbClr>
          </a:solidFill>
          <a:ln w="12700">
            <a:solidFill>
              <a:srgbClr val="E7B86A">
                <a:alpha val="7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54696" y="210312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7F1EA"/>
                </a:solidFill>
              </a:rPr>
              <a:t>RECOMENDADO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6428232" y="209397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Gastro Pro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28232" y="244144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B86A"/>
                </a:solidFill>
              </a:rPr>
              <a:t>Desde $1,799/mes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428232" y="289864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FAF9F"/>
                </a:solidFill>
              </a:rPr>
              <a:t>Restaurante/bar/café avanzado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6428232" y="3410712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Comandas y mesas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428232" y="3721608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Recetas e insumos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6428232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Inventario y merma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6428232" y="4343400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Dashboard dueño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9089136" y="18745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201A1B">
              <a:alpha val="96000"/>
            </a:srgbClr>
          </a:solidFill>
          <a:ln w="12700">
            <a:solidFill>
              <a:srgbClr val="C97A35">
                <a:alpha val="4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90304" y="209397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Enterprise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290304" y="2441448"/>
            <a:ext cx="2203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97A35"/>
                </a:solidFill>
              </a:rPr>
              <a:t>Personalizado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9290304" y="2898648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FAF9F"/>
                </a:solidFill>
              </a:rPr>
              <a:t>Grupos restauranteros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9290304" y="341071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Multi-sucursal</a:t>
            </a:r>
            <a:endParaRPr lang="en-US" sz="820" dirty="0"/>
          </a:p>
        </p:txBody>
      </p:sp>
      <p:sp>
        <p:nvSpPr>
          <p:cNvPr id="39" name="Text 36"/>
          <p:cNvSpPr/>
          <p:nvPr/>
        </p:nvSpPr>
        <p:spPr>
          <a:xfrm>
            <a:off x="9290304" y="372160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Integraciones</a:t>
            </a:r>
            <a:endParaRPr lang="en-US" sz="820" dirty="0"/>
          </a:p>
        </p:txBody>
      </p:sp>
      <p:sp>
        <p:nvSpPr>
          <p:cNvPr id="40" name="Text 37"/>
          <p:cNvSpPr/>
          <p:nvPr/>
        </p:nvSpPr>
        <p:spPr>
          <a:xfrm>
            <a:off x="9290304" y="4032504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Roles corporativos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9290304" y="434340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7F1EA"/>
                </a:solidFill>
              </a:rPr>
              <a:t>✓ Soporte ejecutivo</a:t>
            </a:r>
            <a:endParaRPr lang="en-US" sz="820" dirty="0"/>
          </a:p>
        </p:txBody>
      </p:sp>
      <p:sp>
        <p:nvSpPr>
          <p:cNvPr id="42" name="Text 39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Entrada recomendada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Empieza con una unidad piloto, valida en operación real y escala con datos.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212848"/>
            <a:ext cx="420624" cy="420624"/>
          </a:xfrm>
          <a:prstGeom prst="ellipse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31343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00E"/>
                </a:solidFill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435608" y="22311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Configurar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35608" y="2523744"/>
            <a:ext cx="402336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AF9F"/>
                </a:solidFill>
              </a:rPr>
              <a:t>Sucursal, cajas, usuarios y módulos según operación.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868680" y="3246120"/>
            <a:ext cx="420624" cy="420624"/>
          </a:xfrm>
          <a:prstGeom prst="ellipse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3467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00E"/>
                </a:solidFill>
              </a:rPr>
              <a:t>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35608" y="3264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Capacitar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35608" y="3557016"/>
            <a:ext cx="402336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AF9F"/>
                </a:solidFill>
              </a:rPr>
              <a:t>Equipo operativo: caja, sala, cocina, barra y gerencia.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868680" y="4279392"/>
            <a:ext cx="420624" cy="420624"/>
          </a:xfrm>
          <a:prstGeom prst="ellipse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37997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00E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435608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Medir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35608" y="4590288"/>
            <a:ext cx="402336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AF9F"/>
                </a:solidFill>
              </a:rPr>
              <a:t>Adopción, velocidad, caja, inventario, reportes y oportunidades.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5989320" y="2788920"/>
            <a:ext cx="420624" cy="420624"/>
          </a:xfrm>
          <a:prstGeom prst="ellipse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288950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00E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56248" y="2807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Escalar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6248" y="3099816"/>
            <a:ext cx="402336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AF9F"/>
                </a:solidFill>
              </a:rPr>
              <a:t>Rollout por concepto, región o prioridad operativa.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6016752" y="4069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86A"/>
                </a:solidFill>
              </a:rPr>
              <a:t>Piloto → medición → escalamiento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cinematic_interior_bar_scene_upscale_lounge_atm_batch_2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Cotización Enterprise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Implementación custom para grupo multi-concepto con más de 100 sucursales.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192024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160F15">
              <a:alpha val="97000"/>
            </a:srgbClr>
          </a:solidFill>
          <a:ln w="12700">
            <a:solidFill>
              <a:srgbClr val="E7B86A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1EA"/>
                </a:solidFill>
              </a:rPr>
              <a:t>Atlas One Gastro Enterprise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4160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FAF9F"/>
                </a:solidFill>
              </a:rPr>
              <a:t>Una arquitectura para operar cafeterías, restaurantes y bares bajo una misma plataforma, con configuración por concepto, roles corporativos y reportes consolidados.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05840" y="3977640"/>
            <a:ext cx="4160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B86A"/>
                </a:solidFill>
              </a:rPr>
              <a:t>La complejidad de cada sucursal se considera en la licencia mensual Enterprise.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89320" y="18745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07608" y="1892808"/>
            <a:ext cx="45720" cy="923544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020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Multi-concepto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6153912" y="2350008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Café, restaurante y bar configurados por operación.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778240" y="187452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5CD18A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96528" y="1892808"/>
            <a:ext cx="45720" cy="923544"/>
          </a:xfrm>
          <a:prstGeom prst="rect">
            <a:avLst/>
          </a:prstGeom>
          <a:solidFill>
            <a:srgbClr val="5CD18A"/>
          </a:solidFill>
          <a:ln w="12700">
            <a:solidFill>
              <a:srgbClr val="5CD18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42832" y="2020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Multi-sucursal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8942832" y="2350008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Visibilidad por unidad, marca, región y grupo.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89320" y="3072384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7C4DFF">
                <a:alpha val="3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07608" y="3090672"/>
            <a:ext cx="45720" cy="92354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32186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Roles corporativos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6153912" y="3547872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Dirección, gerencia, caja, cocina y barra.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778240" y="3072384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C97A35">
                <a:alpha val="35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96528" y="3090672"/>
            <a:ext cx="45720" cy="923544"/>
          </a:xfrm>
          <a:prstGeom prst="rect">
            <a:avLst/>
          </a:prstGeom>
          <a:solidFill>
            <a:srgbClr val="C97A35"/>
          </a:solidFill>
          <a:ln w="12700">
            <a:solidFill>
              <a:srgbClr val="C97A35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42832" y="32186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Reportes consolidados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8942832" y="3547872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Dashboards ejecutivos para comparar unidades.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989320" y="4279392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E7B86A">
                <a:alpha val="3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07608" y="4297680"/>
            <a:ext cx="45720" cy="923544"/>
          </a:xfrm>
          <a:prstGeom prst="rect">
            <a:avLst/>
          </a:prstGeom>
          <a:solidFill>
            <a:srgbClr val="E7B86A"/>
          </a:solidFill>
          <a:ln w="12700">
            <a:solidFill>
              <a:srgbClr val="E7B86A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53912" y="44256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Módulos clave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6153912" y="4754880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POS, caja, comandas, recetas, inventario y merma.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778240" y="4279392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221A22">
              <a:alpha val="92000"/>
            </a:srgbClr>
          </a:solidFill>
          <a:ln w="12700">
            <a:solidFill>
              <a:srgbClr val="5CD18A">
                <a:alpha val="35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96528" y="4297680"/>
            <a:ext cx="45720" cy="923544"/>
          </a:xfrm>
          <a:prstGeom prst="rect">
            <a:avLst/>
          </a:prstGeom>
          <a:solidFill>
            <a:srgbClr val="5CD18A"/>
          </a:solidFill>
          <a:ln w="12700">
            <a:solidFill>
              <a:srgbClr val="5CD18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42832" y="442569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7F1EA"/>
                </a:solidFill>
              </a:rPr>
              <a:t>Acompañamiento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8942832" y="4754880"/>
            <a:ext cx="226771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FAF9F"/>
                </a:solidFill>
              </a:rPr>
              <a:t>Implementación por fases, capacitación y soporte.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rk_a_wide_angle_cinematic_interior_restaurant_scene_batch_1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70A">
              <a:alpha val="80000"/>
            </a:srgbClr>
          </a:solidFill>
          <a:ln w="12700">
            <a:solidFill>
              <a:srgbClr val="09070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7B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ONE  GASTRO SUITE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94360" y="713232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1EA"/>
                </a:solidFill>
              </a:rPr>
              <a:t>Propuesta económica Enterprise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2648" y="144475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FAF9F"/>
                </a:solidFill>
              </a:rPr>
              <a:t>Modelo para cadena restaurantera multi-concepto de +100 sucursales.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178308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21170F"/>
          </a:solidFill>
          <a:ln w="12700">
            <a:solidFill>
              <a:srgbClr val="E7B86A">
                <a:alpha val="92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7F1EA"/>
                </a:solidFill>
              </a:rPr>
              <a:t>Licencia Enterprise estimada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450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7B86A"/>
                </a:solidFill>
              </a:rPr>
              <a:t>$25,000 MXN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87552" y="2971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1EA"/>
                </a:solidFill>
              </a:rPr>
              <a:t>+ IVA / sucursal / mes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336499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BFAF9F"/>
                </a:solidFill>
              </a:rPr>
              <a:t>Considera la complejidad operativa de cada unidad: cajas, usuarios, mesas, barra, cocina, inventario, recetas, reportes y soporte.</a:t>
            </a:r>
            <a:endParaRPr lang="en-US" sz="810" dirty="0"/>
          </a:p>
        </p:txBody>
      </p:sp>
      <p:sp>
        <p:nvSpPr>
          <p:cNvPr id="13" name="Shape 10"/>
          <p:cNvSpPr/>
          <p:nvPr/>
        </p:nvSpPr>
        <p:spPr>
          <a:xfrm>
            <a:off x="5806440" y="178308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A151A">
              <a:alpha val="95000"/>
            </a:srgbClr>
          </a:solidFill>
          <a:ln w="12700">
            <a:solidFill>
              <a:srgbClr val="E7B86A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71032" y="19476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B86A"/>
                </a:solidFill>
              </a:rPr>
              <a:t>100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971032" y="2441448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7F1EA"/>
                </a:solidFill>
              </a:rPr>
              <a:t>sucursales base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8092440" y="1783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A151A">
              <a:alpha val="95000"/>
            </a:srgbClr>
          </a:solidFill>
          <a:ln w="12700">
            <a:solidFill>
              <a:srgbClr val="E7B86A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7032" y="194767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B86A"/>
                </a:solidFill>
              </a:rPr>
              <a:t>$2,500,000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257032" y="2441448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7F1EA"/>
                </a:solidFill>
              </a:rPr>
              <a:t>MXN + IVA mensuales aprox.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5806440" y="3063240"/>
            <a:ext cx="5257800" cy="2322576"/>
          </a:xfrm>
          <a:prstGeom prst="roundRect">
            <a:avLst>
              <a:gd name="adj" fmla="val 3150"/>
            </a:avLst>
          </a:prstGeom>
          <a:solidFill>
            <a:srgbClr val="181318">
              <a:alpha val="96000"/>
            </a:srgbClr>
          </a:solidFill>
          <a:ln w="12700">
            <a:solidFill>
              <a:srgbClr val="C97A35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1EA"/>
                </a:solidFill>
              </a:rPr>
              <a:t>Implementación por fases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44768" y="3840480"/>
            <a:ext cx="4434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FAF9F"/>
                </a:solidFill>
              </a:rPr>
              <a:t>1. Diagnóstico y arquitectura operativa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FAF9F"/>
                </a:solidFill>
              </a:rPr>
              <a:t>2. Piloto en 3 a 5 sucursales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FAF9F"/>
                </a:solidFill>
              </a:rPr>
              <a:t>3. Rollout progresivo por concepto, región o prioridad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FAF9F"/>
                </a:solidFill>
              </a:rPr>
              <a:t>4. Reportes consolidados, soporte e integraciones Enterprise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58368" y="4041648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151014">
              <a:alpha val="96000"/>
            </a:srgbClr>
          </a:solidFill>
          <a:ln w="12700">
            <a:solidFill>
              <a:srgbClr val="5CD18A">
                <a:alpha val="6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D18A"/>
                </a:solidFill>
              </a:rPr>
              <a:t>Nota de alcance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0120" y="464515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AF9F"/>
                </a:solidFill>
              </a:rPr>
              <a:t>El monto final puede ajustarse por cantidad de cajas, módulos activos, usuarios, integraciones, SLA, soporte, migración de datos y nivel de personalización.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694944" y="5815584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86A"/>
                </a:solidFill>
              </a:rPr>
              <a:t>La expansión se recomienda mediante piloto controlado antes del despliegue total.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84280" y="641908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AF9F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One Gastro Suite Pricing Enterprise v3</dc:title>
  <dc:subject>Atlas One Gastro Suite Pricing Enterprise</dc:subject>
  <dc:creator>Atlas Tech</dc:creator>
  <cp:lastModifiedBy>Atlas Tech</cp:lastModifiedBy>
  <cp:revision>1</cp:revision>
  <dcterms:created xsi:type="dcterms:W3CDTF">2026-06-30T04:39:26Z</dcterms:created>
  <dcterms:modified xsi:type="dcterms:W3CDTF">2026-06-30T04:39:26Z</dcterms:modified>
</cp:coreProperties>
</file>