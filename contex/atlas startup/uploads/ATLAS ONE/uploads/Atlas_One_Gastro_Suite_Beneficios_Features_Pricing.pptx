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wide_angle_cinematic_interior_restaurant_scene_batch_1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441"/>
                </a:solidFill>
              </a:rPr>
              <a:t>Beneficios · Features · Pricing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195560" y="310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7F3EA"/>
                </a:solidFill>
              </a:rPr>
              <a:t>ATLAS ONE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66928" y="658368"/>
            <a:ext cx="11018520" cy="0"/>
          </a:xfrm>
          <a:prstGeom prst="line">
            <a:avLst/>
          </a:prstGeom>
          <a:noFill/>
          <a:ln w="10160">
            <a:solidFill>
              <a:srgbClr val="34394A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14300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7F3EA"/>
                </a:solidFill>
              </a:rPr>
              <a:t>Atlas One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7F3EA"/>
                </a:solidFill>
              </a:rPr>
              <a:t>Gastro Suite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94944" y="2606040"/>
            <a:ext cx="53949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8B4AA"/>
                </a:solidFill>
              </a:rPr>
              <a:t>La plataforma operativa para restaurantes, bares y cafeterías que quieren vender mejor, controlar más y escalar con datos.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13232" y="3749040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F97316">
              <a:alpha val="15000"/>
            </a:srgbClr>
          </a:solidFill>
          <a:ln w="889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817620"/>
            <a:ext cx="9692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3EA"/>
                </a:solidFill>
              </a:rPr>
              <a:t>RESTAURANT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029968" y="3749040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8B5CF6">
              <a:alpha val="15000"/>
            </a:srgbClr>
          </a:solidFill>
          <a:ln w="8890">
            <a:solidFill>
              <a:srgbClr val="8B5CF6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39696" y="3817620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3EA"/>
                </a:solidFill>
              </a:rPr>
              <a:t>BAR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862072" y="3749040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D9A441">
              <a:alpha val="15000"/>
            </a:srgbClr>
          </a:solidFill>
          <a:ln w="8890">
            <a:solidFill>
              <a:srgbClr val="D9A441">
                <a:alpha val="8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71800" y="3817620"/>
            <a:ext cx="557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3EA"/>
                </a:solidFill>
              </a:rPr>
              <a:t>CAFÉ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767328" y="374904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22D3EE">
              <a:alpha val="15000"/>
            </a:srgbClr>
          </a:solidFill>
          <a:ln w="8890">
            <a:solidFill>
              <a:srgbClr val="22D3EE">
                <a:alpha val="8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77056" y="3817620"/>
            <a:ext cx="13807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3EA"/>
                </a:solidFill>
              </a:rPr>
              <a:t>MULTI-SUCURSAL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13232" y="4690872"/>
            <a:ext cx="5577840" cy="877824"/>
          </a:xfrm>
          <a:prstGeom prst="roundRect">
            <a:avLst>
              <a:gd name="adj" fmla="val 12500"/>
            </a:avLst>
          </a:prstGeom>
          <a:solidFill>
            <a:srgbClr val="151927">
              <a:alpha val="92000"/>
            </a:srgbClr>
          </a:solidFill>
          <a:ln w="12700">
            <a:solidFill>
              <a:srgbClr val="D9A441">
                <a:alpha val="6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4892040"/>
            <a:ext cx="50292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3EA"/>
                </a:solidFill>
              </a:rPr>
              <a:t>Del pedido al inventario. De la caja al dashboard. De la sucursal al grupo completo.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201400" y="63550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wide_cinematic_photograph_of_a_busy_modern_cafe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441"/>
                </a:solidFill>
              </a:rPr>
              <a:t>Atlas One Gastro Suite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195560" y="310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7F3EA"/>
                </a:solidFill>
              </a:rPr>
              <a:t>ATLAS ONE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66928" y="658368"/>
            <a:ext cx="11018520" cy="0"/>
          </a:xfrm>
          <a:prstGeom prst="line">
            <a:avLst/>
          </a:prstGeom>
          <a:noFill/>
          <a:ln w="10160">
            <a:solidFill>
              <a:srgbClr val="34394A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93268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3EA"/>
                </a:solidFill>
              </a:rPr>
              <a:t>Beneficios para dirección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94360" y="1764792"/>
            <a:ext cx="6217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B4AA"/>
                </a:solidFill>
              </a:rPr>
              <a:t>Atlas One Gastro Suite está diseñado para dar visibilidad ejecutiva y control operativo sin frenar la velocidad del negocio.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274320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151927">
              <a:alpha val="95000"/>
            </a:srgbClr>
          </a:solidFill>
          <a:ln w="8890">
            <a:solidFill>
              <a:srgbClr val="D9A441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2889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</a:rPr>
              <a:t>Control total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" y="31638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B8B4AA"/>
                </a:solidFill>
              </a:rPr>
              <a:t>Ventas, caja, comandas, turnos e inventario en una sola plataforma.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3813048" y="274320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151927">
              <a:alpha val="95000"/>
            </a:srgbClr>
          </a:solidFill>
          <a:ln w="8890">
            <a:solidFill>
              <a:srgbClr val="D9A441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95928" y="2889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</a:rPr>
              <a:t>Menos fugas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995928" y="31638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B8B4AA"/>
                </a:solidFill>
              </a:rPr>
              <a:t>Trazabilidad en caja, mermas, ajustes, cancelaciones y movimientos.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658368" y="39776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151927">
              <a:alpha val="95000"/>
            </a:srgbClr>
          </a:solidFill>
          <a:ln w="8890">
            <a:solidFill>
              <a:srgbClr val="D9A441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41239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</a:rPr>
              <a:t>Mejores decisiones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1248" y="43982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B8B4AA"/>
                </a:solidFill>
              </a:rPr>
              <a:t>Reportes por sucursal, producto, horario, mesero, barra o categoría.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3813048" y="39776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151927">
              <a:alpha val="95000"/>
            </a:srgbClr>
          </a:solidFill>
          <a:ln w="8890">
            <a:solidFill>
              <a:srgbClr val="D9A441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95928" y="41239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</a:rPr>
              <a:t>Escalamiento ordenado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995928" y="43982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B8B4AA"/>
                </a:solidFill>
              </a:rPr>
              <a:t>Una operación estandarizada para crecer a más unidades sin perder control.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7680960" y="2697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51927">
              <a:alpha val="90000"/>
            </a:srgbClr>
          </a:solidFill>
          <a:ln w="10160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0" y="280720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</a:rPr>
              <a:t>1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808976" y="3154680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plataforma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9281160" y="2697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51927">
              <a:alpha val="90000"/>
            </a:srgbClr>
          </a:solidFill>
          <a:ln w="10160">
            <a:solidFill>
              <a:srgbClr val="F97316">
                <a:alpha val="6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18320" y="280720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409176" y="3154680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experiencias</a:t>
            </a:r>
            <a:endParaRPr lang="en-US" sz="870" dirty="0"/>
          </a:p>
        </p:txBody>
      </p:sp>
      <p:sp>
        <p:nvSpPr>
          <p:cNvPr id="26" name="Shape 23"/>
          <p:cNvSpPr/>
          <p:nvPr/>
        </p:nvSpPr>
        <p:spPr>
          <a:xfrm>
            <a:off x="10881360" y="2697480"/>
            <a:ext cx="1005840" cy="822960"/>
          </a:xfrm>
          <a:prstGeom prst="roundRect">
            <a:avLst>
              <a:gd name="adj" fmla="val 8889"/>
            </a:avLst>
          </a:prstGeom>
          <a:solidFill>
            <a:srgbClr val="151927">
              <a:alpha val="90000"/>
            </a:srgbClr>
          </a:solidFill>
          <a:ln w="1016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018520" y="28072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∞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1009376" y="31546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módulos activables</a:t>
            </a:r>
            <a:endParaRPr lang="en-US" sz="870" dirty="0"/>
          </a:p>
        </p:txBody>
      </p:sp>
      <p:sp>
        <p:nvSpPr>
          <p:cNvPr id="29" name="Shape 26"/>
          <p:cNvSpPr/>
          <p:nvPr/>
        </p:nvSpPr>
        <p:spPr>
          <a:xfrm>
            <a:off x="7635240" y="3886200"/>
            <a:ext cx="3657600" cy="960120"/>
          </a:xfrm>
          <a:prstGeom prst="roundRect">
            <a:avLst>
              <a:gd name="adj" fmla="val 11429"/>
            </a:avLst>
          </a:prstGeom>
          <a:solidFill>
            <a:srgbClr val="151927">
              <a:alpha val="92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09560" y="4087368"/>
            <a:ext cx="31089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3EA"/>
                </a:solidFill>
              </a:rPr>
              <a:t>No vendemos solo un POS: conectamos sala, cocina, barra, caja, inventario y reportes.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1201400" y="63550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441"/>
                </a:solidFill>
              </a:rPr>
              <a:t>Atlas One Gastro Suite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195560" y="310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7F3EA"/>
                </a:solidFill>
              </a:rPr>
              <a:t>ATLAS ONE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58368"/>
            <a:ext cx="11018520" cy="0"/>
          </a:xfrm>
          <a:prstGeom prst="line">
            <a:avLst/>
          </a:prstGeom>
          <a:noFill/>
          <a:ln w="10160">
            <a:solidFill>
              <a:srgbClr val="34394A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3EA"/>
                </a:solidFill>
              </a:rPr>
              <a:t>Features clave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764792"/>
            <a:ext cx="6217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B4AA"/>
                </a:solidFill>
              </a:rPr>
              <a:t>Una base común para operación gastronómica, configurada según el tipo de concepto.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2514600"/>
            <a:ext cx="2423160" cy="3108960"/>
          </a:xfrm>
          <a:prstGeom prst="roundRect">
            <a:avLst>
              <a:gd name="adj" fmla="val 4528"/>
            </a:avLst>
          </a:prstGeom>
          <a:solidFill>
            <a:srgbClr val="151927">
              <a:alpha val="95000"/>
            </a:srgbClr>
          </a:solidFill>
          <a:ln w="1143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7432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Venta y caja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POS táctil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78408" y="3657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Métodos de pago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4069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Cortes por turno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78408" y="4480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Propinas y cuentas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78408" y="4892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Multicaja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47288" y="2514600"/>
            <a:ext cx="2423160" cy="3108960"/>
          </a:xfrm>
          <a:prstGeom prst="roundRect">
            <a:avLst>
              <a:gd name="adj" fmla="val 4528"/>
            </a:avLst>
          </a:prstGeom>
          <a:solidFill>
            <a:srgbClr val="151927">
              <a:alpha val="95000"/>
            </a:srgbClr>
          </a:solidFill>
          <a:ln w="11430">
            <a:solidFill>
              <a:srgbClr val="D9A441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0168" y="27432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A441"/>
                </a:solidFill>
              </a:rPr>
              <a:t>Operación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67328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Mesas y comandas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67328" y="3657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Cocina / barra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67328" y="4069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Pedidos activos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67328" y="4480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Usuarios y roles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67328" y="4892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Sucursales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36208" y="2514600"/>
            <a:ext cx="2423160" cy="3108960"/>
          </a:xfrm>
          <a:prstGeom prst="roundRect">
            <a:avLst>
              <a:gd name="adj" fmla="val 4528"/>
            </a:avLst>
          </a:prstGeom>
          <a:solidFill>
            <a:srgbClr val="151927">
              <a:alpha val="95000"/>
            </a:srgbClr>
          </a:solidFill>
          <a:ln w="1143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27432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Control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56248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Inventario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56248" y="3657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Recetas e insumos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56248" y="4069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Merma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56248" y="4480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Compras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56248" y="4892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Auditoría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25128" y="2514600"/>
            <a:ext cx="2423160" cy="3108960"/>
          </a:xfrm>
          <a:prstGeom prst="roundRect">
            <a:avLst>
              <a:gd name="adj" fmla="val 4528"/>
            </a:avLst>
          </a:prstGeom>
          <a:solidFill>
            <a:srgbClr val="151927">
              <a:alpha val="95000"/>
            </a:srgbClr>
          </a:solidFill>
          <a:ln w="1143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08008" y="27432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Dirección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45168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Dashboards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345168" y="3657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KPIs por unidad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345168" y="4069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Reportes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45168" y="4480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Comparativos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345168" y="4892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A"/>
                </a:solidFill>
              </a:rPr>
              <a:t>• IA futura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01400" y="63550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wide_angle_cinematic_interior_restaurant_scene_batch_1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441"/>
                </a:solidFill>
              </a:rPr>
              <a:t>Atlas One Restaurant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195560" y="310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7F3EA"/>
                </a:solidFill>
              </a:rPr>
              <a:t>ATLAS ONE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66928" y="658368"/>
            <a:ext cx="11018520" cy="0"/>
          </a:xfrm>
          <a:prstGeom prst="line">
            <a:avLst/>
          </a:prstGeom>
          <a:noFill/>
          <a:ln w="10160">
            <a:solidFill>
              <a:srgbClr val="34394A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93268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3EA"/>
                </a:solidFill>
              </a:rPr>
              <a:t>Restaurant: sala, cocina y caja conectadas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94360" y="1764792"/>
            <a:ext cx="6217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B4AA"/>
                </a:solidFill>
              </a:rPr>
              <a:t>Diseñado para restaurantes con mesas, meseros, comandas, cocina y operación por turnos.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</a:rPr>
              <a:t>• Plano de mesas con estados y tiempos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2461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</a:rPr>
              <a:t>• Toma de pedido con modificadores y notas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6576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</a:rPr>
              <a:t>• Comandas para cocina con tiempos de preparación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40690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</a:rPr>
              <a:t>• Cuentas abiertas, propinas y división de cuenta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44805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</a:rPr>
              <a:t>• Reportes por mesero, turno, producto y sucursal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60920" y="25146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51927">
              <a:alpha val="90000"/>
            </a:srgbClr>
          </a:solidFill>
          <a:ln w="10160">
            <a:solidFill>
              <a:srgbClr val="F97316">
                <a:alpha val="6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0" y="26243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Mesas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88936" y="297180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ocupación y rotación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9098280" y="25146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51927">
              <a:alpha val="90000"/>
            </a:srgbClr>
          </a:solidFill>
          <a:ln w="10160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35440" y="26243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</a:rPr>
              <a:t>KDS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226296" y="297180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cocina ordenada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7360920" y="36576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51927">
              <a:alpha val="90000"/>
            </a:srgbClr>
          </a:solidFill>
          <a:ln w="1016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0" y="37673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Caja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488936" y="411480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cierre por turno</a:t>
            </a:r>
            <a:endParaRPr lang="en-US" sz="870" dirty="0"/>
          </a:p>
        </p:txBody>
      </p:sp>
      <p:sp>
        <p:nvSpPr>
          <p:cNvPr id="22" name="Shape 19"/>
          <p:cNvSpPr/>
          <p:nvPr/>
        </p:nvSpPr>
        <p:spPr>
          <a:xfrm>
            <a:off x="9098280" y="36576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51927">
              <a:alpha val="90000"/>
            </a:srgbClr>
          </a:solidFill>
          <a:ln w="1016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37673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KPIs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26296" y="411480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visión gerencial</a:t>
            </a:r>
            <a:endParaRPr lang="en-US" sz="870" dirty="0"/>
          </a:p>
        </p:txBody>
      </p:sp>
      <p:sp>
        <p:nvSpPr>
          <p:cNvPr id="25" name="Shape 22"/>
          <p:cNvSpPr/>
          <p:nvPr/>
        </p:nvSpPr>
        <p:spPr>
          <a:xfrm>
            <a:off x="7223760" y="4892040"/>
            <a:ext cx="3840480" cy="777240"/>
          </a:xfrm>
          <a:prstGeom prst="roundRect">
            <a:avLst>
              <a:gd name="adj" fmla="val 14118"/>
            </a:avLst>
          </a:prstGeom>
          <a:solidFill>
            <a:srgbClr val="151927">
              <a:alpha val="92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0" y="5093208"/>
            <a:ext cx="3291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3EA"/>
                </a:solidFill>
              </a:rPr>
              <a:t>Coordina sala, cocina y caja desde una experiencia diseñada para restaurantes en movimiento.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1201400" y="63550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cinematic_interior_bar_scene_upscale_lounge_atm_batch_2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441"/>
                </a:solidFill>
              </a:rPr>
              <a:t>Atlas One Bar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195560" y="310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7F3EA"/>
                </a:solidFill>
              </a:rPr>
              <a:t>ATLAS ONE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66928" y="658368"/>
            <a:ext cx="11018520" cy="0"/>
          </a:xfrm>
          <a:prstGeom prst="line">
            <a:avLst/>
          </a:prstGeom>
          <a:noFill/>
          <a:ln w="10160">
            <a:solidFill>
              <a:srgbClr val="34394A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93268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3EA"/>
                </a:solidFill>
              </a:rPr>
              <a:t>Bar: control nocturno, barra e inventario líquido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94360" y="1764792"/>
            <a:ext cx="6217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B4AA"/>
                </a:solidFill>
              </a:rPr>
              <a:t>Pensado para bares, cantinas, lounges y coctelerías con alta rotación, cuentas abiertas y cortes nocturnos.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</a:rPr>
              <a:t>• Vista rápida de barra y productos frecuentes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24612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</a:rPr>
              <a:t>• Cuentas abiertas por mesa, cliente o barra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6576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</a:rPr>
              <a:t>• Inventario líquido: botella, copeo, consumo y merma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406908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</a:rPr>
              <a:t>• Promociones, happy hour y ventas por bartender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448056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</a:rPr>
              <a:t>• Corte nocturno con propinas, métodos de pago y diferencias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60920" y="25146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51927">
              <a:alpha val="90000"/>
            </a:srgbClr>
          </a:solidFill>
          <a:ln w="1016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0" y="26243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Copeo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88936" y="297180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stock líquido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9098280" y="25146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51927">
              <a:alpha val="90000"/>
            </a:srgbClr>
          </a:solidFill>
          <a:ln w="1016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35440" y="26243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Barra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226296" y="297180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flujo rápido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7360920" y="36576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51927">
              <a:alpha val="90000"/>
            </a:srgbClr>
          </a:solidFill>
          <a:ln w="10160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0" y="37673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</a:rPr>
              <a:t>Cuentas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488936" y="411480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control abierto</a:t>
            </a:r>
            <a:endParaRPr lang="en-US" sz="870" dirty="0"/>
          </a:p>
        </p:txBody>
      </p:sp>
      <p:sp>
        <p:nvSpPr>
          <p:cNvPr id="22" name="Shape 19"/>
          <p:cNvSpPr/>
          <p:nvPr/>
        </p:nvSpPr>
        <p:spPr>
          <a:xfrm>
            <a:off x="9098280" y="36576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51927">
              <a:alpha val="90000"/>
            </a:srgbClr>
          </a:solidFill>
          <a:ln w="10160">
            <a:solidFill>
              <a:srgbClr val="F97316">
                <a:alpha val="6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37673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Turnos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26296" y="411480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corte nocturno</a:t>
            </a:r>
            <a:endParaRPr lang="en-US" sz="870" dirty="0"/>
          </a:p>
        </p:txBody>
      </p:sp>
      <p:sp>
        <p:nvSpPr>
          <p:cNvPr id="25" name="Shape 22"/>
          <p:cNvSpPr/>
          <p:nvPr/>
        </p:nvSpPr>
        <p:spPr>
          <a:xfrm>
            <a:off x="7223760" y="4892040"/>
            <a:ext cx="3840480" cy="777240"/>
          </a:xfrm>
          <a:prstGeom prst="roundRect">
            <a:avLst>
              <a:gd name="adj" fmla="val 14118"/>
            </a:avLst>
          </a:prstGeom>
          <a:solidFill>
            <a:srgbClr val="151927">
              <a:alpha val="9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0" y="5093208"/>
            <a:ext cx="3291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3EA"/>
                </a:solidFill>
              </a:rPr>
              <a:t>Cada bebida, cada cuenta y cada corte con mayor trazabilidad.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1201400" y="63550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wide_cinematic_interior_café_scene_in_warm_neu_batch_3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441"/>
                </a:solidFill>
              </a:rPr>
              <a:t>Atlas One Café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195560" y="310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7F3EA"/>
                </a:solidFill>
              </a:rPr>
              <a:t>ATLAS ONE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66928" y="658368"/>
            <a:ext cx="11018520" cy="0"/>
          </a:xfrm>
          <a:prstGeom prst="line">
            <a:avLst/>
          </a:prstGeom>
          <a:noFill/>
          <a:ln w="10160">
            <a:solidFill>
              <a:srgbClr val="34394A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93268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3EA"/>
                </a:solidFill>
              </a:rPr>
              <a:t>Café: mostrador rápido, recetas e insumos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94360" y="1764792"/>
            <a:ext cx="6217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B4AA"/>
                </a:solidFill>
              </a:rPr>
              <a:t>Ideal para cafeterías, barras de café, bakery y conceptos de alto flujo en mostrador.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</a:rPr>
              <a:t>• POS visual para bebidas, panadería, extras y combos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24612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</a:rPr>
              <a:t>• Pedidos para llevar con nombre del cliente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6576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</a:rPr>
              <a:t>• Cola de pedidos para barra y baristas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406908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</a:rPr>
              <a:t>• Recetas: espresso, leche, vaso, toppings e insumos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448056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</a:rPr>
              <a:t>• Merma estimada, stock crítico y cierre rápido de caja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60920" y="25146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51927">
              <a:alpha val="90000"/>
            </a:srgbClr>
          </a:solidFill>
          <a:ln w="10160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0" y="26243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</a:rPr>
              <a:t>Rápido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88936" y="297180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venta en barra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9098280" y="25146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51927">
              <a:alpha val="90000"/>
            </a:srgbClr>
          </a:solidFill>
          <a:ln w="10160">
            <a:solidFill>
              <a:srgbClr val="F97316">
                <a:alpha val="6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35440" y="26243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Recetas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226296" y="297180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costeo por bebida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7360920" y="36576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51927">
              <a:alpha val="90000"/>
            </a:srgbClr>
          </a:solidFill>
          <a:ln w="1016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0" y="37673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Cola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488936" y="411480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pedidos activos</a:t>
            </a:r>
            <a:endParaRPr lang="en-US" sz="870" dirty="0"/>
          </a:p>
        </p:txBody>
      </p:sp>
      <p:sp>
        <p:nvSpPr>
          <p:cNvPr id="22" name="Shape 19"/>
          <p:cNvSpPr/>
          <p:nvPr/>
        </p:nvSpPr>
        <p:spPr>
          <a:xfrm>
            <a:off x="9098280" y="36576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51927">
              <a:alpha val="90000"/>
            </a:srgbClr>
          </a:solidFill>
          <a:ln w="1016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37673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Merma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26296" y="411480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insumos críticos</a:t>
            </a:r>
            <a:endParaRPr lang="en-US" sz="870" dirty="0"/>
          </a:p>
        </p:txBody>
      </p:sp>
      <p:sp>
        <p:nvSpPr>
          <p:cNvPr id="25" name="Shape 22"/>
          <p:cNvSpPr/>
          <p:nvPr/>
        </p:nvSpPr>
        <p:spPr>
          <a:xfrm>
            <a:off x="7223760" y="4892040"/>
            <a:ext cx="3840480" cy="777240"/>
          </a:xfrm>
          <a:prstGeom prst="roundRect">
            <a:avLst>
              <a:gd name="adj" fmla="val 14118"/>
            </a:avLst>
          </a:prstGeom>
          <a:solidFill>
            <a:srgbClr val="151927">
              <a:alpha val="92000"/>
            </a:srgbClr>
          </a:solidFill>
          <a:ln w="12700">
            <a:solidFill>
              <a:srgbClr val="D9A441">
                <a:alpha val="6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0" y="5093208"/>
            <a:ext cx="3291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3EA"/>
                </a:solidFill>
              </a:rPr>
              <a:t>Vende rápido sin perder visibilidad sobre costos, insumos y caja.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1201400" y="63550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441"/>
                </a:solidFill>
              </a:rPr>
              <a:t>Atlas One Gastro Suite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195560" y="310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7F3EA"/>
                </a:solidFill>
              </a:rPr>
              <a:t>ATLAS ONE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58368"/>
            <a:ext cx="11018520" cy="0"/>
          </a:xfrm>
          <a:prstGeom prst="line">
            <a:avLst/>
          </a:prstGeom>
          <a:noFill/>
          <a:ln w="10160">
            <a:solidFill>
              <a:srgbClr val="34394A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3EA"/>
                </a:solidFill>
              </a:rPr>
              <a:t>Impacto operativo esperado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764792"/>
            <a:ext cx="6217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B4AA"/>
                </a:solidFill>
              </a:rPr>
              <a:t>La suite convierte la operación diaria en señales claras para dirección y gerencia.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233172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151927">
              <a:alpha val="95000"/>
            </a:srgbClr>
          </a:solidFill>
          <a:ln w="10160">
            <a:solidFill>
              <a:srgbClr val="F97316">
                <a:alpha val="4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4963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Velocidad de atención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2807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B4AA"/>
                </a:solidFill>
              </a:rPr>
              <a:t>Menos fricción en caja, barra, mesas y pedidos para llevar.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53128" y="233172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151927">
              <a:alpha val="95000"/>
            </a:srgbClr>
          </a:solidFill>
          <a:ln w="10160">
            <a:solidFill>
              <a:srgbClr val="8B5CF6">
                <a:alpha val="4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24963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Consistencia operativa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54296" y="2807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B4AA"/>
                </a:solidFill>
              </a:rPr>
              <a:t>Mismos flujos y reportes para varias unidades o conceptos.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47888" y="233172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151927">
              <a:alpha val="95000"/>
            </a:srgbClr>
          </a:solidFill>
          <a:ln w="10160">
            <a:solidFill>
              <a:srgbClr val="D9A441">
                <a:alpha val="4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9056" y="24963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</a:rPr>
              <a:t>Control de costo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49056" y="2807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B4AA"/>
                </a:solidFill>
              </a:rPr>
              <a:t>Recetas, insumos, stock, mermas y compras mejor conectadas.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" y="379476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151927">
              <a:alpha val="95000"/>
            </a:srgbClr>
          </a:solidFill>
          <a:ln w="10160">
            <a:solidFill>
              <a:srgbClr val="22D3EE">
                <a:alpha val="4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9593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Visibilidad ejecutiva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" y="4270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B4AA"/>
                </a:solidFill>
              </a:rPr>
              <a:t>KPIs consolidados para comparar sucursales y tomar decisiones.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53128" y="379476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151927">
              <a:alpha val="95000"/>
            </a:srgbClr>
          </a:solidFill>
          <a:ln w="10160">
            <a:solidFill>
              <a:srgbClr val="34D399">
                <a:alpha val="4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39593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Equipo ordenado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54296" y="4270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B4AA"/>
                </a:solidFill>
              </a:rPr>
              <a:t>Roles y permisos para gerentes, cajeros, meseros, baristas y bartenders.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47888" y="379476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151927">
              <a:alpha val="95000"/>
            </a:srgbClr>
          </a:solidFill>
          <a:ln w="10160">
            <a:solidFill>
              <a:srgbClr val="F472B6">
                <a:alpha val="4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9056" y="39593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</a:rPr>
              <a:t>Base para 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49056" y="4270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B4AA"/>
                </a:solidFill>
              </a:rPr>
              <a:t>Datos preparados para asistentes inteligentes y recomendaciones futuras.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01400" y="63550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441"/>
                </a:solidFill>
              </a:rPr>
              <a:t>Atlas One Gastro Suite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195560" y="310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7F3EA"/>
                </a:solidFill>
              </a:rPr>
              <a:t>ATLAS ONE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58368"/>
            <a:ext cx="11018520" cy="0"/>
          </a:xfrm>
          <a:prstGeom prst="line">
            <a:avLst/>
          </a:prstGeom>
          <a:noFill/>
          <a:ln w="10160">
            <a:solidFill>
              <a:srgbClr val="34394A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3EA"/>
                </a:solidFill>
              </a:rPr>
              <a:t>Pricing de referencia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764792"/>
            <a:ext cx="6217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B4AA"/>
                </a:solidFill>
              </a:rPr>
              <a:t>Planes diseñados para empezar simple y crecer por módulos, cajas, usuarios y sucursales.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2606040" cy="3429000"/>
          </a:xfrm>
          <a:prstGeom prst="roundRect">
            <a:avLst>
              <a:gd name="adj" fmla="val 4912"/>
            </a:avLst>
          </a:prstGeom>
          <a:solidFill>
            <a:srgbClr val="151927">
              <a:alpha val="95000"/>
            </a:srgbClr>
          </a:solidFill>
          <a:ln w="11430">
            <a:solidFill>
              <a:srgbClr val="D9A441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761488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441"/>
                </a:solidFill>
              </a:rPr>
              <a:t>POS Esencial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" y="31272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3EA"/>
                </a:solidFill>
              </a:rPr>
              <a:t>Desde $12/día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" y="3456432"/>
            <a:ext cx="2194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Negocios sencillos que necesitan cobrar y controlar caja.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POS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4297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Caja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" y="4709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Productos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7240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Clientes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5532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Reportes básicos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10712" y="2514600"/>
            <a:ext cx="2606040" cy="3429000"/>
          </a:xfrm>
          <a:prstGeom prst="roundRect">
            <a:avLst>
              <a:gd name="adj" fmla="val 4912"/>
            </a:avLst>
          </a:prstGeom>
          <a:solidFill>
            <a:srgbClr val="151927">
              <a:alpha val="95000"/>
            </a:srgbClr>
          </a:solidFill>
          <a:ln w="11430">
            <a:solidFill>
              <a:srgbClr val="F97316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75304" y="2761488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Gastro Pro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57016" y="31272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3EA"/>
                </a:solidFill>
              </a:rPr>
              <a:t>Desde $899/mes por unidad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11880" y="3456432"/>
            <a:ext cx="2194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Restaurantes, bares o cafés con operación diaria.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3685032" y="3886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POS + caja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85032" y="4297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Mesas / barra / cola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85032" y="4709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Comandas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8503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Multicaja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85032" y="5532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Usuarios operativos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318504" y="2514600"/>
            <a:ext cx="2606040" cy="3429000"/>
          </a:xfrm>
          <a:prstGeom prst="roundRect">
            <a:avLst>
              <a:gd name="adj" fmla="val 4912"/>
            </a:avLst>
          </a:prstGeom>
          <a:solidFill>
            <a:srgbClr val="20172D"/>
          </a:solidFill>
          <a:ln w="2032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3096" y="2761488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Gastro Suite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64808" y="31272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3EA"/>
                </a:solidFill>
              </a:rPr>
              <a:t>Desde $1,499/mes por unidad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19672" y="3456432"/>
            <a:ext cx="2194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Operación con inventario, recetas, merma y reportes.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6592824" y="3886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Todo Gastro Pro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92824" y="4297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Inventario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92824" y="4709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Recetas e insumos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92824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Merma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92824" y="5532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Reportes gerenciales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226296" y="2514600"/>
            <a:ext cx="2606040" cy="3429000"/>
          </a:xfrm>
          <a:prstGeom prst="roundRect">
            <a:avLst>
              <a:gd name="adj" fmla="val 4912"/>
            </a:avLst>
          </a:prstGeom>
          <a:solidFill>
            <a:srgbClr val="151927">
              <a:alpha val="95000"/>
            </a:srgbClr>
          </a:solidFill>
          <a:ln w="1143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90888" y="2761488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Grupo Enterprise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372600" y="31272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3EA"/>
                </a:solidFill>
              </a:rPr>
              <a:t>A cotizar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27464" y="3456432"/>
            <a:ext cx="2194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B8B4AA"/>
                </a:solidFill>
              </a:rPr>
              <a:t>Grupos multi-sucursal con integración, soporte y roadmap.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9500616" y="3886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Multi-sucursal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500616" y="4297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Roles avanzados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500616" y="4709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Integraciones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500616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SLA / soporte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500616" y="5532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</a:rPr>
              <a:t>• IA futura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60120" y="6199632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18F"/>
                </a:solidFill>
              </a:rPr>
              <a:t>Precios de referencia sujetos a alcance, número de cajas, usuarios, sucursales, soporte, integración y configuración requerida.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201400" y="63550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wide_angle_cinematic_interior_restaurant_scene_batch_1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441"/>
                </a:solidFill>
              </a:rPr>
              <a:t>Atlas One Gastro Suite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195560" y="310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7F3EA"/>
                </a:solidFill>
              </a:rPr>
              <a:t>ATLAS ONE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66928" y="658368"/>
            <a:ext cx="11018520" cy="0"/>
          </a:xfrm>
          <a:prstGeom prst="line">
            <a:avLst/>
          </a:prstGeom>
          <a:noFill/>
          <a:ln w="10160">
            <a:solidFill>
              <a:srgbClr val="34394A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93268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3EA"/>
                </a:solidFill>
              </a:rPr>
              <a:t>Piloto recomendado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94360" y="1764792"/>
            <a:ext cx="6217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B4AA"/>
                </a:solidFill>
              </a:rPr>
              <a:t>Para grupos restauranteros: validar en una unidad, medir adopción y escalar con datos.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2743200"/>
            <a:ext cx="2240280" cy="2011680"/>
          </a:xfrm>
          <a:prstGeom prst="roundRect">
            <a:avLst>
              <a:gd name="adj" fmla="val 6364"/>
            </a:avLst>
          </a:prstGeom>
          <a:solidFill>
            <a:srgbClr val="151927">
              <a:alpha val="97000"/>
            </a:srgbClr>
          </a:solidFill>
          <a:ln w="11430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2926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41832" y="327355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3EA"/>
                </a:solidFill>
              </a:rPr>
              <a:t>Diagnóstico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41832" y="3675888"/>
            <a:ext cx="1874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B8B4AA"/>
                </a:solidFill>
              </a:rPr>
              <a:t>Mapeo de operación, cajas, usuarios, productos y flujos.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3566160" y="2743200"/>
            <a:ext cx="2240280" cy="2011680"/>
          </a:xfrm>
          <a:prstGeom prst="roundRect">
            <a:avLst>
              <a:gd name="adj" fmla="val 6364"/>
            </a:avLst>
          </a:prstGeom>
          <a:solidFill>
            <a:srgbClr val="151927">
              <a:alpha val="97000"/>
            </a:srgbClr>
          </a:solidFill>
          <a:ln w="11430">
            <a:solidFill>
              <a:srgbClr val="F97316">
                <a:alpha val="6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30752" y="2926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30752" y="327355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3EA"/>
                </a:solidFill>
              </a:rPr>
              <a:t>Configuración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730752" y="3675888"/>
            <a:ext cx="1874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B8B4AA"/>
                </a:solidFill>
              </a:rPr>
              <a:t>Activación de módulos: restaurant, bar o café.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6355080" y="2743200"/>
            <a:ext cx="2240280" cy="2011680"/>
          </a:xfrm>
          <a:prstGeom prst="roundRect">
            <a:avLst>
              <a:gd name="adj" fmla="val 6364"/>
            </a:avLst>
          </a:prstGeom>
          <a:solidFill>
            <a:srgbClr val="151927">
              <a:alpha val="97000"/>
            </a:srgbClr>
          </a:solidFill>
          <a:ln w="1143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9672" y="2926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19672" y="327355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3EA"/>
                </a:solidFill>
              </a:rPr>
              <a:t>Prueba real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19672" y="3675888"/>
            <a:ext cx="1874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B8B4AA"/>
                </a:solidFill>
              </a:rPr>
              <a:t>1 mes gratis para negocios que ya usan POS y desean comparar.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9144000" y="2743200"/>
            <a:ext cx="2240280" cy="2011680"/>
          </a:xfrm>
          <a:prstGeom prst="roundRect">
            <a:avLst>
              <a:gd name="adj" fmla="val 6364"/>
            </a:avLst>
          </a:prstGeom>
          <a:solidFill>
            <a:srgbClr val="151927">
              <a:alpha val="97000"/>
            </a:srgbClr>
          </a:solidFill>
          <a:ln w="1143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08592" y="2926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308592" y="327355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3EA"/>
                </a:solidFill>
              </a:rPr>
              <a:t>Escalamiento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308592" y="3675888"/>
            <a:ext cx="1874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B8B4AA"/>
                </a:solidFill>
              </a:rPr>
              <a:t>Roadmap por sucursal, módulos, soporte e integraciones.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1325880" y="5257800"/>
            <a:ext cx="9509760" cy="658368"/>
          </a:xfrm>
          <a:prstGeom prst="roundRect">
            <a:avLst>
              <a:gd name="adj" fmla="val 16667"/>
            </a:avLst>
          </a:prstGeom>
          <a:solidFill>
            <a:srgbClr val="151927">
              <a:alpha val="92000"/>
            </a:srgbClr>
          </a:solidFill>
          <a:ln w="12700">
            <a:solidFill>
              <a:srgbClr val="D9A441">
                <a:alpha val="6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00200" y="5458968"/>
            <a:ext cx="8961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3EA"/>
                </a:solidFill>
              </a:rPr>
              <a:t>La meta del piloto no es instalar software: es demostrar control operativo, adopción y valor antes de escalar.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1201400" y="63550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cinematic_interior_bar_scene_upscale_lounge_atm_batch_2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441"/>
                </a:solidFill>
              </a:rPr>
              <a:t>Cierre ejecutivo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195560" y="310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7F3EA"/>
                </a:solidFill>
              </a:rPr>
              <a:t>ATLAS ONE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66928" y="658368"/>
            <a:ext cx="11018520" cy="0"/>
          </a:xfrm>
          <a:prstGeom prst="line">
            <a:avLst/>
          </a:prstGeom>
          <a:noFill/>
          <a:ln w="10160">
            <a:solidFill>
              <a:srgbClr val="34394A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1430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7F3EA"/>
                </a:solidFill>
              </a:rPr>
              <a:t>Atlas One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7F3EA"/>
                </a:solidFill>
              </a:rPr>
              <a:t>Gastro Suite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731520" y="2487168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8B4AA"/>
                </a:solidFill>
              </a:rPr>
              <a:t>Una plataforma para vender, controlar y escalar conceptos gastronómicos con mayor inteligencia operativa.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657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7F3EA"/>
                </a:solidFill>
              </a:rPr>
              <a:t>• Beneficios claros para dirección y operación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4069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7F3EA"/>
                </a:solidFill>
              </a:rPr>
              <a:t>• Features diseñadas para restaurant, bar y café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7F3EA"/>
                </a:solidFill>
              </a:rPr>
              <a:t>• Pricing modular para empezar simple y crecer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4892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7F3EA"/>
                </a:solidFill>
              </a:rPr>
              <a:t>• Piloto de una unidad + 1 mes gratis si ya usan POS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995160" y="347472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151927">
              <a:alpha val="9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69480" y="3675888"/>
            <a:ext cx="34747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3EA"/>
                </a:solidFill>
              </a:rPr>
              <a:t>De la operación diaria a la inteligencia gastronómica.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269480" y="4956048"/>
            <a:ext cx="3474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4AA"/>
                </a:solidFill>
              </a:rPr>
              <a:t>Siguiente paso: seleccionar una unidad piloto, configurar la operación y medir resultados.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201400" y="63550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Atlas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One Gastro Suite</dc:title>
  <dc:subject>Atlas One Gastro Suite - beneficios, features y pricing</dc:subject>
  <dc:creator>Atlas Tech</dc:creator>
  <cp:lastModifiedBy>Atlas Tech</cp:lastModifiedBy>
  <cp:revision>1</cp:revision>
  <dcterms:created xsi:type="dcterms:W3CDTF">2026-06-29T18:55:20Z</dcterms:created>
  <dcterms:modified xsi:type="dcterms:W3CDTF">2026-06-29T18:55:20Z</dcterms:modified>
</cp:coreProperties>
</file>