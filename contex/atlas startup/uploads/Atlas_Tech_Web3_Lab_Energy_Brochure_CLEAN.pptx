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685800"/>
            <a:ext cx="2926080" cy="2926080"/>
          </a:xfrm>
          <a:prstGeom prst="arc">
            <a:avLst/>
          </a:prstGeom>
          <a:noFill/>
          <a:ln w="15240">
            <a:solidFill>
              <a:srgbClr val="35D5FF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822960" y="4983480"/>
            <a:ext cx="2194560" cy="2194560"/>
          </a:xfrm>
          <a:prstGeom prst="arc">
            <a:avLst/>
          </a:prstGeom>
          <a:noFill/>
          <a:ln w="13970">
            <a:solidFill>
              <a:srgbClr val="8F5BFF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7452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7804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0392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2980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5568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914400"/>
            <a:ext cx="11155680" cy="0"/>
          </a:xfrm>
          <a:prstGeom prst="line">
            <a:avLst/>
          </a:prstGeom>
          <a:noFill/>
          <a:ln w="5080">
            <a:solidFill>
              <a:srgbClr val="22324A">
                <a:alpha val="1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057400"/>
            <a:ext cx="11155680" cy="0"/>
          </a:xfrm>
          <a:prstGeom prst="line">
            <a:avLst/>
          </a:prstGeom>
          <a:noFill/>
          <a:ln w="5080">
            <a:solidFill>
              <a:srgbClr val="22324A">
                <a:alpha val="1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200400"/>
            <a:ext cx="11155680" cy="0"/>
          </a:xfrm>
          <a:prstGeom prst="line">
            <a:avLst/>
          </a:prstGeom>
          <a:noFill/>
          <a:ln w="5080">
            <a:solidFill>
              <a:srgbClr val="22324A">
                <a:alpha val="1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343400"/>
            <a:ext cx="11155680" cy="0"/>
          </a:xfrm>
          <a:prstGeom prst="line">
            <a:avLst/>
          </a:prstGeom>
          <a:noFill/>
          <a:ln w="5080">
            <a:solidFill>
              <a:srgbClr val="22324A">
                <a:alpha val="1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5486400"/>
            <a:ext cx="11155680" cy="0"/>
          </a:xfrm>
          <a:prstGeom prst="line">
            <a:avLst/>
          </a:prstGeom>
          <a:noFill/>
          <a:ln w="5080">
            <a:solidFill>
              <a:srgbClr val="22324A">
                <a:alpha val="14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8404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5D5FF"/>
                </a:solidFill>
              </a:rPr>
              <a:t>ATLAS TECH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1792" y="1115568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Web3 Lab</a:t>
            </a:r>
            <a:endParaRPr lang="en-US" sz="3900" dirty="0"/>
          </a:p>
        </p:txBody>
      </p:sp>
      <p:sp>
        <p:nvSpPr>
          <p:cNvPr id="21" name="Text 19"/>
          <p:cNvSpPr/>
          <p:nvPr/>
        </p:nvSpPr>
        <p:spPr>
          <a:xfrm>
            <a:off x="658368" y="1993392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9FB2C8"/>
                </a:solidFill>
              </a:rPr>
              <a:t>Blockchain · Smart Contracts · Energy &amp; ESG Infrastructure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76656" y="2606040"/>
            <a:ext cx="1554480" cy="310896"/>
          </a:xfrm>
          <a:prstGeom prst="roundRect">
            <a:avLst>
              <a:gd name="adj" fmla="val 23529"/>
            </a:avLst>
          </a:prstGeom>
          <a:solidFill>
            <a:srgbClr val="0C1524"/>
          </a:solidFill>
          <a:ln w="12700">
            <a:solidFill>
              <a:srgbClr val="35D5FF">
                <a:alpha val="88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" y="2670048"/>
            <a:ext cx="13350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5D5FF"/>
                </a:solidFill>
              </a:rPr>
              <a:t>ENTERPRISE WEB3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395728" y="260604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0C1524"/>
          </a:solidFill>
          <a:ln w="12700">
            <a:solidFill>
              <a:srgbClr val="2EF2A5">
                <a:alpha val="88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05456" y="2670048"/>
            <a:ext cx="11978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F2A5"/>
                </a:solidFill>
              </a:rPr>
              <a:t>ENERGY LEDGER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986784" y="260604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0C1524"/>
          </a:solidFill>
          <a:ln w="12700">
            <a:solidFill>
              <a:srgbClr val="8F5BFF">
                <a:alpha val="88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96512" y="2670048"/>
            <a:ext cx="11978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F5BFF"/>
                </a:solidFill>
              </a:rPr>
              <a:t>TOKENIZATION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995160" y="960120"/>
            <a:ext cx="4069080" cy="4251960"/>
          </a:xfrm>
          <a:prstGeom prst="roundRect">
            <a:avLst>
              <a:gd name="adj" fmla="val 4045"/>
            </a:avLst>
          </a:prstGeom>
          <a:solidFill>
            <a:srgbClr val="0F1726"/>
          </a:solidFill>
          <a:ln w="15240">
            <a:solidFill>
              <a:srgbClr val="35D5FF">
                <a:alpha val="5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0" y="1554480"/>
            <a:ext cx="256032" cy="256032"/>
          </a:xfrm>
          <a:prstGeom prst="ellipse">
            <a:avLst/>
          </a:prstGeom>
          <a:solidFill>
            <a:srgbClr val="35D5FF"/>
          </a:solidFill>
          <a:ln w="12700">
            <a:solidFill>
              <a:srgbClr val="35D5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17536" y="1682496"/>
            <a:ext cx="2240280" cy="685800"/>
          </a:xfrm>
          <a:prstGeom prst="line">
            <a:avLst/>
          </a:prstGeom>
          <a:noFill/>
          <a:ln w="13970">
            <a:solidFill>
              <a:srgbClr val="35D5FF">
                <a:alpha val="6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829800" y="2240280"/>
            <a:ext cx="256032" cy="256032"/>
          </a:xfrm>
          <a:prstGeom prst="ellipse">
            <a:avLst/>
          </a:prstGeom>
          <a:solidFill>
            <a:srgbClr val="2EF2A5"/>
          </a:solidFill>
          <a:ln w="12700">
            <a:solidFill>
              <a:srgbClr val="2EF2A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957816" y="2368296"/>
            <a:ext cx="-2240280" cy="685800"/>
          </a:xfrm>
          <a:prstGeom prst="line">
            <a:avLst/>
          </a:prstGeom>
          <a:noFill/>
          <a:ln w="13970">
            <a:solidFill>
              <a:srgbClr val="35D5FF">
                <a:alpha val="6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89520" y="2926080"/>
            <a:ext cx="256032" cy="256032"/>
          </a:xfrm>
          <a:prstGeom prst="ellipse">
            <a:avLst/>
          </a:prstGeom>
          <a:solidFill>
            <a:srgbClr val="35D5FF"/>
          </a:solidFill>
          <a:ln w="12700">
            <a:solidFill>
              <a:srgbClr val="35D5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17536" y="3054096"/>
            <a:ext cx="2240280" cy="685800"/>
          </a:xfrm>
          <a:prstGeom prst="line">
            <a:avLst/>
          </a:prstGeom>
          <a:noFill/>
          <a:ln w="13970">
            <a:solidFill>
              <a:srgbClr val="35D5FF">
                <a:alpha val="6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829800" y="3611880"/>
            <a:ext cx="256032" cy="256032"/>
          </a:xfrm>
          <a:prstGeom prst="ellipse">
            <a:avLst/>
          </a:prstGeom>
          <a:solidFill>
            <a:srgbClr val="2EF2A5"/>
          </a:solidFill>
          <a:ln w="12700">
            <a:solidFill>
              <a:srgbClr val="2EF2A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957816" y="3739896"/>
            <a:ext cx="-2240280" cy="685800"/>
          </a:xfrm>
          <a:prstGeom prst="line">
            <a:avLst/>
          </a:prstGeom>
          <a:noFill/>
          <a:ln w="13970">
            <a:solidFill>
              <a:srgbClr val="35D5FF">
                <a:alpha val="6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89520" y="4297680"/>
            <a:ext cx="256032" cy="256032"/>
          </a:xfrm>
          <a:prstGeom prst="ellipse">
            <a:avLst/>
          </a:prstGeom>
          <a:solidFill>
            <a:srgbClr val="35D5FF"/>
          </a:solidFill>
          <a:ln w="12700">
            <a:solidFill>
              <a:srgbClr val="35D5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79792" y="4343400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BFF"/>
                </a:solidFill>
              </a:rPr>
              <a:t>From business data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7FBFF"/>
                </a:solidFill>
              </a:rPr>
              <a:t>to programmable value.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76656" y="570585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728A"/>
                </a:solidFill>
              </a:rPr>
              <a:t>Brochure ejecutivo de servicios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02920" y="6419088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5F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TECH  ·  WEB3 LAB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11201400" y="636422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02920" y="6281928"/>
            <a:ext cx="11155680" cy="0"/>
          </a:xfrm>
          <a:prstGeom prst="line">
            <a:avLst/>
          </a:prstGeom>
          <a:noFill/>
          <a:ln w="8890">
            <a:solidFill>
              <a:srgbClr val="22324A">
                <a:alpha val="6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685800"/>
            <a:ext cx="2926080" cy="2926080"/>
          </a:xfrm>
          <a:prstGeom prst="arc">
            <a:avLst/>
          </a:prstGeom>
          <a:noFill/>
          <a:ln w="15240">
            <a:solidFill>
              <a:srgbClr val="35D5FF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822960" y="4983480"/>
            <a:ext cx="2194560" cy="2194560"/>
          </a:xfrm>
          <a:prstGeom prst="arc">
            <a:avLst/>
          </a:prstGeom>
          <a:noFill/>
          <a:ln w="13970">
            <a:solidFill>
              <a:srgbClr val="8F5BFF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7452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7804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0392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2980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5568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914400"/>
            <a:ext cx="11155680" cy="0"/>
          </a:xfrm>
          <a:prstGeom prst="line">
            <a:avLst/>
          </a:prstGeom>
          <a:noFill/>
          <a:ln w="5080">
            <a:solidFill>
              <a:srgbClr val="22324A">
                <a:alpha val="1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057400"/>
            <a:ext cx="11155680" cy="0"/>
          </a:xfrm>
          <a:prstGeom prst="line">
            <a:avLst/>
          </a:prstGeom>
          <a:noFill/>
          <a:ln w="5080">
            <a:solidFill>
              <a:srgbClr val="22324A">
                <a:alpha val="1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200400"/>
            <a:ext cx="11155680" cy="0"/>
          </a:xfrm>
          <a:prstGeom prst="line">
            <a:avLst/>
          </a:prstGeom>
          <a:noFill/>
          <a:ln w="5080">
            <a:solidFill>
              <a:srgbClr val="22324A">
                <a:alpha val="1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343400"/>
            <a:ext cx="11155680" cy="0"/>
          </a:xfrm>
          <a:prstGeom prst="line">
            <a:avLst/>
          </a:prstGeom>
          <a:noFill/>
          <a:ln w="5080">
            <a:solidFill>
              <a:srgbClr val="22324A">
                <a:alpha val="1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5486400"/>
            <a:ext cx="11155680" cy="0"/>
          </a:xfrm>
          <a:prstGeom prst="line">
            <a:avLst/>
          </a:prstGeom>
          <a:noFill/>
          <a:ln w="5080">
            <a:solidFill>
              <a:srgbClr val="22324A">
                <a:alpha val="14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512064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35D5FF"/>
                </a:solidFill>
              </a:rPr>
              <a:t>ATLAS TECH WEB3 LAB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640080" y="841248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nueva división para construir confianza digital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58368" y="1664208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FB2C8"/>
                </a:solidFill>
              </a:rPr>
              <a:t>Web3 aplicado a procesos reales: operación, energía, recompensas, trazabilidad y gobernanza.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8368" y="2331720"/>
            <a:ext cx="3401568" cy="1920240"/>
          </a:xfrm>
          <a:prstGeom prst="roundRect">
            <a:avLst>
              <a:gd name="adj" fmla="val 5714"/>
            </a:avLst>
          </a:prstGeom>
          <a:solidFill>
            <a:srgbClr val="0F1726"/>
          </a:solidFill>
          <a:ln w="12700">
            <a:solidFill>
              <a:srgbClr val="35D5FF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" y="2331720"/>
            <a:ext cx="50292" cy="1920240"/>
          </a:xfrm>
          <a:prstGeom prst="rect">
            <a:avLst/>
          </a:prstGeom>
          <a:solidFill>
            <a:srgbClr val="35D5FF"/>
          </a:solidFill>
          <a:ln w="12700">
            <a:solidFill>
              <a:srgbClr val="35D5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6968" y="2514600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vendemos hype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886968" y="2935224"/>
            <a:ext cx="2980944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9FB2C8"/>
                </a:solidFill>
              </a:rPr>
              <a:t>Diseñamos infraestructura verificable para empresas: reglas claras, datos auditables y automatización programable.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4370832" y="2331720"/>
            <a:ext cx="3401568" cy="1920240"/>
          </a:xfrm>
          <a:prstGeom prst="roundRect">
            <a:avLst>
              <a:gd name="adj" fmla="val 5714"/>
            </a:avLst>
          </a:prstGeom>
          <a:solidFill>
            <a:srgbClr val="0F1726"/>
          </a:solidFill>
          <a:ln w="12700">
            <a:solidFill>
              <a:srgbClr val="2EF2A5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70832" y="2331720"/>
            <a:ext cx="50292" cy="1920240"/>
          </a:xfrm>
          <a:prstGeom prst="rect">
            <a:avLst/>
          </a:prstGeom>
          <a:solidFill>
            <a:srgbClr val="2EF2A5"/>
          </a:solidFill>
          <a:ln w="12700">
            <a:solidFill>
              <a:srgbClr val="2EF2A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99432" y="2514600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Conectamos operación</a:t>
            </a:r>
            <a:endParaRPr lang="en-US" sz="1320" dirty="0"/>
          </a:p>
        </p:txBody>
      </p:sp>
      <p:sp>
        <p:nvSpPr>
          <p:cNvPr id="29" name="Text 27"/>
          <p:cNvSpPr/>
          <p:nvPr/>
        </p:nvSpPr>
        <p:spPr>
          <a:xfrm>
            <a:off x="4599432" y="2935224"/>
            <a:ext cx="2980944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9FB2C8"/>
                </a:solidFill>
              </a:rPr>
              <a:t>Integramos blockchain con POS, ERP, CRM, IoT, dashboards y APIs para que el valor nazca de datos reales.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8083296" y="2331720"/>
            <a:ext cx="3401568" cy="1920240"/>
          </a:xfrm>
          <a:prstGeom prst="roundRect">
            <a:avLst>
              <a:gd name="adj" fmla="val 5714"/>
            </a:avLst>
          </a:prstGeom>
          <a:solidFill>
            <a:srgbClr val="0F1726"/>
          </a:solidFill>
          <a:ln w="12700">
            <a:solidFill>
              <a:srgbClr val="8F5BFF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83296" y="2331720"/>
            <a:ext cx="50292" cy="1920240"/>
          </a:xfrm>
          <a:prstGeom prst="rect">
            <a:avLst/>
          </a:prstGeom>
          <a:solidFill>
            <a:srgbClr val="8F5BFF"/>
          </a:solidFill>
          <a:ln w="12700">
            <a:solidFill>
              <a:srgbClr val="8F5B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11896" y="2514600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Escalamos por etapas</a:t>
            </a:r>
            <a:endParaRPr lang="en-US" sz="1320" dirty="0"/>
          </a:p>
        </p:txBody>
      </p:sp>
      <p:sp>
        <p:nvSpPr>
          <p:cNvPr id="33" name="Text 31"/>
          <p:cNvSpPr/>
          <p:nvPr/>
        </p:nvSpPr>
        <p:spPr>
          <a:xfrm>
            <a:off x="8311896" y="2935224"/>
            <a:ext cx="2980944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9FB2C8"/>
                </a:solidFill>
              </a:rPr>
              <a:t>Primero ledger interno y MVP. Después anchoring, smart contracts, wallets y tokenización controlada.</a:t>
            </a:r>
            <a:endParaRPr lang="en-US" sz="940" dirty="0"/>
          </a:p>
        </p:txBody>
      </p:sp>
      <p:sp>
        <p:nvSpPr>
          <p:cNvPr id="34" name="Shape 32"/>
          <p:cNvSpPr/>
          <p:nvPr/>
        </p:nvSpPr>
        <p:spPr>
          <a:xfrm>
            <a:off x="1280160" y="4800600"/>
            <a:ext cx="1874520" cy="1051560"/>
          </a:xfrm>
          <a:prstGeom prst="roundRect">
            <a:avLst>
              <a:gd name="adj" fmla="val 13913"/>
            </a:avLst>
          </a:prstGeom>
          <a:solidFill>
            <a:srgbClr val="111D31"/>
          </a:solidFill>
          <a:ln w="10160">
            <a:solidFill>
              <a:srgbClr val="35D5FF">
                <a:alpha val="5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17320" y="5020056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5D5FF"/>
                </a:solidFill>
              </a:rPr>
              <a:t>01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1444752" y="5550408"/>
            <a:ext cx="1545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9FB2C8"/>
                </a:solidFill>
              </a:rPr>
              <a:t>Diagnóstico de valor</a:t>
            </a:r>
            <a:endParaRPr lang="en-US" sz="830" dirty="0"/>
          </a:p>
        </p:txBody>
      </p:sp>
      <p:sp>
        <p:nvSpPr>
          <p:cNvPr id="37" name="Shape 35"/>
          <p:cNvSpPr/>
          <p:nvPr/>
        </p:nvSpPr>
        <p:spPr>
          <a:xfrm>
            <a:off x="3703320" y="4800600"/>
            <a:ext cx="1874520" cy="1051560"/>
          </a:xfrm>
          <a:prstGeom prst="roundRect">
            <a:avLst>
              <a:gd name="adj" fmla="val 13913"/>
            </a:avLst>
          </a:prstGeom>
          <a:solidFill>
            <a:srgbClr val="111D31"/>
          </a:solidFill>
          <a:ln w="10160">
            <a:solidFill>
              <a:srgbClr val="2EF2A5">
                <a:alpha val="5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40480" y="5020056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F2A5"/>
                </a:solidFill>
              </a:rPr>
              <a:t>02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3867912" y="5550408"/>
            <a:ext cx="1545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9FB2C8"/>
                </a:solidFill>
              </a:rPr>
              <a:t>MVP verificable</a:t>
            </a:r>
            <a:endParaRPr lang="en-US" sz="830" dirty="0"/>
          </a:p>
        </p:txBody>
      </p:sp>
      <p:sp>
        <p:nvSpPr>
          <p:cNvPr id="40" name="Shape 38"/>
          <p:cNvSpPr/>
          <p:nvPr/>
        </p:nvSpPr>
        <p:spPr>
          <a:xfrm>
            <a:off x="6126480" y="4800600"/>
            <a:ext cx="1874520" cy="1051560"/>
          </a:xfrm>
          <a:prstGeom prst="roundRect">
            <a:avLst>
              <a:gd name="adj" fmla="val 13913"/>
            </a:avLst>
          </a:prstGeom>
          <a:solidFill>
            <a:srgbClr val="111D31"/>
          </a:solidFill>
          <a:ln w="10160">
            <a:solidFill>
              <a:srgbClr val="8F5BFF">
                <a:alpha val="5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63640" y="5020056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F5BFF"/>
                </a:solidFill>
              </a:rPr>
              <a:t>03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6291072" y="5550408"/>
            <a:ext cx="1545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9FB2C8"/>
                </a:solidFill>
              </a:rPr>
              <a:t>Integración empresarial</a:t>
            </a:r>
            <a:endParaRPr lang="en-US" sz="830" dirty="0"/>
          </a:p>
        </p:txBody>
      </p:sp>
      <p:sp>
        <p:nvSpPr>
          <p:cNvPr id="43" name="Shape 41"/>
          <p:cNvSpPr/>
          <p:nvPr/>
        </p:nvSpPr>
        <p:spPr>
          <a:xfrm>
            <a:off x="8549640" y="4800600"/>
            <a:ext cx="1874520" cy="1051560"/>
          </a:xfrm>
          <a:prstGeom prst="roundRect">
            <a:avLst>
              <a:gd name="adj" fmla="val 13913"/>
            </a:avLst>
          </a:prstGeom>
          <a:solidFill>
            <a:srgbClr val="111D31"/>
          </a:solidFill>
          <a:ln w="10160">
            <a:solidFill>
              <a:srgbClr val="FFC857">
                <a:alpha val="55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86800" y="5020056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857"/>
                </a:solidFill>
              </a:rPr>
              <a:t>04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8714232" y="5550408"/>
            <a:ext cx="1545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9FB2C8"/>
                </a:solidFill>
              </a:rPr>
              <a:t>Escalamiento seguro</a:t>
            </a:r>
            <a:endParaRPr lang="en-US" sz="830" dirty="0"/>
          </a:p>
        </p:txBody>
      </p:sp>
      <p:sp>
        <p:nvSpPr>
          <p:cNvPr id="46" name="Text 44"/>
          <p:cNvSpPr/>
          <p:nvPr/>
        </p:nvSpPr>
        <p:spPr>
          <a:xfrm>
            <a:off x="502920" y="6419088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5F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TECH  ·  WEB3 LAB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11201400" y="636422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02920" y="6281928"/>
            <a:ext cx="11155680" cy="0"/>
          </a:xfrm>
          <a:prstGeom prst="line">
            <a:avLst/>
          </a:prstGeom>
          <a:noFill/>
          <a:ln w="8890">
            <a:solidFill>
              <a:srgbClr val="22324A">
                <a:alpha val="6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685800"/>
            <a:ext cx="2926080" cy="2926080"/>
          </a:xfrm>
          <a:prstGeom prst="arc">
            <a:avLst/>
          </a:prstGeom>
          <a:noFill/>
          <a:ln w="15240">
            <a:solidFill>
              <a:srgbClr val="35D5FF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822960" y="4983480"/>
            <a:ext cx="2194560" cy="2194560"/>
          </a:xfrm>
          <a:prstGeom prst="arc">
            <a:avLst/>
          </a:prstGeom>
          <a:noFill/>
          <a:ln w="13970">
            <a:solidFill>
              <a:srgbClr val="8F5BFF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7452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7804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0392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2980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5568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914400"/>
            <a:ext cx="11155680" cy="0"/>
          </a:xfrm>
          <a:prstGeom prst="line">
            <a:avLst/>
          </a:prstGeom>
          <a:noFill/>
          <a:ln w="5080">
            <a:solidFill>
              <a:srgbClr val="22324A">
                <a:alpha val="1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057400"/>
            <a:ext cx="11155680" cy="0"/>
          </a:xfrm>
          <a:prstGeom prst="line">
            <a:avLst/>
          </a:prstGeom>
          <a:noFill/>
          <a:ln w="5080">
            <a:solidFill>
              <a:srgbClr val="22324A">
                <a:alpha val="1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200400"/>
            <a:ext cx="11155680" cy="0"/>
          </a:xfrm>
          <a:prstGeom prst="line">
            <a:avLst/>
          </a:prstGeom>
          <a:noFill/>
          <a:ln w="5080">
            <a:solidFill>
              <a:srgbClr val="22324A">
                <a:alpha val="1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343400"/>
            <a:ext cx="11155680" cy="0"/>
          </a:xfrm>
          <a:prstGeom prst="line">
            <a:avLst/>
          </a:prstGeom>
          <a:noFill/>
          <a:ln w="5080">
            <a:solidFill>
              <a:srgbClr val="22324A">
                <a:alpha val="1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5486400"/>
            <a:ext cx="11155680" cy="0"/>
          </a:xfrm>
          <a:prstGeom prst="line">
            <a:avLst/>
          </a:prstGeom>
          <a:noFill/>
          <a:ln w="5080">
            <a:solidFill>
              <a:srgbClr val="22324A">
                <a:alpha val="14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512064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35D5FF"/>
                </a:solidFill>
              </a:rPr>
              <a:t>ATLAS TECH WEB3 LAB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640080" y="841248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Valor que puede generar Web3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58368" y="1664208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FB2C8"/>
                </a:solidFill>
              </a:rPr>
              <a:t>Blockchain es útil cuando reduce fricción, aumenta confianza o habilita nuevos modelos económicos.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2331720"/>
            <a:ext cx="2606040" cy="2423160"/>
          </a:xfrm>
          <a:prstGeom prst="roundRect">
            <a:avLst>
              <a:gd name="adj" fmla="val 4528"/>
            </a:avLst>
          </a:prstGeom>
          <a:solidFill>
            <a:srgbClr val="0F1726"/>
          </a:solidFill>
          <a:ln w="12700">
            <a:solidFill>
              <a:srgbClr val="35D5FF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2331720"/>
            <a:ext cx="50292" cy="2423160"/>
          </a:xfrm>
          <a:prstGeom prst="rect">
            <a:avLst/>
          </a:prstGeom>
          <a:solidFill>
            <a:srgbClr val="35D5FF"/>
          </a:solidFill>
          <a:ln w="12700">
            <a:solidFill>
              <a:srgbClr val="35D5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Trazabilidad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868680" y="2935224"/>
            <a:ext cx="2185416" cy="1636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9FB2C8"/>
                </a:solidFill>
              </a:rPr>
              <a:t>Historial verificable de eventos, documentos, activos, energía, transacciones o recompensas.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3493008" y="2331720"/>
            <a:ext cx="2606040" cy="2423160"/>
          </a:xfrm>
          <a:prstGeom prst="roundRect">
            <a:avLst>
              <a:gd name="adj" fmla="val 4528"/>
            </a:avLst>
          </a:prstGeom>
          <a:solidFill>
            <a:srgbClr val="0F1726"/>
          </a:solidFill>
          <a:ln w="12700">
            <a:solidFill>
              <a:srgbClr val="8F5BFF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93008" y="2331720"/>
            <a:ext cx="50292" cy="2423160"/>
          </a:xfrm>
          <a:prstGeom prst="rect">
            <a:avLst/>
          </a:prstGeom>
          <a:solidFill>
            <a:srgbClr val="8F5BFF"/>
          </a:solidFill>
          <a:ln w="12700">
            <a:solidFill>
              <a:srgbClr val="8F5B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21608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Automatización</a:t>
            </a:r>
            <a:endParaRPr lang="en-US" sz="1320" dirty="0"/>
          </a:p>
        </p:txBody>
      </p:sp>
      <p:sp>
        <p:nvSpPr>
          <p:cNvPr id="29" name="Text 27"/>
          <p:cNvSpPr/>
          <p:nvPr/>
        </p:nvSpPr>
        <p:spPr>
          <a:xfrm>
            <a:off x="3721608" y="2935224"/>
            <a:ext cx="2185416" cy="1636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9FB2C8"/>
                </a:solidFill>
              </a:rPr>
              <a:t>Smart contracts para reglas de liquidación, incentivos, membresías, acuerdos o votaciones.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6345936" y="2331720"/>
            <a:ext cx="2606040" cy="2423160"/>
          </a:xfrm>
          <a:prstGeom prst="roundRect">
            <a:avLst>
              <a:gd name="adj" fmla="val 4528"/>
            </a:avLst>
          </a:prstGeom>
          <a:solidFill>
            <a:srgbClr val="0F1726"/>
          </a:solidFill>
          <a:ln w="12700">
            <a:solidFill>
              <a:srgbClr val="2EF2A5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45936" y="2331720"/>
            <a:ext cx="50292" cy="2423160"/>
          </a:xfrm>
          <a:prstGeom prst="rect">
            <a:avLst/>
          </a:prstGeom>
          <a:solidFill>
            <a:srgbClr val="2EF2A5"/>
          </a:solidFill>
          <a:ln w="12700">
            <a:solidFill>
              <a:srgbClr val="2EF2A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74536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Lealtad</a:t>
            </a:r>
            <a:endParaRPr lang="en-US" sz="1320" dirty="0"/>
          </a:p>
        </p:txBody>
      </p:sp>
      <p:sp>
        <p:nvSpPr>
          <p:cNvPr id="33" name="Text 31"/>
          <p:cNvSpPr/>
          <p:nvPr/>
        </p:nvSpPr>
        <p:spPr>
          <a:xfrm>
            <a:off x="6574536" y="2935224"/>
            <a:ext cx="2185416" cy="1636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9FB2C8"/>
                </a:solidFill>
              </a:rPr>
              <a:t>Cashback, puntos, wallets internas y beneficios digitales conectados a ventas reales.</a:t>
            </a:r>
            <a:endParaRPr lang="en-US" sz="940" dirty="0"/>
          </a:p>
        </p:txBody>
      </p:sp>
      <p:sp>
        <p:nvSpPr>
          <p:cNvPr id="34" name="Shape 32"/>
          <p:cNvSpPr/>
          <p:nvPr/>
        </p:nvSpPr>
        <p:spPr>
          <a:xfrm>
            <a:off x="9198864" y="2331720"/>
            <a:ext cx="2331720" cy="2423160"/>
          </a:xfrm>
          <a:prstGeom prst="roundRect">
            <a:avLst>
              <a:gd name="adj" fmla="val 4706"/>
            </a:avLst>
          </a:prstGeom>
          <a:solidFill>
            <a:srgbClr val="0F1726"/>
          </a:solidFill>
          <a:ln w="12700">
            <a:solidFill>
              <a:srgbClr val="FFC857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198864" y="2331720"/>
            <a:ext cx="50292" cy="2423160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427464" y="2514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Confianza</a:t>
            </a:r>
            <a:endParaRPr lang="en-US" sz="1320" dirty="0"/>
          </a:p>
        </p:txBody>
      </p:sp>
      <p:sp>
        <p:nvSpPr>
          <p:cNvPr id="37" name="Text 35"/>
          <p:cNvSpPr/>
          <p:nvPr/>
        </p:nvSpPr>
        <p:spPr>
          <a:xfrm>
            <a:off x="9427464" y="2935224"/>
            <a:ext cx="1911096" cy="1636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9FB2C8"/>
                </a:solidFill>
              </a:rPr>
              <a:t>Auditoría, integridad de datos y evidencia verificable para clientes, socios o instituciones.</a:t>
            </a:r>
            <a:endParaRPr lang="en-US" sz="940" dirty="0"/>
          </a:p>
        </p:txBody>
      </p:sp>
      <p:sp>
        <p:nvSpPr>
          <p:cNvPr id="38" name="Text 36"/>
          <p:cNvSpPr/>
          <p:nvPr/>
        </p:nvSpPr>
        <p:spPr>
          <a:xfrm>
            <a:off x="960120" y="525780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BFF"/>
                </a:solidFill>
              </a:rPr>
              <a:t>Resultado: sistemas más transparentes, medibles, escalables y difíciles de manipular.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02920" y="6419088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5F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TECH  ·  WEB3 LAB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11201400" y="636422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02920" y="6281928"/>
            <a:ext cx="11155680" cy="0"/>
          </a:xfrm>
          <a:prstGeom prst="line">
            <a:avLst/>
          </a:prstGeom>
          <a:noFill/>
          <a:ln w="8890">
            <a:solidFill>
              <a:srgbClr val="22324A">
                <a:alpha val="6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685800"/>
            <a:ext cx="2926080" cy="2926080"/>
          </a:xfrm>
          <a:prstGeom prst="arc">
            <a:avLst/>
          </a:prstGeom>
          <a:noFill/>
          <a:ln w="15240">
            <a:solidFill>
              <a:srgbClr val="35D5FF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822960" y="4983480"/>
            <a:ext cx="2194560" cy="2194560"/>
          </a:xfrm>
          <a:prstGeom prst="arc">
            <a:avLst/>
          </a:prstGeom>
          <a:noFill/>
          <a:ln w="13970">
            <a:solidFill>
              <a:srgbClr val="8F5BFF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7452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7804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0392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2980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5568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914400"/>
            <a:ext cx="11155680" cy="0"/>
          </a:xfrm>
          <a:prstGeom prst="line">
            <a:avLst/>
          </a:prstGeom>
          <a:noFill/>
          <a:ln w="5080">
            <a:solidFill>
              <a:srgbClr val="22324A">
                <a:alpha val="1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057400"/>
            <a:ext cx="11155680" cy="0"/>
          </a:xfrm>
          <a:prstGeom prst="line">
            <a:avLst/>
          </a:prstGeom>
          <a:noFill/>
          <a:ln w="5080">
            <a:solidFill>
              <a:srgbClr val="22324A">
                <a:alpha val="1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200400"/>
            <a:ext cx="11155680" cy="0"/>
          </a:xfrm>
          <a:prstGeom prst="line">
            <a:avLst/>
          </a:prstGeom>
          <a:noFill/>
          <a:ln w="5080">
            <a:solidFill>
              <a:srgbClr val="22324A">
                <a:alpha val="1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343400"/>
            <a:ext cx="11155680" cy="0"/>
          </a:xfrm>
          <a:prstGeom prst="line">
            <a:avLst/>
          </a:prstGeom>
          <a:noFill/>
          <a:ln w="5080">
            <a:solidFill>
              <a:srgbClr val="22324A">
                <a:alpha val="1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5486400"/>
            <a:ext cx="11155680" cy="0"/>
          </a:xfrm>
          <a:prstGeom prst="line">
            <a:avLst/>
          </a:prstGeom>
          <a:noFill/>
          <a:ln w="5080">
            <a:solidFill>
              <a:srgbClr val="22324A">
                <a:alpha val="14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512064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35D5FF"/>
                </a:solidFill>
              </a:rPr>
              <a:t>ATLAS TECH WEB3 LAB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640080" y="841248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Portafolio de servicios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58368" y="1664208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FB2C8"/>
                </a:solidFill>
              </a:rPr>
              <a:t>Servicios modulares para diseñar, construir e integrar productos Web3.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31520" y="2121408"/>
            <a:ext cx="3246120" cy="1143000"/>
          </a:xfrm>
          <a:prstGeom prst="roundRect">
            <a:avLst>
              <a:gd name="adj" fmla="val 9600"/>
            </a:avLst>
          </a:prstGeom>
          <a:solidFill>
            <a:srgbClr val="0F1726"/>
          </a:solidFill>
          <a:ln w="12700">
            <a:solidFill>
              <a:srgbClr val="35D5FF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2121408"/>
            <a:ext cx="50292" cy="1143000"/>
          </a:xfrm>
          <a:prstGeom prst="rect">
            <a:avLst/>
          </a:prstGeom>
          <a:solidFill>
            <a:srgbClr val="35D5FF"/>
          </a:solidFill>
          <a:ln w="12700">
            <a:solidFill>
              <a:srgbClr val="35D5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23042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Smart Contracts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960120" y="2724912"/>
            <a:ext cx="282549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9FB2C8"/>
                </a:solidFill>
              </a:rPr>
              <a:t>Solidity · EVM · reglas programables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4507992" y="2121408"/>
            <a:ext cx="3246120" cy="1143000"/>
          </a:xfrm>
          <a:prstGeom prst="roundRect">
            <a:avLst>
              <a:gd name="adj" fmla="val 9600"/>
            </a:avLst>
          </a:prstGeom>
          <a:solidFill>
            <a:srgbClr val="0F1726"/>
          </a:solidFill>
          <a:ln w="12700">
            <a:solidFill>
              <a:srgbClr val="8F5BFF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07992" y="2121408"/>
            <a:ext cx="50292" cy="1143000"/>
          </a:xfrm>
          <a:prstGeom prst="rect">
            <a:avLst/>
          </a:prstGeom>
          <a:solidFill>
            <a:srgbClr val="8F5BFF"/>
          </a:solidFill>
          <a:ln w="12700">
            <a:solidFill>
              <a:srgbClr val="8F5B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36592" y="23042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dApps &amp; Wallets</a:t>
            </a:r>
            <a:endParaRPr lang="en-US" sz="1320" dirty="0"/>
          </a:p>
        </p:txBody>
      </p:sp>
      <p:sp>
        <p:nvSpPr>
          <p:cNvPr id="29" name="Text 27"/>
          <p:cNvSpPr/>
          <p:nvPr/>
        </p:nvSpPr>
        <p:spPr>
          <a:xfrm>
            <a:off x="4736592" y="2724912"/>
            <a:ext cx="282549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9FB2C8"/>
                </a:solidFill>
              </a:rPr>
              <a:t>Interfaces web, login, firma, saldos y UX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8284464" y="2121408"/>
            <a:ext cx="3246120" cy="1143000"/>
          </a:xfrm>
          <a:prstGeom prst="roundRect">
            <a:avLst>
              <a:gd name="adj" fmla="val 9600"/>
            </a:avLst>
          </a:prstGeom>
          <a:solidFill>
            <a:srgbClr val="0F1726"/>
          </a:solidFill>
          <a:ln w="12700">
            <a:solidFill>
              <a:srgbClr val="2EF2A5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84464" y="2121408"/>
            <a:ext cx="50292" cy="1143000"/>
          </a:xfrm>
          <a:prstGeom prst="rect">
            <a:avLst/>
          </a:prstGeom>
          <a:solidFill>
            <a:srgbClr val="2EF2A5"/>
          </a:solidFill>
          <a:ln w="12700">
            <a:solidFill>
              <a:srgbClr val="2EF2A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13064" y="23042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Loyalty &amp; Cashback</a:t>
            </a:r>
            <a:endParaRPr lang="en-US" sz="1320" dirty="0"/>
          </a:p>
        </p:txBody>
      </p:sp>
      <p:sp>
        <p:nvSpPr>
          <p:cNvPr id="33" name="Text 31"/>
          <p:cNvSpPr/>
          <p:nvPr/>
        </p:nvSpPr>
        <p:spPr>
          <a:xfrm>
            <a:off x="8513064" y="2724912"/>
            <a:ext cx="282549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9FB2C8"/>
                </a:solidFill>
              </a:rPr>
              <a:t>Puntos, beneficios, redenciones y campañas</a:t>
            </a:r>
            <a:endParaRPr lang="en-US" sz="940" dirty="0"/>
          </a:p>
        </p:txBody>
      </p:sp>
      <p:sp>
        <p:nvSpPr>
          <p:cNvPr id="34" name="Shape 32"/>
          <p:cNvSpPr/>
          <p:nvPr/>
        </p:nvSpPr>
        <p:spPr>
          <a:xfrm>
            <a:off x="731520" y="3694176"/>
            <a:ext cx="3246120" cy="1143000"/>
          </a:xfrm>
          <a:prstGeom prst="roundRect">
            <a:avLst>
              <a:gd name="adj" fmla="val 9600"/>
            </a:avLst>
          </a:prstGeom>
          <a:solidFill>
            <a:srgbClr val="0F1726"/>
          </a:solidFill>
          <a:ln w="12700">
            <a:solidFill>
              <a:srgbClr val="FFC857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1520" y="3694176"/>
            <a:ext cx="50292" cy="1143000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0120" y="387705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Traceability Ledger</a:t>
            </a:r>
            <a:endParaRPr lang="en-US" sz="1320" dirty="0"/>
          </a:p>
        </p:txBody>
      </p:sp>
      <p:sp>
        <p:nvSpPr>
          <p:cNvPr id="37" name="Text 35"/>
          <p:cNvSpPr/>
          <p:nvPr/>
        </p:nvSpPr>
        <p:spPr>
          <a:xfrm>
            <a:off x="960120" y="4297680"/>
            <a:ext cx="282549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9FB2C8"/>
                </a:solidFill>
              </a:rPr>
              <a:t>Registro auditable de eventos y activos</a:t>
            </a:r>
            <a:endParaRPr lang="en-US" sz="940" dirty="0"/>
          </a:p>
        </p:txBody>
      </p:sp>
      <p:sp>
        <p:nvSpPr>
          <p:cNvPr id="38" name="Shape 36"/>
          <p:cNvSpPr/>
          <p:nvPr/>
        </p:nvSpPr>
        <p:spPr>
          <a:xfrm>
            <a:off x="4507992" y="3694176"/>
            <a:ext cx="3246120" cy="1143000"/>
          </a:xfrm>
          <a:prstGeom prst="roundRect">
            <a:avLst>
              <a:gd name="adj" fmla="val 9600"/>
            </a:avLst>
          </a:prstGeom>
          <a:solidFill>
            <a:srgbClr val="0F1726"/>
          </a:solidFill>
          <a:ln w="12700">
            <a:solidFill>
              <a:srgbClr val="35D5FF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07992" y="3694176"/>
            <a:ext cx="50292" cy="1143000"/>
          </a:xfrm>
          <a:prstGeom prst="rect">
            <a:avLst/>
          </a:prstGeom>
          <a:solidFill>
            <a:srgbClr val="35D5FF"/>
          </a:solidFill>
          <a:ln w="12700">
            <a:solidFill>
              <a:srgbClr val="35D5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36592" y="387705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Tokenización Controlada</a:t>
            </a:r>
            <a:endParaRPr lang="en-US" sz="1320" dirty="0"/>
          </a:p>
        </p:txBody>
      </p:sp>
      <p:sp>
        <p:nvSpPr>
          <p:cNvPr id="41" name="Text 39"/>
          <p:cNvSpPr/>
          <p:nvPr/>
        </p:nvSpPr>
        <p:spPr>
          <a:xfrm>
            <a:off x="4736592" y="4297680"/>
            <a:ext cx="282549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9FB2C8"/>
                </a:solidFill>
              </a:rPr>
              <a:t>Tokens utilitarios, membresías y créditos</a:t>
            </a:r>
            <a:endParaRPr lang="en-US" sz="940" dirty="0"/>
          </a:p>
        </p:txBody>
      </p:sp>
      <p:sp>
        <p:nvSpPr>
          <p:cNvPr id="42" name="Shape 40"/>
          <p:cNvSpPr/>
          <p:nvPr/>
        </p:nvSpPr>
        <p:spPr>
          <a:xfrm>
            <a:off x="8284464" y="3694176"/>
            <a:ext cx="3246120" cy="1143000"/>
          </a:xfrm>
          <a:prstGeom prst="roundRect">
            <a:avLst>
              <a:gd name="adj" fmla="val 9600"/>
            </a:avLst>
          </a:prstGeom>
          <a:solidFill>
            <a:srgbClr val="0F1726"/>
          </a:solidFill>
          <a:ln w="12700">
            <a:solidFill>
              <a:srgbClr val="8F5BFF">
                <a:alpha val="4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84464" y="3694176"/>
            <a:ext cx="50292" cy="1143000"/>
          </a:xfrm>
          <a:prstGeom prst="rect">
            <a:avLst/>
          </a:prstGeom>
          <a:solidFill>
            <a:srgbClr val="8F5BFF"/>
          </a:solidFill>
          <a:ln w="12700">
            <a:solidFill>
              <a:srgbClr val="8F5B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13064" y="387705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Web3 Advisory</a:t>
            </a:r>
            <a:endParaRPr lang="en-US" sz="1320" dirty="0"/>
          </a:p>
        </p:txBody>
      </p:sp>
      <p:sp>
        <p:nvSpPr>
          <p:cNvPr id="45" name="Text 43"/>
          <p:cNvSpPr/>
          <p:nvPr/>
        </p:nvSpPr>
        <p:spPr>
          <a:xfrm>
            <a:off x="8513064" y="4297680"/>
            <a:ext cx="282549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9FB2C8"/>
                </a:solidFill>
              </a:rPr>
              <a:t>Arquitectura, riesgos, gas, roadmap y seguridad</a:t>
            </a:r>
            <a:endParaRPr lang="en-US" sz="940" dirty="0"/>
          </a:p>
        </p:txBody>
      </p:sp>
      <p:sp>
        <p:nvSpPr>
          <p:cNvPr id="46" name="Text 44"/>
          <p:cNvSpPr/>
          <p:nvPr/>
        </p:nvSpPr>
        <p:spPr>
          <a:xfrm>
            <a:off x="822960" y="55138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9FB2C8"/>
                </a:solidFill>
              </a:rPr>
              <a:t>Cada servicio puede entregarse como diagnóstico, MVP, integración o producto llave en mano.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502920" y="6419088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5F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TECH  ·  WEB3 LAB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11201400" y="636422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02920" y="6281928"/>
            <a:ext cx="11155680" cy="0"/>
          </a:xfrm>
          <a:prstGeom prst="line">
            <a:avLst/>
          </a:prstGeom>
          <a:noFill/>
          <a:ln w="8890">
            <a:solidFill>
              <a:srgbClr val="22324A">
                <a:alpha val="6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685800"/>
            <a:ext cx="2926080" cy="2926080"/>
          </a:xfrm>
          <a:prstGeom prst="arc">
            <a:avLst/>
          </a:prstGeom>
          <a:noFill/>
          <a:ln w="15240">
            <a:solidFill>
              <a:srgbClr val="35D5FF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822960" y="4983480"/>
            <a:ext cx="2194560" cy="2194560"/>
          </a:xfrm>
          <a:prstGeom prst="arc">
            <a:avLst/>
          </a:prstGeom>
          <a:noFill/>
          <a:ln w="13970">
            <a:solidFill>
              <a:srgbClr val="8F5BFF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7452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7804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0392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2980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5568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914400"/>
            <a:ext cx="11155680" cy="0"/>
          </a:xfrm>
          <a:prstGeom prst="line">
            <a:avLst/>
          </a:prstGeom>
          <a:noFill/>
          <a:ln w="5080">
            <a:solidFill>
              <a:srgbClr val="22324A">
                <a:alpha val="1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057400"/>
            <a:ext cx="11155680" cy="0"/>
          </a:xfrm>
          <a:prstGeom prst="line">
            <a:avLst/>
          </a:prstGeom>
          <a:noFill/>
          <a:ln w="5080">
            <a:solidFill>
              <a:srgbClr val="22324A">
                <a:alpha val="1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200400"/>
            <a:ext cx="11155680" cy="0"/>
          </a:xfrm>
          <a:prstGeom prst="line">
            <a:avLst/>
          </a:prstGeom>
          <a:noFill/>
          <a:ln w="5080">
            <a:solidFill>
              <a:srgbClr val="22324A">
                <a:alpha val="1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343400"/>
            <a:ext cx="11155680" cy="0"/>
          </a:xfrm>
          <a:prstGeom prst="line">
            <a:avLst/>
          </a:prstGeom>
          <a:noFill/>
          <a:ln w="5080">
            <a:solidFill>
              <a:srgbClr val="22324A">
                <a:alpha val="1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5486400"/>
            <a:ext cx="11155680" cy="0"/>
          </a:xfrm>
          <a:prstGeom prst="line">
            <a:avLst/>
          </a:prstGeom>
          <a:noFill/>
          <a:ln w="5080">
            <a:solidFill>
              <a:srgbClr val="22324A">
                <a:alpha val="14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512064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35D5FF"/>
                </a:solidFill>
              </a:rPr>
              <a:t>ATLAS TECH WEB3 LAB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640080" y="841248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Verticales de Web3 Lab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58368" y="1664208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FB2C8"/>
                </a:solidFill>
              </a:rPr>
              <a:t>Cinco líneas de solución conectadas al ecosistema Atlas.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68680" y="2697480"/>
            <a:ext cx="1856232" cy="1115568"/>
          </a:xfrm>
          <a:prstGeom prst="roundRect">
            <a:avLst>
              <a:gd name="adj" fmla="val 10656"/>
            </a:avLst>
          </a:prstGeom>
          <a:solidFill>
            <a:srgbClr val="101827"/>
          </a:solidFill>
          <a:ln w="12700">
            <a:solidFill>
              <a:srgbClr val="35D5FF">
                <a:alpha val="6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8408" y="2834640"/>
            <a:ext cx="1636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BFF"/>
                </a:solidFill>
              </a:rPr>
              <a:t>Loyalty &amp; Cashback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33272" y="3172968"/>
            <a:ext cx="1527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9FB2C8"/>
                </a:solidFill>
              </a:rPr>
              <a:t>Open Cashback</a:t>
            </a:r>
            <a:endParaRPr lang="en-US" sz="730" dirty="0"/>
          </a:p>
        </p:txBody>
      </p:sp>
      <p:sp>
        <p:nvSpPr>
          <p:cNvPr id="25" name="Shape 23"/>
          <p:cNvSpPr/>
          <p:nvPr/>
        </p:nvSpPr>
        <p:spPr>
          <a:xfrm>
            <a:off x="2679192" y="3255264"/>
            <a:ext cx="393192" cy="0"/>
          </a:xfrm>
          <a:prstGeom prst="line">
            <a:avLst/>
          </a:prstGeom>
          <a:noFill/>
          <a:ln w="16510">
            <a:solidFill>
              <a:srgbClr val="5F728A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127248" y="2697480"/>
            <a:ext cx="1856232" cy="1115568"/>
          </a:xfrm>
          <a:prstGeom prst="roundRect">
            <a:avLst>
              <a:gd name="adj" fmla="val 10656"/>
            </a:avLst>
          </a:prstGeom>
          <a:solidFill>
            <a:srgbClr val="101827"/>
          </a:solidFill>
          <a:ln w="12700">
            <a:solidFill>
              <a:srgbClr val="8F5BFF">
                <a:alpha val="6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36976" y="2834640"/>
            <a:ext cx="1636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BFF"/>
                </a:solidFill>
              </a:rPr>
              <a:t>Governance &amp; Voting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291840" y="3172968"/>
            <a:ext cx="1527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9FB2C8"/>
                </a:solidFill>
              </a:rPr>
              <a:t>votaciones verificables</a:t>
            </a:r>
            <a:endParaRPr lang="en-US" sz="730" dirty="0"/>
          </a:p>
        </p:txBody>
      </p:sp>
      <p:sp>
        <p:nvSpPr>
          <p:cNvPr id="29" name="Shape 27"/>
          <p:cNvSpPr/>
          <p:nvPr/>
        </p:nvSpPr>
        <p:spPr>
          <a:xfrm>
            <a:off x="4937760" y="3255264"/>
            <a:ext cx="393192" cy="0"/>
          </a:xfrm>
          <a:prstGeom prst="line">
            <a:avLst/>
          </a:prstGeom>
          <a:noFill/>
          <a:ln w="16510">
            <a:solidFill>
              <a:srgbClr val="5F728A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385816" y="2697480"/>
            <a:ext cx="1856232" cy="1115568"/>
          </a:xfrm>
          <a:prstGeom prst="roundRect">
            <a:avLst>
              <a:gd name="adj" fmla="val 10656"/>
            </a:avLst>
          </a:prstGeom>
          <a:solidFill>
            <a:srgbClr val="101827"/>
          </a:solidFill>
          <a:ln w="12700">
            <a:solidFill>
              <a:srgbClr val="35D5FF">
                <a:alpha val="6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95544" y="2834640"/>
            <a:ext cx="1636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BFF"/>
                </a:solidFill>
              </a:rPr>
              <a:t>Traceability &amp; Certification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550408" y="3172968"/>
            <a:ext cx="1527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9FB2C8"/>
                </a:solidFill>
              </a:rPr>
              <a:t>documentos y activos</a:t>
            </a:r>
            <a:endParaRPr lang="en-US" sz="730" dirty="0"/>
          </a:p>
        </p:txBody>
      </p:sp>
      <p:sp>
        <p:nvSpPr>
          <p:cNvPr id="33" name="Shape 31"/>
          <p:cNvSpPr/>
          <p:nvPr/>
        </p:nvSpPr>
        <p:spPr>
          <a:xfrm>
            <a:off x="7196328" y="3255264"/>
            <a:ext cx="393192" cy="0"/>
          </a:xfrm>
          <a:prstGeom prst="line">
            <a:avLst/>
          </a:prstGeom>
          <a:noFill/>
          <a:ln w="16510">
            <a:solidFill>
              <a:srgbClr val="5F728A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644384" y="2697480"/>
            <a:ext cx="1856232" cy="1115568"/>
          </a:xfrm>
          <a:prstGeom prst="roundRect">
            <a:avLst>
              <a:gd name="adj" fmla="val 10656"/>
            </a:avLst>
          </a:prstGeom>
          <a:solidFill>
            <a:srgbClr val="101827"/>
          </a:solidFill>
          <a:ln w="12700">
            <a:solidFill>
              <a:srgbClr val="35D5FF">
                <a:alpha val="6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54112" y="2834640"/>
            <a:ext cx="1636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BFF"/>
                </a:solidFill>
              </a:rPr>
              <a:t>Tokenization &amp; Digital Assets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808976" y="3172968"/>
            <a:ext cx="1527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9FB2C8"/>
                </a:solidFill>
              </a:rPr>
              <a:t>membresías y créditos</a:t>
            </a:r>
            <a:endParaRPr lang="en-US" sz="730" dirty="0"/>
          </a:p>
        </p:txBody>
      </p:sp>
      <p:sp>
        <p:nvSpPr>
          <p:cNvPr id="37" name="Shape 35"/>
          <p:cNvSpPr/>
          <p:nvPr/>
        </p:nvSpPr>
        <p:spPr>
          <a:xfrm>
            <a:off x="9454896" y="3255264"/>
            <a:ext cx="393192" cy="0"/>
          </a:xfrm>
          <a:prstGeom prst="line">
            <a:avLst/>
          </a:prstGeom>
          <a:noFill/>
          <a:ln w="16510">
            <a:solidFill>
              <a:srgbClr val="5F728A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9902952" y="2697480"/>
            <a:ext cx="1856232" cy="1115568"/>
          </a:xfrm>
          <a:prstGeom prst="roundRect">
            <a:avLst>
              <a:gd name="adj" fmla="val 10656"/>
            </a:avLst>
          </a:prstGeom>
          <a:solidFill>
            <a:srgbClr val="101827"/>
          </a:solidFill>
          <a:ln w="12700">
            <a:solidFill>
              <a:srgbClr val="2EF2A5">
                <a:alpha val="6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012680" y="2834640"/>
            <a:ext cx="1636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BFF"/>
                </a:solidFill>
              </a:rPr>
              <a:t>Energy &amp; ESG Infrastructure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0067544" y="3172968"/>
            <a:ext cx="1527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9FB2C8"/>
                </a:solidFill>
              </a:rPr>
              <a:t>energía limpia auditable</a:t>
            </a:r>
            <a:endParaRPr lang="en-US" sz="730" dirty="0"/>
          </a:p>
        </p:txBody>
      </p:sp>
      <p:sp>
        <p:nvSpPr>
          <p:cNvPr id="41" name="Shape 39"/>
          <p:cNvSpPr/>
          <p:nvPr/>
        </p:nvSpPr>
        <p:spPr>
          <a:xfrm>
            <a:off x="1078992" y="4736592"/>
            <a:ext cx="10012680" cy="822960"/>
          </a:xfrm>
          <a:prstGeom prst="roundRect">
            <a:avLst>
              <a:gd name="adj" fmla="val 17778"/>
            </a:avLst>
          </a:prstGeom>
          <a:solidFill>
            <a:srgbClr val="111D31"/>
          </a:solidFill>
          <a:ln w="12700">
            <a:solidFill>
              <a:srgbClr val="2EF2A5">
                <a:alpha val="5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417320" y="501091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7FBFF"/>
                </a:solidFill>
              </a:rPr>
              <a:t>La vertical Energy &amp; ESG amplía Web3 hacia climate tech, medición IoT, certificados digitales y reportes de sustentabilidad.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02920" y="6419088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5F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TECH  ·  WEB3 LAB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11201400" y="636422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02920" y="6281928"/>
            <a:ext cx="11155680" cy="0"/>
          </a:xfrm>
          <a:prstGeom prst="line">
            <a:avLst/>
          </a:prstGeom>
          <a:noFill/>
          <a:ln w="8890">
            <a:solidFill>
              <a:srgbClr val="22324A">
                <a:alpha val="6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685800"/>
            <a:ext cx="2926080" cy="2926080"/>
          </a:xfrm>
          <a:prstGeom prst="arc">
            <a:avLst/>
          </a:prstGeom>
          <a:noFill/>
          <a:ln w="15240">
            <a:solidFill>
              <a:srgbClr val="35D5FF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822960" y="4983480"/>
            <a:ext cx="2194560" cy="2194560"/>
          </a:xfrm>
          <a:prstGeom prst="arc">
            <a:avLst/>
          </a:prstGeom>
          <a:noFill/>
          <a:ln w="13970">
            <a:solidFill>
              <a:srgbClr val="8F5BFF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7452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7804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0392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2980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5568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914400"/>
            <a:ext cx="11155680" cy="0"/>
          </a:xfrm>
          <a:prstGeom prst="line">
            <a:avLst/>
          </a:prstGeom>
          <a:noFill/>
          <a:ln w="5080">
            <a:solidFill>
              <a:srgbClr val="22324A">
                <a:alpha val="1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057400"/>
            <a:ext cx="11155680" cy="0"/>
          </a:xfrm>
          <a:prstGeom prst="line">
            <a:avLst/>
          </a:prstGeom>
          <a:noFill/>
          <a:ln w="5080">
            <a:solidFill>
              <a:srgbClr val="22324A">
                <a:alpha val="1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200400"/>
            <a:ext cx="11155680" cy="0"/>
          </a:xfrm>
          <a:prstGeom prst="line">
            <a:avLst/>
          </a:prstGeom>
          <a:noFill/>
          <a:ln w="5080">
            <a:solidFill>
              <a:srgbClr val="22324A">
                <a:alpha val="1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343400"/>
            <a:ext cx="11155680" cy="0"/>
          </a:xfrm>
          <a:prstGeom prst="line">
            <a:avLst/>
          </a:prstGeom>
          <a:noFill/>
          <a:ln w="5080">
            <a:solidFill>
              <a:srgbClr val="22324A">
                <a:alpha val="1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5486400"/>
            <a:ext cx="11155680" cy="0"/>
          </a:xfrm>
          <a:prstGeom prst="line">
            <a:avLst/>
          </a:prstGeom>
          <a:noFill/>
          <a:ln w="5080">
            <a:solidFill>
              <a:srgbClr val="22324A">
                <a:alpha val="14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512064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35D5FF"/>
                </a:solidFill>
              </a:rPr>
              <a:t>ATLAS TECH WEB3 LAB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640080" y="841248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Blockchain for Energy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58368" y="1664208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FB2C8"/>
                </a:solidFill>
              </a:rPr>
              <a:t>Convertimos datos de energía limpia en valor digital verificable.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13232" y="2240280"/>
            <a:ext cx="3291840" cy="1920240"/>
          </a:xfrm>
          <a:prstGeom prst="roundRect">
            <a:avLst>
              <a:gd name="adj" fmla="val 5714"/>
            </a:avLst>
          </a:prstGeom>
          <a:solidFill>
            <a:srgbClr val="0F1726"/>
          </a:solidFill>
          <a:ln w="12700">
            <a:solidFill>
              <a:srgbClr val="2EF2A5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2240280"/>
            <a:ext cx="50292" cy="1920240"/>
          </a:xfrm>
          <a:prstGeom prst="rect">
            <a:avLst/>
          </a:prstGeom>
          <a:solidFill>
            <a:srgbClr val="2EF2A5"/>
          </a:solidFill>
          <a:ln w="12700">
            <a:solidFill>
              <a:srgbClr val="2EF2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1832" y="24231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Energy Ledger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941832" y="2843784"/>
            <a:ext cx="2871216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9FB2C8"/>
                </a:solidFill>
              </a:rPr>
              <a:t>Registro verificable de generación, consumo, ahorro y eventos energéticos críticos.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4453128" y="2240280"/>
            <a:ext cx="3291840" cy="1920240"/>
          </a:xfrm>
          <a:prstGeom prst="roundRect">
            <a:avLst>
              <a:gd name="adj" fmla="val 5714"/>
            </a:avLst>
          </a:prstGeom>
          <a:solidFill>
            <a:srgbClr val="0F1726"/>
          </a:solidFill>
          <a:ln w="12700">
            <a:solidFill>
              <a:srgbClr val="35D5FF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53128" y="2240280"/>
            <a:ext cx="50292" cy="1920240"/>
          </a:xfrm>
          <a:prstGeom prst="rect">
            <a:avLst/>
          </a:prstGeom>
          <a:solidFill>
            <a:srgbClr val="35D5FF"/>
          </a:solidFill>
          <a:ln w="12700">
            <a:solidFill>
              <a:srgbClr val="35D5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1728" y="24231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Green Certificates</a:t>
            </a:r>
            <a:endParaRPr lang="en-US" sz="1320" dirty="0"/>
          </a:p>
        </p:txBody>
      </p:sp>
      <p:sp>
        <p:nvSpPr>
          <p:cNvPr id="29" name="Text 27"/>
          <p:cNvSpPr/>
          <p:nvPr/>
        </p:nvSpPr>
        <p:spPr>
          <a:xfrm>
            <a:off x="4681728" y="2843784"/>
            <a:ext cx="2871216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9FB2C8"/>
                </a:solidFill>
              </a:rPr>
              <a:t>Certificados digitales para demostrar energía limpia, eficiencia e impacto ambiental.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8193024" y="2240280"/>
            <a:ext cx="3291840" cy="1920240"/>
          </a:xfrm>
          <a:prstGeom prst="roundRect">
            <a:avLst>
              <a:gd name="adj" fmla="val 5714"/>
            </a:avLst>
          </a:prstGeom>
          <a:solidFill>
            <a:srgbClr val="0F1726"/>
          </a:solidFill>
          <a:ln w="12700">
            <a:solidFill>
              <a:srgbClr val="8F5BFF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93024" y="2240280"/>
            <a:ext cx="50292" cy="1920240"/>
          </a:xfrm>
          <a:prstGeom prst="rect">
            <a:avLst/>
          </a:prstGeom>
          <a:solidFill>
            <a:srgbClr val="8F5BFF"/>
          </a:solidFill>
          <a:ln w="12700">
            <a:solidFill>
              <a:srgbClr val="8F5B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21624" y="24231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Smart Energy Contracts</a:t>
            </a:r>
            <a:endParaRPr lang="en-US" sz="1320" dirty="0"/>
          </a:p>
        </p:txBody>
      </p:sp>
      <p:sp>
        <p:nvSpPr>
          <p:cNvPr id="33" name="Text 31"/>
          <p:cNvSpPr/>
          <p:nvPr/>
        </p:nvSpPr>
        <p:spPr>
          <a:xfrm>
            <a:off x="8421624" y="2843784"/>
            <a:ext cx="2871216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9FB2C8"/>
                </a:solidFill>
              </a:rPr>
              <a:t>Reglas automáticas para distribución de beneficios, incentivos y liquidaciones internas.</a:t>
            </a:r>
            <a:endParaRPr lang="en-US" sz="940" dirty="0"/>
          </a:p>
        </p:txBody>
      </p:sp>
      <p:sp>
        <p:nvSpPr>
          <p:cNvPr id="34" name="Text 32"/>
          <p:cNvSpPr/>
          <p:nvPr/>
        </p:nvSpPr>
        <p:spPr>
          <a:xfrm>
            <a:off x="932688" y="4846320"/>
            <a:ext cx="10287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7FBFF"/>
                </a:solidFill>
              </a:rPr>
              <a:t>La transición energética necesita infraestructura física y confianza digital.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1115568" y="5358384"/>
            <a:ext cx="9921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9FB2C8"/>
                </a:solidFill>
              </a:rPr>
              <a:t>Aplicable a parques solares, industrias, gobiernos, desarrollos inmobiliarios, comunidades energéticas y reportes ESG.</a:t>
            </a:r>
            <a:endParaRPr lang="en-US" sz="1120" dirty="0"/>
          </a:p>
        </p:txBody>
      </p:sp>
      <p:sp>
        <p:nvSpPr>
          <p:cNvPr id="36" name="Text 34"/>
          <p:cNvSpPr/>
          <p:nvPr/>
        </p:nvSpPr>
        <p:spPr>
          <a:xfrm>
            <a:off x="502920" y="6419088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5F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TECH  ·  WEB3 LAB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11201400" y="636422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02920" y="6281928"/>
            <a:ext cx="11155680" cy="0"/>
          </a:xfrm>
          <a:prstGeom prst="line">
            <a:avLst/>
          </a:prstGeom>
          <a:noFill/>
          <a:ln w="8890">
            <a:solidFill>
              <a:srgbClr val="22324A">
                <a:alpha val="6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685800"/>
            <a:ext cx="2926080" cy="2926080"/>
          </a:xfrm>
          <a:prstGeom prst="arc">
            <a:avLst/>
          </a:prstGeom>
          <a:noFill/>
          <a:ln w="15240">
            <a:solidFill>
              <a:srgbClr val="35D5FF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822960" y="4983480"/>
            <a:ext cx="2194560" cy="2194560"/>
          </a:xfrm>
          <a:prstGeom prst="arc">
            <a:avLst/>
          </a:prstGeom>
          <a:noFill/>
          <a:ln w="13970">
            <a:solidFill>
              <a:srgbClr val="8F5BFF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7452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7804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0392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2980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5568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914400"/>
            <a:ext cx="11155680" cy="0"/>
          </a:xfrm>
          <a:prstGeom prst="line">
            <a:avLst/>
          </a:prstGeom>
          <a:noFill/>
          <a:ln w="5080">
            <a:solidFill>
              <a:srgbClr val="22324A">
                <a:alpha val="1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057400"/>
            <a:ext cx="11155680" cy="0"/>
          </a:xfrm>
          <a:prstGeom prst="line">
            <a:avLst/>
          </a:prstGeom>
          <a:noFill/>
          <a:ln w="5080">
            <a:solidFill>
              <a:srgbClr val="22324A">
                <a:alpha val="1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200400"/>
            <a:ext cx="11155680" cy="0"/>
          </a:xfrm>
          <a:prstGeom prst="line">
            <a:avLst/>
          </a:prstGeom>
          <a:noFill/>
          <a:ln w="5080">
            <a:solidFill>
              <a:srgbClr val="22324A">
                <a:alpha val="1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343400"/>
            <a:ext cx="11155680" cy="0"/>
          </a:xfrm>
          <a:prstGeom prst="line">
            <a:avLst/>
          </a:prstGeom>
          <a:noFill/>
          <a:ln w="5080">
            <a:solidFill>
              <a:srgbClr val="22324A">
                <a:alpha val="1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5486400"/>
            <a:ext cx="11155680" cy="0"/>
          </a:xfrm>
          <a:prstGeom prst="line">
            <a:avLst/>
          </a:prstGeom>
          <a:noFill/>
          <a:ln w="5080">
            <a:solidFill>
              <a:srgbClr val="22324A">
                <a:alpha val="14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512064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35D5FF"/>
                </a:solidFill>
              </a:rPr>
              <a:t>ATLAS TECH WEB3 LAB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640080" y="841248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Flujo técnico Energy &amp; ESG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58368" y="1664208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FB2C8"/>
                </a:solidFill>
              </a:rPr>
              <a:t>Del medidor al certificado: datos energéticos trazables, auditables y accionables.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2788920"/>
            <a:ext cx="1874520" cy="1078992"/>
          </a:xfrm>
          <a:prstGeom prst="roundRect">
            <a:avLst>
              <a:gd name="adj" fmla="val 11017"/>
            </a:avLst>
          </a:prstGeom>
          <a:solidFill>
            <a:srgbClr val="101827"/>
          </a:solidFill>
          <a:ln w="12700">
            <a:solidFill>
              <a:srgbClr val="2EF2A5">
                <a:alpha val="6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2926080"/>
            <a:ext cx="1655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BFF"/>
                </a:solidFill>
              </a:rPr>
              <a:t>IoT / Medidores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04672" y="3264408"/>
            <a:ext cx="1545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9FB2C8"/>
                </a:solidFill>
              </a:rPr>
              <a:t>sensores, inversores, gateways</a:t>
            </a:r>
            <a:endParaRPr lang="en-US" sz="730" dirty="0"/>
          </a:p>
        </p:txBody>
      </p:sp>
      <p:sp>
        <p:nvSpPr>
          <p:cNvPr id="25" name="Shape 23"/>
          <p:cNvSpPr/>
          <p:nvPr/>
        </p:nvSpPr>
        <p:spPr>
          <a:xfrm>
            <a:off x="2505456" y="3328416"/>
            <a:ext cx="438912" cy="0"/>
          </a:xfrm>
          <a:prstGeom prst="line">
            <a:avLst/>
          </a:prstGeom>
          <a:noFill/>
          <a:ln w="16510">
            <a:solidFill>
              <a:srgbClr val="35D5FF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2971800" y="2788920"/>
            <a:ext cx="1874520" cy="1078992"/>
          </a:xfrm>
          <a:prstGeom prst="roundRect">
            <a:avLst>
              <a:gd name="adj" fmla="val 11017"/>
            </a:avLst>
          </a:prstGeom>
          <a:solidFill>
            <a:srgbClr val="101827"/>
          </a:solidFill>
          <a:ln w="12700">
            <a:solidFill>
              <a:srgbClr val="35D5FF">
                <a:alpha val="6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81528" y="2926080"/>
            <a:ext cx="1655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BFF"/>
                </a:solidFill>
              </a:rPr>
              <a:t>Atlas Energy API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136392" y="3264408"/>
            <a:ext cx="1545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9FB2C8"/>
                </a:solidFill>
              </a:rPr>
              <a:t>validación y normalización</a:t>
            </a:r>
            <a:endParaRPr lang="en-US" sz="730" dirty="0"/>
          </a:p>
        </p:txBody>
      </p:sp>
      <p:sp>
        <p:nvSpPr>
          <p:cNvPr id="29" name="Shape 27"/>
          <p:cNvSpPr/>
          <p:nvPr/>
        </p:nvSpPr>
        <p:spPr>
          <a:xfrm>
            <a:off x="4837176" y="3328416"/>
            <a:ext cx="438912" cy="0"/>
          </a:xfrm>
          <a:prstGeom prst="line">
            <a:avLst/>
          </a:prstGeom>
          <a:noFill/>
          <a:ln w="16510">
            <a:solidFill>
              <a:srgbClr val="35D5FF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303520" y="2788920"/>
            <a:ext cx="1874520" cy="1078992"/>
          </a:xfrm>
          <a:prstGeom prst="roundRect">
            <a:avLst>
              <a:gd name="adj" fmla="val 11017"/>
            </a:avLst>
          </a:prstGeom>
          <a:solidFill>
            <a:srgbClr val="101827"/>
          </a:solidFill>
          <a:ln w="12700">
            <a:solidFill>
              <a:srgbClr val="35D5FF">
                <a:alpha val="6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13248" y="2926080"/>
            <a:ext cx="1655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BFF"/>
                </a:solidFill>
              </a:rPr>
              <a:t>Energy Ledger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468112" y="3264408"/>
            <a:ext cx="1545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9FB2C8"/>
                </a:solidFill>
              </a:rPr>
              <a:t>eventos y balances</a:t>
            </a:r>
            <a:endParaRPr lang="en-US" sz="730" dirty="0"/>
          </a:p>
        </p:txBody>
      </p:sp>
      <p:sp>
        <p:nvSpPr>
          <p:cNvPr id="33" name="Shape 31"/>
          <p:cNvSpPr/>
          <p:nvPr/>
        </p:nvSpPr>
        <p:spPr>
          <a:xfrm>
            <a:off x="7168896" y="3328416"/>
            <a:ext cx="438912" cy="0"/>
          </a:xfrm>
          <a:prstGeom prst="line">
            <a:avLst/>
          </a:prstGeom>
          <a:noFill/>
          <a:ln w="16510">
            <a:solidFill>
              <a:srgbClr val="35D5FF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635240" y="2788920"/>
            <a:ext cx="1874520" cy="1078992"/>
          </a:xfrm>
          <a:prstGeom prst="roundRect">
            <a:avLst>
              <a:gd name="adj" fmla="val 11017"/>
            </a:avLst>
          </a:prstGeom>
          <a:solidFill>
            <a:srgbClr val="101827"/>
          </a:solidFill>
          <a:ln w="12700">
            <a:solidFill>
              <a:srgbClr val="35D5FF">
                <a:alpha val="6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44968" y="2926080"/>
            <a:ext cx="1655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BFF"/>
                </a:solidFill>
              </a:rPr>
              <a:t>Blockchain Anchor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799832" y="3264408"/>
            <a:ext cx="1545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9FB2C8"/>
                </a:solidFill>
              </a:rPr>
              <a:t>hashes y prueba de integridad</a:t>
            </a:r>
            <a:endParaRPr lang="en-US" sz="730" dirty="0"/>
          </a:p>
        </p:txBody>
      </p:sp>
      <p:sp>
        <p:nvSpPr>
          <p:cNvPr id="37" name="Shape 35"/>
          <p:cNvSpPr/>
          <p:nvPr/>
        </p:nvSpPr>
        <p:spPr>
          <a:xfrm>
            <a:off x="9500616" y="3328416"/>
            <a:ext cx="438912" cy="0"/>
          </a:xfrm>
          <a:prstGeom prst="line">
            <a:avLst/>
          </a:prstGeom>
          <a:noFill/>
          <a:ln w="16510">
            <a:solidFill>
              <a:srgbClr val="35D5FF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9966960" y="2788920"/>
            <a:ext cx="1874520" cy="1078992"/>
          </a:xfrm>
          <a:prstGeom prst="roundRect">
            <a:avLst>
              <a:gd name="adj" fmla="val 11017"/>
            </a:avLst>
          </a:prstGeom>
          <a:solidFill>
            <a:srgbClr val="101827"/>
          </a:solidFill>
          <a:ln w="12700">
            <a:solidFill>
              <a:srgbClr val="FFC857">
                <a:alpha val="6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076688" y="2926080"/>
            <a:ext cx="1655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BFF"/>
                </a:solidFill>
              </a:rPr>
              <a:t>Valor Digital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0131552" y="3264408"/>
            <a:ext cx="1545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9FB2C8"/>
                </a:solidFill>
              </a:rPr>
              <a:t>certificados, créditos, reportes</a:t>
            </a:r>
            <a:endParaRPr lang="en-US" sz="730" dirty="0"/>
          </a:p>
        </p:txBody>
      </p:sp>
      <p:sp>
        <p:nvSpPr>
          <p:cNvPr id="41" name="Shape 39"/>
          <p:cNvSpPr/>
          <p:nvPr/>
        </p:nvSpPr>
        <p:spPr>
          <a:xfrm>
            <a:off x="1051560" y="4846320"/>
            <a:ext cx="10012680" cy="777240"/>
          </a:xfrm>
          <a:prstGeom prst="roundRect">
            <a:avLst>
              <a:gd name="adj" fmla="val 17647"/>
            </a:avLst>
          </a:prstGeom>
          <a:solidFill>
            <a:srgbClr val="0F1726"/>
          </a:solidFill>
          <a:ln w="12700">
            <a:solidFill>
              <a:srgbClr val="2EF2A5">
                <a:alpha val="4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325880" y="5102352"/>
            <a:ext cx="9418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9FB2C8"/>
                </a:solidFill>
              </a:rPr>
              <a:t>Arquitectura recomendada: ledger empresarial primero; blockchain pública o privada como capa de verificación cuando el caso de uso lo justifique.</a:t>
            </a:r>
            <a:endParaRPr lang="en-US" sz="1080" dirty="0"/>
          </a:p>
        </p:txBody>
      </p:sp>
      <p:sp>
        <p:nvSpPr>
          <p:cNvPr id="43" name="Text 41"/>
          <p:cNvSpPr/>
          <p:nvPr/>
        </p:nvSpPr>
        <p:spPr>
          <a:xfrm>
            <a:off x="502920" y="6419088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5F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TECH  ·  WEB3 LAB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11201400" y="636422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02920" y="6281928"/>
            <a:ext cx="11155680" cy="0"/>
          </a:xfrm>
          <a:prstGeom prst="line">
            <a:avLst/>
          </a:prstGeom>
          <a:noFill/>
          <a:ln w="8890">
            <a:solidFill>
              <a:srgbClr val="22324A">
                <a:alpha val="6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685800"/>
            <a:ext cx="2926080" cy="2926080"/>
          </a:xfrm>
          <a:prstGeom prst="arc">
            <a:avLst/>
          </a:prstGeom>
          <a:noFill/>
          <a:ln w="15240">
            <a:solidFill>
              <a:srgbClr val="35D5FF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822960" y="4983480"/>
            <a:ext cx="2194560" cy="2194560"/>
          </a:xfrm>
          <a:prstGeom prst="arc">
            <a:avLst/>
          </a:prstGeom>
          <a:noFill/>
          <a:ln w="13970">
            <a:solidFill>
              <a:srgbClr val="8F5BFF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7452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7804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0392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2980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5568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914400"/>
            <a:ext cx="11155680" cy="0"/>
          </a:xfrm>
          <a:prstGeom prst="line">
            <a:avLst/>
          </a:prstGeom>
          <a:noFill/>
          <a:ln w="5080">
            <a:solidFill>
              <a:srgbClr val="22324A">
                <a:alpha val="1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057400"/>
            <a:ext cx="11155680" cy="0"/>
          </a:xfrm>
          <a:prstGeom prst="line">
            <a:avLst/>
          </a:prstGeom>
          <a:noFill/>
          <a:ln w="5080">
            <a:solidFill>
              <a:srgbClr val="22324A">
                <a:alpha val="1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200400"/>
            <a:ext cx="11155680" cy="0"/>
          </a:xfrm>
          <a:prstGeom prst="line">
            <a:avLst/>
          </a:prstGeom>
          <a:noFill/>
          <a:ln w="5080">
            <a:solidFill>
              <a:srgbClr val="22324A">
                <a:alpha val="1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343400"/>
            <a:ext cx="11155680" cy="0"/>
          </a:xfrm>
          <a:prstGeom prst="line">
            <a:avLst/>
          </a:prstGeom>
          <a:noFill/>
          <a:ln w="5080">
            <a:solidFill>
              <a:srgbClr val="22324A">
                <a:alpha val="1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5486400"/>
            <a:ext cx="11155680" cy="0"/>
          </a:xfrm>
          <a:prstGeom prst="line">
            <a:avLst/>
          </a:prstGeom>
          <a:noFill/>
          <a:ln w="5080">
            <a:solidFill>
              <a:srgbClr val="22324A">
                <a:alpha val="14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512064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35D5FF"/>
                </a:solidFill>
              </a:rPr>
              <a:t>ATLAS TECH WEB3 LAB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640080" y="841248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Productos Web3 que Atlas puede empaquetar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58368" y="1664208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FB2C8"/>
                </a:solidFill>
              </a:rPr>
              <a:t>Ofertas claras para vender rápido sin sobrediseñar la tecnología.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68680" y="1993392"/>
            <a:ext cx="4828032" cy="932688"/>
          </a:xfrm>
          <a:prstGeom prst="roundRect">
            <a:avLst>
              <a:gd name="adj" fmla="val 11765"/>
            </a:avLst>
          </a:prstGeom>
          <a:solidFill>
            <a:srgbClr val="0F1726"/>
          </a:solidFill>
          <a:ln w="12700">
            <a:solidFill>
              <a:srgbClr val="2EF2A5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" y="1993392"/>
            <a:ext cx="50292" cy="932688"/>
          </a:xfrm>
          <a:prstGeom prst="rect">
            <a:avLst/>
          </a:prstGeom>
          <a:solidFill>
            <a:srgbClr val="2EF2A5"/>
          </a:solidFill>
          <a:ln w="12700">
            <a:solidFill>
              <a:srgbClr val="2EF2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" y="2176272"/>
            <a:ext cx="4416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 Cashback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1097280" y="2596896"/>
            <a:ext cx="440740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9FB2C8"/>
                </a:solidFill>
              </a:rPr>
              <a:t>Cashback + loyalty conectado a POS, ERP y e-commerce.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6355080" y="1993392"/>
            <a:ext cx="4828032" cy="932688"/>
          </a:xfrm>
          <a:prstGeom prst="roundRect">
            <a:avLst>
              <a:gd name="adj" fmla="val 11765"/>
            </a:avLst>
          </a:prstGeom>
          <a:solidFill>
            <a:srgbClr val="0F1726"/>
          </a:solidFill>
          <a:ln w="12700">
            <a:solidFill>
              <a:srgbClr val="2EF2A5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55080" y="1993392"/>
            <a:ext cx="50292" cy="932688"/>
          </a:xfrm>
          <a:prstGeom prst="rect">
            <a:avLst/>
          </a:prstGeom>
          <a:solidFill>
            <a:srgbClr val="2EF2A5"/>
          </a:solidFill>
          <a:ln w="12700">
            <a:solidFill>
              <a:srgbClr val="2EF2A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2176272"/>
            <a:ext cx="4416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Atlas Energy Ledger</a:t>
            </a:r>
            <a:endParaRPr lang="en-US" sz="1320" dirty="0"/>
          </a:p>
        </p:txBody>
      </p:sp>
      <p:sp>
        <p:nvSpPr>
          <p:cNvPr id="29" name="Text 27"/>
          <p:cNvSpPr/>
          <p:nvPr/>
        </p:nvSpPr>
        <p:spPr>
          <a:xfrm>
            <a:off x="6583680" y="2596896"/>
            <a:ext cx="440740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9FB2C8"/>
                </a:solidFill>
              </a:rPr>
              <a:t>Registro verificable para generación, consumo y ahorro.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868680" y="3291840"/>
            <a:ext cx="4828032" cy="932688"/>
          </a:xfrm>
          <a:prstGeom prst="roundRect">
            <a:avLst>
              <a:gd name="adj" fmla="val 11765"/>
            </a:avLst>
          </a:prstGeom>
          <a:solidFill>
            <a:srgbClr val="0F1726"/>
          </a:solidFill>
          <a:ln w="12700">
            <a:solidFill>
              <a:srgbClr val="35D5FF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8680" y="3291840"/>
            <a:ext cx="50292" cy="932688"/>
          </a:xfrm>
          <a:prstGeom prst="rect">
            <a:avLst/>
          </a:prstGeom>
          <a:solidFill>
            <a:srgbClr val="35D5FF"/>
          </a:solidFill>
          <a:ln w="12700">
            <a:solidFill>
              <a:srgbClr val="35D5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97280" y="3474720"/>
            <a:ext cx="4416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Atlas Green Certificates</a:t>
            </a:r>
            <a:endParaRPr lang="en-US" sz="1320" dirty="0"/>
          </a:p>
        </p:txBody>
      </p:sp>
      <p:sp>
        <p:nvSpPr>
          <p:cNvPr id="33" name="Text 31"/>
          <p:cNvSpPr/>
          <p:nvPr/>
        </p:nvSpPr>
        <p:spPr>
          <a:xfrm>
            <a:off x="1097280" y="3895344"/>
            <a:ext cx="440740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9FB2C8"/>
                </a:solidFill>
              </a:rPr>
              <a:t>Certificados digitales para evidencia energética y ESG.</a:t>
            </a:r>
            <a:endParaRPr lang="en-US" sz="940" dirty="0"/>
          </a:p>
        </p:txBody>
      </p:sp>
      <p:sp>
        <p:nvSpPr>
          <p:cNvPr id="34" name="Shape 32"/>
          <p:cNvSpPr/>
          <p:nvPr/>
        </p:nvSpPr>
        <p:spPr>
          <a:xfrm>
            <a:off x="6355080" y="3291840"/>
            <a:ext cx="4828032" cy="932688"/>
          </a:xfrm>
          <a:prstGeom prst="roundRect">
            <a:avLst>
              <a:gd name="adj" fmla="val 11765"/>
            </a:avLst>
          </a:prstGeom>
          <a:solidFill>
            <a:srgbClr val="0F1726"/>
          </a:solidFill>
          <a:ln w="12700">
            <a:solidFill>
              <a:srgbClr val="8F5BFF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55080" y="3291840"/>
            <a:ext cx="50292" cy="932688"/>
          </a:xfrm>
          <a:prstGeom prst="rect">
            <a:avLst/>
          </a:prstGeom>
          <a:solidFill>
            <a:srgbClr val="8F5BFF"/>
          </a:solidFill>
          <a:ln w="12700">
            <a:solidFill>
              <a:srgbClr val="8F5B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0" y="3474720"/>
            <a:ext cx="4416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Atlas Governance</a:t>
            </a:r>
            <a:endParaRPr lang="en-US" sz="1320" dirty="0"/>
          </a:p>
        </p:txBody>
      </p:sp>
      <p:sp>
        <p:nvSpPr>
          <p:cNvPr id="37" name="Text 35"/>
          <p:cNvSpPr/>
          <p:nvPr/>
        </p:nvSpPr>
        <p:spPr>
          <a:xfrm>
            <a:off x="6583680" y="3895344"/>
            <a:ext cx="440740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9FB2C8"/>
                </a:solidFill>
              </a:rPr>
              <a:t>Votaciones internas y gobernanza verificable.</a:t>
            </a:r>
            <a:endParaRPr lang="en-US" sz="940" dirty="0"/>
          </a:p>
        </p:txBody>
      </p:sp>
      <p:sp>
        <p:nvSpPr>
          <p:cNvPr id="38" name="Shape 36"/>
          <p:cNvSpPr/>
          <p:nvPr/>
        </p:nvSpPr>
        <p:spPr>
          <a:xfrm>
            <a:off x="868680" y="4590288"/>
            <a:ext cx="4828032" cy="932688"/>
          </a:xfrm>
          <a:prstGeom prst="roundRect">
            <a:avLst>
              <a:gd name="adj" fmla="val 11765"/>
            </a:avLst>
          </a:prstGeom>
          <a:solidFill>
            <a:srgbClr val="0F1726"/>
          </a:solidFill>
          <a:ln w="12700">
            <a:solidFill>
              <a:srgbClr val="FFC857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68680" y="4590288"/>
            <a:ext cx="50292" cy="932688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97280" y="4773168"/>
            <a:ext cx="4416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Atlas Token Studio</a:t>
            </a:r>
            <a:endParaRPr lang="en-US" sz="1320" dirty="0"/>
          </a:p>
        </p:txBody>
      </p:sp>
      <p:sp>
        <p:nvSpPr>
          <p:cNvPr id="41" name="Text 39"/>
          <p:cNvSpPr/>
          <p:nvPr/>
        </p:nvSpPr>
        <p:spPr>
          <a:xfrm>
            <a:off x="1097280" y="5193792"/>
            <a:ext cx="440740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9FB2C8"/>
                </a:solidFill>
              </a:rPr>
              <a:t>Diseño de tokens utilitarios, membresías y créditos.</a:t>
            </a:r>
            <a:endParaRPr lang="en-US" sz="940" dirty="0"/>
          </a:p>
        </p:txBody>
      </p:sp>
      <p:sp>
        <p:nvSpPr>
          <p:cNvPr id="42" name="Shape 40"/>
          <p:cNvSpPr/>
          <p:nvPr/>
        </p:nvSpPr>
        <p:spPr>
          <a:xfrm>
            <a:off x="6355080" y="4590288"/>
            <a:ext cx="4828032" cy="932688"/>
          </a:xfrm>
          <a:prstGeom prst="roundRect">
            <a:avLst>
              <a:gd name="adj" fmla="val 11765"/>
            </a:avLst>
          </a:prstGeom>
          <a:solidFill>
            <a:srgbClr val="0F1726"/>
          </a:solidFill>
          <a:ln w="12700">
            <a:solidFill>
              <a:srgbClr val="35D5FF">
                <a:alpha val="4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55080" y="4590288"/>
            <a:ext cx="50292" cy="932688"/>
          </a:xfrm>
          <a:prstGeom prst="rect">
            <a:avLst/>
          </a:prstGeom>
          <a:solidFill>
            <a:srgbClr val="35D5FF"/>
          </a:solidFill>
          <a:ln w="12700">
            <a:solidFill>
              <a:srgbClr val="35D5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83680" y="4773168"/>
            <a:ext cx="4416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Atlas ESG Chain</a:t>
            </a:r>
            <a:endParaRPr lang="en-US" sz="1320" dirty="0"/>
          </a:p>
        </p:txBody>
      </p:sp>
      <p:sp>
        <p:nvSpPr>
          <p:cNvPr id="45" name="Text 43"/>
          <p:cNvSpPr/>
          <p:nvPr/>
        </p:nvSpPr>
        <p:spPr>
          <a:xfrm>
            <a:off x="6583680" y="5193792"/>
            <a:ext cx="440740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9FB2C8"/>
                </a:solidFill>
              </a:rPr>
              <a:t>Evidencia auditable para sustentabilidad y cumplimiento.</a:t>
            </a:r>
            <a:endParaRPr lang="en-US" sz="940" dirty="0"/>
          </a:p>
        </p:txBody>
      </p:sp>
      <p:sp>
        <p:nvSpPr>
          <p:cNvPr id="46" name="Text 44"/>
          <p:cNvSpPr/>
          <p:nvPr/>
        </p:nvSpPr>
        <p:spPr>
          <a:xfrm>
            <a:off x="502920" y="6419088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5F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TECH  ·  WEB3 LAB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11201400" y="636422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02920" y="6281928"/>
            <a:ext cx="11155680" cy="0"/>
          </a:xfrm>
          <a:prstGeom prst="line">
            <a:avLst/>
          </a:prstGeom>
          <a:noFill/>
          <a:ln w="8890">
            <a:solidFill>
              <a:srgbClr val="22324A">
                <a:alpha val="6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685800"/>
            <a:ext cx="2926080" cy="2926080"/>
          </a:xfrm>
          <a:prstGeom prst="arc">
            <a:avLst/>
          </a:prstGeom>
          <a:noFill/>
          <a:ln w="15240">
            <a:solidFill>
              <a:srgbClr val="35D5FF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822960" y="4983480"/>
            <a:ext cx="2194560" cy="2194560"/>
          </a:xfrm>
          <a:prstGeom prst="arc">
            <a:avLst/>
          </a:prstGeom>
          <a:noFill/>
          <a:ln w="13970">
            <a:solidFill>
              <a:srgbClr val="8F5BFF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7452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7804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0392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2980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5568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914400"/>
            <a:ext cx="11155680" cy="0"/>
          </a:xfrm>
          <a:prstGeom prst="line">
            <a:avLst/>
          </a:prstGeom>
          <a:noFill/>
          <a:ln w="5080">
            <a:solidFill>
              <a:srgbClr val="22324A">
                <a:alpha val="1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057400"/>
            <a:ext cx="11155680" cy="0"/>
          </a:xfrm>
          <a:prstGeom prst="line">
            <a:avLst/>
          </a:prstGeom>
          <a:noFill/>
          <a:ln w="5080">
            <a:solidFill>
              <a:srgbClr val="22324A">
                <a:alpha val="1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200400"/>
            <a:ext cx="11155680" cy="0"/>
          </a:xfrm>
          <a:prstGeom prst="line">
            <a:avLst/>
          </a:prstGeom>
          <a:noFill/>
          <a:ln w="5080">
            <a:solidFill>
              <a:srgbClr val="22324A">
                <a:alpha val="1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343400"/>
            <a:ext cx="11155680" cy="0"/>
          </a:xfrm>
          <a:prstGeom prst="line">
            <a:avLst/>
          </a:prstGeom>
          <a:noFill/>
          <a:ln w="5080">
            <a:solidFill>
              <a:srgbClr val="22324A">
                <a:alpha val="1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5486400"/>
            <a:ext cx="11155680" cy="0"/>
          </a:xfrm>
          <a:prstGeom prst="line">
            <a:avLst/>
          </a:prstGeom>
          <a:noFill/>
          <a:ln w="5080">
            <a:solidFill>
              <a:srgbClr val="22324A">
                <a:alpha val="14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512064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35D5FF"/>
                </a:solidFill>
              </a:rPr>
              <a:t>ATLAS TECH WEB3 LAB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640080" y="841248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Arquitectura de referencia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58368" y="1664208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FB2C8"/>
                </a:solidFill>
              </a:rPr>
              <a:t>Una capa Web3 empresarial conectada al stack Atlas.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1280160" y="1920240"/>
            <a:ext cx="9601200" cy="658368"/>
          </a:xfrm>
          <a:prstGeom prst="roundRect">
            <a:avLst>
              <a:gd name="adj" fmla="val 18056"/>
            </a:avLst>
          </a:prstGeom>
          <a:solidFill>
            <a:srgbClr val="111D31"/>
          </a:solidFill>
          <a:ln w="11430">
            <a:solidFill>
              <a:srgbClr val="35D5FF">
                <a:alpha val="5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72768" y="212140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7FBFF"/>
                </a:solidFill>
              </a:rPr>
              <a:t>Frontend / dApp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114800" y="2121408"/>
            <a:ext cx="6263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9FB2C8"/>
                </a:solidFill>
              </a:rPr>
              <a:t>React · UX · dashboards · wallets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1280160" y="2852928"/>
            <a:ext cx="9601200" cy="658368"/>
          </a:xfrm>
          <a:prstGeom prst="roundRect">
            <a:avLst>
              <a:gd name="adj" fmla="val 18056"/>
            </a:avLst>
          </a:prstGeom>
          <a:solidFill>
            <a:srgbClr val="0F1726"/>
          </a:solidFill>
          <a:ln w="11430">
            <a:solidFill>
              <a:srgbClr val="8F5BFF">
                <a:alpha val="5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72768" y="305409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7FBFF"/>
                </a:solidFill>
              </a:rPr>
              <a:t>API &amp; Business Logic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114800" y="3054096"/>
            <a:ext cx="6263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9FB2C8"/>
                </a:solidFill>
              </a:rPr>
              <a:t>FastAPI · auth · roles · reglas · integraciones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1280160" y="3785616"/>
            <a:ext cx="9601200" cy="658368"/>
          </a:xfrm>
          <a:prstGeom prst="roundRect">
            <a:avLst>
              <a:gd name="adj" fmla="val 18056"/>
            </a:avLst>
          </a:prstGeom>
          <a:solidFill>
            <a:srgbClr val="111D31"/>
          </a:solidFill>
          <a:ln w="11430">
            <a:solidFill>
              <a:srgbClr val="2EF2A5">
                <a:alpha val="5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572768" y="398678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7FBFF"/>
                </a:solidFill>
              </a:rPr>
              <a:t>Ledger &amp; Data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114800" y="3986784"/>
            <a:ext cx="6263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9FB2C8"/>
                </a:solidFill>
              </a:rPr>
              <a:t>PostgreSQL · eventos · auditoría · reportes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1280160" y="4718304"/>
            <a:ext cx="9601200" cy="658368"/>
          </a:xfrm>
          <a:prstGeom prst="roundRect">
            <a:avLst>
              <a:gd name="adj" fmla="val 18056"/>
            </a:avLst>
          </a:prstGeom>
          <a:solidFill>
            <a:srgbClr val="0F1726"/>
          </a:solidFill>
          <a:ln w="11430">
            <a:solidFill>
              <a:srgbClr val="FFC857">
                <a:alpha val="5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72768" y="49194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7FBFF"/>
                </a:solidFill>
              </a:rPr>
              <a:t>Blockchain Layer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114800" y="4919472"/>
            <a:ext cx="6263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9FB2C8"/>
                </a:solidFill>
              </a:rPr>
              <a:t>Solidity · EVM · anchoring · smart contracts</a:t>
            </a:r>
            <a:endParaRPr lang="en-US" sz="1020" dirty="0"/>
          </a:p>
        </p:txBody>
      </p:sp>
      <p:sp>
        <p:nvSpPr>
          <p:cNvPr id="34" name="Text 32"/>
          <p:cNvSpPr/>
          <p:nvPr/>
        </p:nvSpPr>
        <p:spPr>
          <a:xfrm>
            <a:off x="1417320" y="5669280"/>
            <a:ext cx="9235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9FB2C8"/>
                </a:solidFill>
              </a:rPr>
              <a:t>Principio de diseño: blockchain donde aporta confianza; base de datos donde aporta velocidad; API donde conecta negocio.</a:t>
            </a:r>
            <a:endParaRPr lang="en-US" sz="1080" dirty="0"/>
          </a:p>
        </p:txBody>
      </p:sp>
      <p:sp>
        <p:nvSpPr>
          <p:cNvPr id="35" name="Text 33"/>
          <p:cNvSpPr/>
          <p:nvPr/>
        </p:nvSpPr>
        <p:spPr>
          <a:xfrm>
            <a:off x="502920" y="6419088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5F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TECH  ·  WEB3 LAB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11201400" y="636422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02920" y="6281928"/>
            <a:ext cx="11155680" cy="0"/>
          </a:xfrm>
          <a:prstGeom prst="line">
            <a:avLst/>
          </a:prstGeom>
          <a:noFill/>
          <a:ln w="8890">
            <a:solidFill>
              <a:srgbClr val="22324A">
                <a:alpha val="6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685800"/>
            <a:ext cx="2926080" cy="2926080"/>
          </a:xfrm>
          <a:prstGeom prst="arc">
            <a:avLst/>
          </a:prstGeom>
          <a:noFill/>
          <a:ln w="15240">
            <a:solidFill>
              <a:srgbClr val="35D5FF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822960" y="4983480"/>
            <a:ext cx="2194560" cy="2194560"/>
          </a:xfrm>
          <a:prstGeom prst="arc">
            <a:avLst/>
          </a:prstGeom>
          <a:noFill/>
          <a:ln w="13970">
            <a:solidFill>
              <a:srgbClr val="8F5BFF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7452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7804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0392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2980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5568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914400"/>
            <a:ext cx="11155680" cy="0"/>
          </a:xfrm>
          <a:prstGeom prst="line">
            <a:avLst/>
          </a:prstGeom>
          <a:noFill/>
          <a:ln w="5080">
            <a:solidFill>
              <a:srgbClr val="22324A">
                <a:alpha val="1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057400"/>
            <a:ext cx="11155680" cy="0"/>
          </a:xfrm>
          <a:prstGeom prst="line">
            <a:avLst/>
          </a:prstGeom>
          <a:noFill/>
          <a:ln w="5080">
            <a:solidFill>
              <a:srgbClr val="22324A">
                <a:alpha val="1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200400"/>
            <a:ext cx="11155680" cy="0"/>
          </a:xfrm>
          <a:prstGeom prst="line">
            <a:avLst/>
          </a:prstGeom>
          <a:noFill/>
          <a:ln w="5080">
            <a:solidFill>
              <a:srgbClr val="22324A">
                <a:alpha val="1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343400"/>
            <a:ext cx="11155680" cy="0"/>
          </a:xfrm>
          <a:prstGeom prst="line">
            <a:avLst/>
          </a:prstGeom>
          <a:noFill/>
          <a:ln w="5080">
            <a:solidFill>
              <a:srgbClr val="22324A">
                <a:alpha val="1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5486400"/>
            <a:ext cx="11155680" cy="0"/>
          </a:xfrm>
          <a:prstGeom prst="line">
            <a:avLst/>
          </a:prstGeom>
          <a:noFill/>
          <a:ln w="5080">
            <a:solidFill>
              <a:srgbClr val="22324A">
                <a:alpha val="14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512064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35D5FF"/>
                </a:solidFill>
              </a:rPr>
              <a:t>ATLAS TECH WEB3 LAB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640080" y="841248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Modelos de contratación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58368" y="1664208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FB2C8"/>
                </a:solidFill>
              </a:rPr>
              <a:t>Ofertas empaquetadas para distintos niveles de madurez.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31520" y="2057400"/>
            <a:ext cx="3246120" cy="2514600"/>
          </a:xfrm>
          <a:prstGeom prst="roundRect">
            <a:avLst>
              <a:gd name="adj" fmla="val 4364"/>
            </a:avLst>
          </a:prstGeom>
          <a:solidFill>
            <a:srgbClr val="0F1726"/>
          </a:solidFill>
          <a:ln w="12700">
            <a:solidFill>
              <a:srgbClr val="35D5FF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2057400"/>
            <a:ext cx="50292" cy="2514600"/>
          </a:xfrm>
          <a:prstGeom prst="rect">
            <a:avLst/>
          </a:prstGeom>
          <a:solidFill>
            <a:srgbClr val="35D5FF"/>
          </a:solidFill>
          <a:ln w="12700">
            <a:solidFill>
              <a:srgbClr val="35D5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22402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 · Web3 Discovery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960120" y="2660904"/>
            <a:ext cx="2825496" cy="1728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9FB2C8"/>
                </a:solidFill>
              </a:rPr>
              <a:t>Diagnóstico, caso de negocio, arquitectura inicial, riesgos y roadmap MVP.</a:t>
            </a:r>
            <a:endParaRPr lang="en-US" sz="940" dirty="0"/>
          </a:p>
          <a:p>
            <a:pPr indent="0" marL="0">
              <a:buNone/>
            </a:pP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9FB2C8"/>
                </a:solidFill>
              </a:rPr>
              <a:t>Ideal para validar si blockchain realmente aporta valor.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4462272" y="2057400"/>
            <a:ext cx="3246120" cy="2514600"/>
          </a:xfrm>
          <a:prstGeom prst="roundRect">
            <a:avLst>
              <a:gd name="adj" fmla="val 4364"/>
            </a:avLst>
          </a:prstGeom>
          <a:solidFill>
            <a:srgbClr val="0F1726"/>
          </a:solidFill>
          <a:ln w="12700">
            <a:solidFill>
              <a:srgbClr val="2EF2A5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62272" y="2057400"/>
            <a:ext cx="50292" cy="2514600"/>
          </a:xfrm>
          <a:prstGeom prst="rect">
            <a:avLst/>
          </a:prstGeom>
          <a:solidFill>
            <a:srgbClr val="2EF2A5"/>
          </a:solidFill>
          <a:ln w="12700">
            <a:solidFill>
              <a:srgbClr val="2EF2A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90872" y="22402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 · MVP Build</a:t>
            </a:r>
            <a:endParaRPr lang="en-US" sz="1320" dirty="0"/>
          </a:p>
        </p:txBody>
      </p:sp>
      <p:sp>
        <p:nvSpPr>
          <p:cNvPr id="29" name="Text 27"/>
          <p:cNvSpPr/>
          <p:nvPr/>
        </p:nvSpPr>
        <p:spPr>
          <a:xfrm>
            <a:off x="4690872" y="2660904"/>
            <a:ext cx="2825496" cy="1728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9FB2C8"/>
                </a:solidFill>
              </a:rPr>
              <a:t>Desarrollo de prototipo funcional: contratos, API, dApp, ledger y dashboard.</a:t>
            </a:r>
            <a:endParaRPr lang="en-US" sz="940" dirty="0"/>
          </a:p>
          <a:p>
            <a:pPr indent="0" marL="0">
              <a:buNone/>
            </a:pP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9FB2C8"/>
                </a:solidFill>
              </a:rPr>
              <a:t>Ideal para pilotos y pruebas comerciales.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8193024" y="2057400"/>
            <a:ext cx="3246120" cy="2514600"/>
          </a:xfrm>
          <a:prstGeom prst="roundRect">
            <a:avLst>
              <a:gd name="adj" fmla="val 4364"/>
            </a:avLst>
          </a:prstGeom>
          <a:solidFill>
            <a:srgbClr val="0F1726"/>
          </a:solidFill>
          <a:ln w="12700">
            <a:solidFill>
              <a:srgbClr val="8F5BFF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93024" y="2057400"/>
            <a:ext cx="50292" cy="2514600"/>
          </a:xfrm>
          <a:prstGeom prst="rect">
            <a:avLst/>
          </a:prstGeom>
          <a:solidFill>
            <a:srgbClr val="8F5BFF"/>
          </a:solidFill>
          <a:ln w="12700">
            <a:solidFill>
              <a:srgbClr val="8F5B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21624" y="22402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 · Enterprise Build</a:t>
            </a:r>
            <a:endParaRPr lang="en-US" sz="1320" dirty="0"/>
          </a:p>
        </p:txBody>
      </p:sp>
      <p:sp>
        <p:nvSpPr>
          <p:cNvPr id="33" name="Text 31"/>
          <p:cNvSpPr/>
          <p:nvPr/>
        </p:nvSpPr>
        <p:spPr>
          <a:xfrm>
            <a:off x="8421624" y="2660904"/>
            <a:ext cx="2825496" cy="1728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9FB2C8"/>
                </a:solidFill>
              </a:rPr>
              <a:t>Producto completo con integración a sistemas, seguridad, monitoreo, soporte y escalamiento.</a:t>
            </a:r>
            <a:endParaRPr lang="en-US" sz="940" dirty="0"/>
          </a:p>
          <a:p>
            <a:pPr indent="0" marL="0">
              <a:buNone/>
            </a:pP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9FB2C8"/>
                </a:solidFill>
              </a:rPr>
              <a:t>Ideal para operación real.</a:t>
            </a:r>
            <a:endParaRPr lang="en-US" sz="940" dirty="0"/>
          </a:p>
        </p:txBody>
      </p:sp>
      <p:sp>
        <p:nvSpPr>
          <p:cNvPr id="34" name="Text 32"/>
          <p:cNvSpPr/>
          <p:nvPr/>
        </p:nvSpPr>
        <p:spPr>
          <a:xfrm>
            <a:off x="960120" y="523036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FBFF"/>
                </a:solidFill>
              </a:rPr>
              <a:t>Entrega recomendada: empezar con Discovery + MVP para reducir riesgo técnico, legal y comercial.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02920" y="6419088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5F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TECH  ·  WEB3 LAB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11201400" y="636422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02920" y="6281928"/>
            <a:ext cx="11155680" cy="0"/>
          </a:xfrm>
          <a:prstGeom prst="line">
            <a:avLst/>
          </a:prstGeom>
          <a:noFill/>
          <a:ln w="8890">
            <a:solidFill>
              <a:srgbClr val="22324A">
                <a:alpha val="6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685800"/>
            <a:ext cx="2926080" cy="2926080"/>
          </a:xfrm>
          <a:prstGeom prst="arc">
            <a:avLst/>
          </a:prstGeom>
          <a:noFill/>
          <a:ln w="15240">
            <a:solidFill>
              <a:srgbClr val="35D5FF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822960" y="4983480"/>
            <a:ext cx="2194560" cy="2194560"/>
          </a:xfrm>
          <a:prstGeom prst="arc">
            <a:avLst/>
          </a:prstGeom>
          <a:noFill/>
          <a:ln w="13970">
            <a:solidFill>
              <a:srgbClr val="8F5BFF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7452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7804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0392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2980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5568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914400"/>
            <a:ext cx="11155680" cy="0"/>
          </a:xfrm>
          <a:prstGeom prst="line">
            <a:avLst/>
          </a:prstGeom>
          <a:noFill/>
          <a:ln w="5080">
            <a:solidFill>
              <a:srgbClr val="22324A">
                <a:alpha val="1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057400"/>
            <a:ext cx="11155680" cy="0"/>
          </a:xfrm>
          <a:prstGeom prst="line">
            <a:avLst/>
          </a:prstGeom>
          <a:noFill/>
          <a:ln w="5080">
            <a:solidFill>
              <a:srgbClr val="22324A">
                <a:alpha val="1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200400"/>
            <a:ext cx="11155680" cy="0"/>
          </a:xfrm>
          <a:prstGeom prst="line">
            <a:avLst/>
          </a:prstGeom>
          <a:noFill/>
          <a:ln w="5080">
            <a:solidFill>
              <a:srgbClr val="22324A">
                <a:alpha val="1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343400"/>
            <a:ext cx="11155680" cy="0"/>
          </a:xfrm>
          <a:prstGeom prst="line">
            <a:avLst/>
          </a:prstGeom>
          <a:noFill/>
          <a:ln w="5080">
            <a:solidFill>
              <a:srgbClr val="22324A">
                <a:alpha val="1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5486400"/>
            <a:ext cx="11155680" cy="0"/>
          </a:xfrm>
          <a:prstGeom prst="line">
            <a:avLst/>
          </a:prstGeom>
          <a:noFill/>
          <a:ln w="5080">
            <a:solidFill>
              <a:srgbClr val="22324A">
                <a:alpha val="14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512064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35D5FF"/>
                </a:solidFill>
              </a:rPr>
              <a:t>ATLAS TECH WEB3 LAB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640080" y="841248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Autoridad técnica y narrativa founder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58368" y="1664208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FB2C8"/>
                </a:solidFill>
              </a:rPr>
              <a:t>La línea Web3 de Atlas nace de investigación aplicada, no de especulación.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31520" y="2148840"/>
            <a:ext cx="5138928" cy="2194560"/>
          </a:xfrm>
          <a:prstGeom prst="roundRect">
            <a:avLst>
              <a:gd name="adj" fmla="val 5000"/>
            </a:avLst>
          </a:prstGeom>
          <a:solidFill>
            <a:srgbClr val="0F1726"/>
          </a:solidFill>
          <a:ln w="12700">
            <a:solidFill>
              <a:srgbClr val="8F5BFF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2148840"/>
            <a:ext cx="50292" cy="2194560"/>
          </a:xfrm>
          <a:prstGeom prst="rect">
            <a:avLst/>
          </a:prstGeom>
          <a:solidFill>
            <a:srgbClr val="8F5BFF"/>
          </a:solidFill>
          <a:ln w="12700">
            <a:solidFill>
              <a:srgbClr val="8F5B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2331720"/>
            <a:ext cx="4727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 académica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960120" y="2752344"/>
            <a:ext cx="4718304" cy="1408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9FB2C8"/>
                </a:solidFill>
              </a:rPr>
              <a:t>Diseño de sistema de votación electrónica con blockchain, Ethereum, smart contracts, Web3.js, seguridad, privacidad y verificabilidad.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6327648" y="2148840"/>
            <a:ext cx="5138928" cy="2194560"/>
          </a:xfrm>
          <a:prstGeom prst="roundRect">
            <a:avLst>
              <a:gd name="adj" fmla="val 5000"/>
            </a:avLst>
          </a:prstGeom>
          <a:solidFill>
            <a:srgbClr val="0F1726"/>
          </a:solidFill>
          <a:ln w="12700">
            <a:solidFill>
              <a:srgbClr val="2EF2A5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27648" y="2148840"/>
            <a:ext cx="50292" cy="2194560"/>
          </a:xfrm>
          <a:prstGeom prst="rect">
            <a:avLst/>
          </a:prstGeom>
          <a:solidFill>
            <a:srgbClr val="2EF2A5"/>
          </a:solidFill>
          <a:ln w="12700">
            <a:solidFill>
              <a:srgbClr val="2EF2A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56248" y="2331720"/>
            <a:ext cx="4727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Evolución empresarial</a:t>
            </a:r>
            <a:endParaRPr lang="en-US" sz="1320" dirty="0"/>
          </a:p>
        </p:txBody>
      </p:sp>
      <p:sp>
        <p:nvSpPr>
          <p:cNvPr id="29" name="Text 27"/>
          <p:cNvSpPr/>
          <p:nvPr/>
        </p:nvSpPr>
        <p:spPr>
          <a:xfrm>
            <a:off x="6556248" y="2752344"/>
            <a:ext cx="4718304" cy="1408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9FB2C8"/>
                </a:solidFill>
              </a:rPr>
              <a:t>De votaciones verificables a infraestructura para loyalty, energía, ESG, trazabilidad, tokenización y capital programable.</a:t>
            </a:r>
            <a:endParaRPr lang="en-US" sz="940" dirty="0"/>
          </a:p>
        </p:txBody>
      </p:sp>
      <p:sp>
        <p:nvSpPr>
          <p:cNvPr id="30" name="Text 28"/>
          <p:cNvSpPr/>
          <p:nvPr/>
        </p:nvSpPr>
        <p:spPr>
          <a:xfrm>
            <a:off x="1143000" y="4992624"/>
            <a:ext cx="9829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7FBFF"/>
                </a:solidFill>
              </a:rPr>
              <a:t>Mensaje clave: sistemas de confianza digital para empresas que necesitan evidencia, automatización y nuevos modelos de valor.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502920" y="6419088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5F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TECH  ·  WEB3 LAB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11201400" y="636422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02920" y="6281928"/>
            <a:ext cx="11155680" cy="0"/>
          </a:xfrm>
          <a:prstGeom prst="line">
            <a:avLst/>
          </a:prstGeom>
          <a:noFill/>
          <a:ln w="8890">
            <a:solidFill>
              <a:srgbClr val="22324A">
                <a:alpha val="6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685800"/>
            <a:ext cx="2926080" cy="2926080"/>
          </a:xfrm>
          <a:prstGeom prst="arc">
            <a:avLst/>
          </a:prstGeom>
          <a:noFill/>
          <a:ln w="15240">
            <a:solidFill>
              <a:srgbClr val="35D5FF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822960" y="4983480"/>
            <a:ext cx="2194560" cy="2194560"/>
          </a:xfrm>
          <a:prstGeom prst="arc">
            <a:avLst/>
          </a:prstGeom>
          <a:noFill/>
          <a:ln w="13970">
            <a:solidFill>
              <a:srgbClr val="8F5BFF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7452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7804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0392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2980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55680" y="274320"/>
            <a:ext cx="0" cy="6217920"/>
          </a:xfrm>
          <a:prstGeom prst="line">
            <a:avLst/>
          </a:prstGeom>
          <a:noFill/>
          <a:ln w="5080">
            <a:solidFill>
              <a:srgbClr val="22324A">
                <a:alpha val="1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914400"/>
            <a:ext cx="11155680" cy="0"/>
          </a:xfrm>
          <a:prstGeom prst="line">
            <a:avLst/>
          </a:prstGeom>
          <a:noFill/>
          <a:ln w="5080">
            <a:solidFill>
              <a:srgbClr val="22324A">
                <a:alpha val="1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057400"/>
            <a:ext cx="11155680" cy="0"/>
          </a:xfrm>
          <a:prstGeom prst="line">
            <a:avLst/>
          </a:prstGeom>
          <a:noFill/>
          <a:ln w="5080">
            <a:solidFill>
              <a:srgbClr val="22324A">
                <a:alpha val="1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200400"/>
            <a:ext cx="11155680" cy="0"/>
          </a:xfrm>
          <a:prstGeom prst="line">
            <a:avLst/>
          </a:prstGeom>
          <a:noFill/>
          <a:ln w="5080">
            <a:solidFill>
              <a:srgbClr val="22324A">
                <a:alpha val="1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343400"/>
            <a:ext cx="11155680" cy="0"/>
          </a:xfrm>
          <a:prstGeom prst="line">
            <a:avLst/>
          </a:prstGeom>
          <a:noFill/>
          <a:ln w="5080">
            <a:solidFill>
              <a:srgbClr val="22324A">
                <a:alpha val="1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5486400"/>
            <a:ext cx="11155680" cy="0"/>
          </a:xfrm>
          <a:prstGeom prst="line">
            <a:avLst/>
          </a:prstGeom>
          <a:noFill/>
          <a:ln w="5080">
            <a:solidFill>
              <a:srgbClr val="22324A">
                <a:alpha val="14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749808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35D5FF"/>
                </a:solidFill>
              </a:rPr>
              <a:t>ATLAS TECH WEB3 LAB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685800" y="1417320"/>
            <a:ext cx="8138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the trust layer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 the next economy.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749808" y="315468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FB2C8"/>
                </a:solidFill>
              </a:rPr>
              <a:t>Smart contracts, energy ledgers, loyalty systems, tokenization and ESG infrastructure — designed for real businesses.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589520" y="1234440"/>
            <a:ext cx="3429000" cy="3429000"/>
          </a:xfrm>
          <a:prstGeom prst="roundRect">
            <a:avLst>
              <a:gd name="adj" fmla="val 4800"/>
            </a:avLst>
          </a:prstGeom>
          <a:solidFill>
            <a:srgbClr val="0F1726"/>
          </a:solidFill>
          <a:ln w="15240">
            <a:solidFill>
              <a:srgbClr val="35D5FF">
                <a:alpha val="6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19288" y="21488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5D5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ATLAS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35D5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</a:t>
            </a:r>
            <a:endParaRPr lang="en-US" sz="3000" dirty="0"/>
          </a:p>
        </p:txBody>
      </p:sp>
      <p:sp>
        <p:nvSpPr>
          <p:cNvPr id="24" name="Shape 22"/>
          <p:cNvSpPr/>
          <p:nvPr/>
        </p:nvSpPr>
        <p:spPr>
          <a:xfrm>
            <a:off x="914400" y="4279392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0C1524"/>
          </a:solidFill>
          <a:ln w="12700">
            <a:solidFill>
              <a:srgbClr val="35D5FF">
                <a:alpha val="88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4128" y="4343400"/>
            <a:ext cx="10149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5D5FF"/>
                </a:solidFill>
              </a:rPr>
              <a:t>WEB3 LAB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331720" y="4279392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0C1524"/>
          </a:solidFill>
          <a:ln w="12700">
            <a:solidFill>
              <a:srgbClr val="2EF2A5">
                <a:alpha val="88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41448" y="4343400"/>
            <a:ext cx="11064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F2A5"/>
                </a:solidFill>
              </a:rPr>
              <a:t>ENERGY &amp; ESG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840480" y="4279392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0C1524"/>
          </a:solidFill>
          <a:ln w="12700">
            <a:solidFill>
              <a:srgbClr val="8F5BFF">
                <a:alpha val="88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50208" y="4343400"/>
            <a:ext cx="9235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F5BFF"/>
                </a:solidFill>
              </a:rPr>
              <a:t>ENTERPRISE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749808" y="56509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28A"/>
                </a:solidFill>
              </a:rPr>
              <a:t>Contacto comercial · Atlas Tech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02920" y="6419088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5F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TECH  ·  WEB3 LAB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11201400" y="636422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02920" y="6281928"/>
            <a:ext cx="11155680" cy="0"/>
          </a:xfrm>
          <a:prstGeom prst="line">
            <a:avLst/>
          </a:prstGeom>
          <a:noFill/>
          <a:ln w="8890">
            <a:solidFill>
              <a:srgbClr val="22324A">
                <a:alpha val="6500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Atlas 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Atlas Tech Web3 Lab + Energy &amp; ESG Infrastructure</dc:title>
  <dc:subject>Atlas Tech Web3 Lab Brochure</dc:subject>
  <dc:creator>Atlas Tech</dc:creator>
  <cp:lastModifiedBy>Atlas Tech</cp:lastModifiedBy>
  <cp:revision>1</cp:revision>
  <dcterms:created xsi:type="dcterms:W3CDTF">2026-06-12T00:26:36Z</dcterms:created>
  <dcterms:modified xsi:type="dcterms:W3CDTF">2026-06-12T00:26:36Z</dcterms:modified>
</cp:coreProperties>
</file>