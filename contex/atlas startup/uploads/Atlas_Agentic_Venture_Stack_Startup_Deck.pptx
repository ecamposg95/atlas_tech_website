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MASTER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7620">
            <a:solidFill>
              <a:srgbClr val="1B6EFF">
                <a:alpha val="3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547104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B91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TECH · Agentic Business Infrastructure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B91B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B91B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2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B6EFF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3" name="Image 0" descr="/mnt/data/a_wide_cinematic_futuristic_control_room_tech_sc_batch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684427"/>
            <a:ext cx="6199632" cy="34891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8368" y="65836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</a:rPr>
              <a:t>ATLAS TECH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21792" y="1417320"/>
            <a:ext cx="5120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Agentic Venture Stack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658368" y="2880360"/>
            <a:ext cx="4983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DDEBFF"/>
                </a:solidFill>
              </a:rPr>
              <a:t>Atlas ONE como producto de transición. Cortex como experiencia completa de empresa AI-native, agéntica y progresivamente autogestionable.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658368" y="3968496"/>
            <a:ext cx="1874520" cy="301752"/>
          </a:xfrm>
          <a:prstGeom prst="roundRect">
            <a:avLst>
              <a:gd name="adj" fmla="val 24242"/>
            </a:avLst>
          </a:prstGeom>
          <a:solidFill>
            <a:srgbClr val="1B6EFF">
              <a:alpha val="82000"/>
            </a:srgbClr>
          </a:solidFill>
          <a:ln w="8890">
            <a:solidFill>
              <a:srgbClr val="1B6EFF">
                <a:alpha val="65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8096" y="4041648"/>
            <a:ext cx="16550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STARTUP DECK · 2026</a:t>
            </a:r>
            <a:endParaRPr lang="en-US" sz="720" dirty="0"/>
          </a:p>
        </p:txBody>
      </p:sp>
      <p:sp>
        <p:nvSpPr>
          <p:cNvPr id="9" name="Shape 6"/>
          <p:cNvSpPr/>
          <p:nvPr/>
        </p:nvSpPr>
        <p:spPr>
          <a:xfrm>
            <a:off x="2697480" y="3968496"/>
            <a:ext cx="2743200" cy="301752"/>
          </a:xfrm>
          <a:prstGeom prst="roundRect">
            <a:avLst>
              <a:gd name="adj" fmla="val 24242"/>
            </a:avLst>
          </a:prstGeom>
          <a:solidFill>
            <a:srgbClr val="00D4FF">
              <a:alpha val="82000"/>
            </a:srgbClr>
          </a:solidFill>
          <a:ln w="8890">
            <a:solidFill>
              <a:srgbClr val="00D4FF">
                <a:alpha val="6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07208" y="4041648"/>
            <a:ext cx="25237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BOS · ERP · AI AGENTS · BLOCKCHAIN</a:t>
            </a:r>
            <a:endParaRPr lang="en-US" sz="720" dirty="0"/>
          </a:p>
        </p:txBody>
      </p:sp>
      <p:sp>
        <p:nvSpPr>
          <p:cNvPr id="11" name="Text 8"/>
          <p:cNvSpPr/>
          <p:nvPr/>
        </p:nvSpPr>
        <p:spPr>
          <a:xfrm>
            <a:off x="658368" y="521208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D4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566928" y="55961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5A9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Transición digital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2651760" y="521208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6E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2560320" y="55961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5A9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Empresa agéntica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4645152" y="521208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2C14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4553712" y="55961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5A9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Portafolio deep tech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B91B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B6EFF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2976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D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TESIS</a:t>
            </a:r>
            <a:endParaRPr lang="en-US" sz="82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 software empresarial a la empresa AI-native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481328"/>
            <a:ext cx="78638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5A9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oportunidad no es construir otro ERP: es convertir la operación empresarial en una arquitectura inteligente, componible y agéntica.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31520" y="2029968"/>
            <a:ext cx="2880360" cy="3246120"/>
          </a:xfrm>
          <a:prstGeom prst="roundRect">
            <a:avLst>
              <a:gd name="adj" fmla="val 3175"/>
            </a:avLst>
          </a:prstGeom>
          <a:solidFill>
            <a:srgbClr val="101D31"/>
          </a:solidFill>
          <a:ln w="12700">
            <a:solidFill>
              <a:srgbClr val="293A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3317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Empresa tradicional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2926080"/>
            <a:ext cx="242316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5A9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Excel, WhatsApp, sistemas aislados, decisiones reactivas y procesos dependientes de personas clave.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87552" y="4434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5C7A"/>
                </a:solidFill>
              </a:rPr>
              <a:t>Fragmentada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886200" y="3246120"/>
            <a:ext cx="1234440" cy="411480"/>
          </a:xfrm>
          <a:prstGeom prst="rightArrow">
            <a:avLst/>
          </a:prstGeom>
          <a:solidFill>
            <a:srgbClr val="1B6EFF">
              <a:alpha val="8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94960" y="1874520"/>
            <a:ext cx="2880360" cy="3566160"/>
          </a:xfrm>
          <a:prstGeom prst="roundRect">
            <a:avLst>
              <a:gd name="adj" fmla="val 3175"/>
            </a:avLst>
          </a:prstGeom>
          <a:solidFill>
            <a:srgbClr val="0D2A46"/>
          </a:solidFill>
          <a:ln w="12700">
            <a:solidFill>
              <a:srgbClr val="1B6E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23560" y="221284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Atlas ONE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623560" y="2816352"/>
            <a:ext cx="242316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DD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 de transición: ordena, digitaliza, integra, estructura y ejecuta la operación con módulos componibles.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23560" y="45262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</a:rPr>
              <a:t>Preparada para IA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58200" y="3246120"/>
            <a:ext cx="594360" cy="411480"/>
          </a:xfrm>
          <a:prstGeom prst="rightArrow">
            <a:avLst/>
          </a:prstGeom>
          <a:solidFill>
            <a:srgbClr val="00D4FF">
              <a:alpha val="8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64040" y="2029968"/>
            <a:ext cx="2331720" cy="3246120"/>
          </a:xfrm>
          <a:prstGeom prst="roundRect">
            <a:avLst>
              <a:gd name="adj" fmla="val 3922"/>
            </a:avLst>
          </a:prstGeom>
          <a:solidFill>
            <a:srgbClr val="0B2837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74352" y="2331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Cortex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464040" y="2926080"/>
            <a:ext cx="214884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DD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Experiencia completa: comprende, coordina agentes, aprende, decide y evoluciona la organización.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74352" y="44348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E6A2"/>
                </a:solidFill>
              </a:rPr>
              <a:t>AI-native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B91B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B6EFF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2976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D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</a:t>
            </a:r>
            <a:endParaRPr lang="en-US" sz="82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mayoría de empresas no puede saltar directo a IA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481328"/>
            <a:ext cx="78638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5A9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autonomía, la organización necesita datos, procesos, permisos, trazabilidad e integración.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13232" y="2011680"/>
            <a:ext cx="2514600" cy="2834640"/>
          </a:xfrm>
          <a:prstGeom prst="roundRect">
            <a:avLst>
              <a:gd name="adj" fmla="val 2909"/>
            </a:avLst>
          </a:prstGeom>
          <a:solidFill>
            <a:srgbClr val="0F2138">
              <a:alpha val="92000"/>
            </a:srgbClr>
          </a:solidFill>
          <a:ln w="11430">
            <a:solidFill>
              <a:srgbClr val="FF5C7A">
                <a:alpha val="3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2011680"/>
            <a:ext cx="54864" cy="2834640"/>
          </a:xfrm>
          <a:prstGeom prst="rect">
            <a:avLst/>
          </a:prstGeom>
          <a:solidFill>
            <a:srgbClr val="FF5C7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157984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Operación rota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514600"/>
            <a:ext cx="2130552" cy="2212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95A9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Procesos dispersos en personas, hojas de cálculo, chats, carpetas y sistemas sin integración.</a:t>
            </a:r>
            <a:endParaRPr lang="en-US" sz="860" dirty="0"/>
          </a:p>
        </p:txBody>
      </p:sp>
      <p:sp>
        <p:nvSpPr>
          <p:cNvPr id="10" name="Shape 8"/>
          <p:cNvSpPr/>
          <p:nvPr/>
        </p:nvSpPr>
        <p:spPr>
          <a:xfrm>
            <a:off x="3566160" y="2011680"/>
            <a:ext cx="2514600" cy="2834640"/>
          </a:xfrm>
          <a:prstGeom prst="roundRect">
            <a:avLst>
              <a:gd name="adj" fmla="val 2909"/>
            </a:avLst>
          </a:prstGeom>
          <a:solidFill>
            <a:srgbClr val="0F2138">
              <a:alpha val="92000"/>
            </a:srgbClr>
          </a:solidFill>
          <a:ln w="11430">
            <a:solidFill>
              <a:srgbClr val="F2C14E">
                <a:alpha val="3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66160" y="2011680"/>
            <a:ext cx="54864" cy="2834640"/>
          </a:xfrm>
          <a:prstGeom prst="rect">
            <a:avLst/>
          </a:prstGeom>
          <a:solidFill>
            <a:srgbClr val="F2C1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67328" y="2157984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ERP rígido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67328" y="2514600"/>
            <a:ext cx="2130552" cy="2212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95A9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 que obliga al negocio a adaptarse a módulos genéricos y costosos de implementar.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6419088" y="2011680"/>
            <a:ext cx="2514600" cy="2834640"/>
          </a:xfrm>
          <a:prstGeom prst="roundRect">
            <a:avLst>
              <a:gd name="adj" fmla="val 2909"/>
            </a:avLst>
          </a:prstGeom>
          <a:solidFill>
            <a:srgbClr val="0F2138">
              <a:alpha val="92000"/>
            </a:srgbClr>
          </a:solidFill>
          <a:ln w="11430">
            <a:solidFill>
              <a:srgbClr val="1B6EFF">
                <a:alpha val="3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19088" y="2011680"/>
            <a:ext cx="54864" cy="2834640"/>
          </a:xfrm>
          <a:prstGeom prst="rect">
            <a:avLst/>
          </a:prstGeom>
          <a:solidFill>
            <a:srgbClr val="1B6E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0256" y="2157984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IA superficial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20256" y="2514600"/>
            <a:ext cx="2130552" cy="2212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95A9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Chatbots conectados a herramientas, pero sin gobierno, memoria, ontología ni ejecución operativa.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9272016" y="2011680"/>
            <a:ext cx="2176272" cy="2834640"/>
          </a:xfrm>
          <a:prstGeom prst="roundRect">
            <a:avLst>
              <a:gd name="adj" fmla="val 3361"/>
            </a:avLst>
          </a:prstGeom>
          <a:solidFill>
            <a:srgbClr val="0F2138">
              <a:alpha val="92000"/>
            </a:srgbClr>
          </a:solidFill>
          <a:ln w="11430">
            <a:solidFill>
              <a:srgbClr val="00D4FF">
                <a:alpha val="3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72016" y="2011680"/>
            <a:ext cx="54864" cy="2834640"/>
          </a:xfrm>
          <a:prstGeom prst="rect">
            <a:avLst/>
          </a:prstGeom>
          <a:solidFill>
            <a:srgbClr val="00D4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73184" y="215798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Talento escaso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473184" y="2514600"/>
            <a:ext cx="1792224" cy="2212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95A9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PYMES no tienen equipos internos para diseñar agentes, integraciones y data pipelines.</a:t>
            </a:r>
            <a:endParaRPr lang="en-US" sz="860" dirty="0"/>
          </a:p>
        </p:txBody>
      </p:sp>
      <p:sp>
        <p:nvSpPr>
          <p:cNvPr id="22" name="Text 20"/>
          <p:cNvSpPr/>
          <p:nvPr/>
        </p:nvSpPr>
        <p:spPr>
          <a:xfrm>
            <a:off x="731520" y="534924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Insight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755648" y="5285232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</a:rPr>
              <a:t>El mercado necesita un puente: primero estructurar la empresa; después convertirla en una organización agéntica.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B91B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B6EFF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2976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D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SOLUCIÓN</a:t>
            </a:r>
            <a:endParaRPr lang="en-US" sz="82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stack para crear empresas operables por agentes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481328"/>
            <a:ext cx="78638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5A9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Conversación → modelo de negocio → módulos → procesos → agentes → operación continua.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77240" y="2148840"/>
            <a:ext cx="10698480" cy="2578608"/>
          </a:xfrm>
          <a:prstGeom prst="roundRect">
            <a:avLst>
              <a:gd name="adj" fmla="val 3546"/>
            </a:avLst>
          </a:prstGeom>
          <a:solidFill>
            <a:srgbClr val="07111F">
              <a:alpha val="93000"/>
            </a:srgbClr>
          </a:solidFill>
          <a:ln w="12700">
            <a:solidFill>
              <a:srgbClr val="1B6EFF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248716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27632" y="248716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Conversar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87552" y="3035808"/>
            <a:ext cx="219456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DD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emprendedor describe su negocio, procesos y dolores.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3145536" y="3840480"/>
            <a:ext cx="347472" cy="228600"/>
          </a:xfrm>
          <a:prstGeom prst="rightArrow">
            <a:avLst/>
          </a:prstGeom>
          <a:solidFill>
            <a:srgbClr val="1B6EFF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84448" y="248716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24528" y="248716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Modelar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584448" y="3035808"/>
            <a:ext cx="219456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DD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Cortex genera entidades, relaciones, reglas y necesidades.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5742432" y="3840480"/>
            <a:ext cx="347472" cy="228600"/>
          </a:xfrm>
          <a:prstGeom prst="rightArrow">
            <a:avLst/>
          </a:prstGeom>
          <a:solidFill>
            <a:srgbClr val="1B6EFF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81344" y="248716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21424" y="248716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Componer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181344" y="3035808"/>
            <a:ext cx="219456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DD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ONE activa módulos, workflows, roles y dashboards.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8339328" y="3840480"/>
            <a:ext cx="347472" cy="228600"/>
          </a:xfrm>
          <a:prstGeom prst="rightArrow">
            <a:avLst/>
          </a:prstGeom>
          <a:solidFill>
            <a:srgbClr val="1B6EFF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0" y="248716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</a:rPr>
              <a:t>04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418320" y="248716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Orquestar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778240" y="3035808"/>
            <a:ext cx="219456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DD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Agentes coordinan operación, reportes y decisiones.</a:t>
            </a:r>
            <a:endParaRPr lang="en-US" sz="940" dirty="0"/>
          </a:p>
        </p:txBody>
      </p:sp>
      <p:sp>
        <p:nvSpPr>
          <p:cNvPr id="22" name="Text 20"/>
          <p:cNvSpPr/>
          <p:nvPr/>
        </p:nvSpPr>
        <p:spPr>
          <a:xfrm>
            <a:off x="914400" y="5138928"/>
            <a:ext cx="10241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</a:rPr>
              <a:t>No se genera un ERP desde cero. Se compone una arquitectura controlada: módulos estándar + configuración + extensiones especializadas.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B91B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B6EFF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2976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D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 01</a:t>
            </a:r>
            <a:endParaRPr lang="en-US" sz="82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Atlas ONE · Business Operating System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481328"/>
            <a:ext cx="78638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5A9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producto de transición: ERP/BOS modular, multi-industria y preparado para operar con agentes.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85800" y="1938528"/>
            <a:ext cx="2834640" cy="1143000"/>
          </a:xfrm>
          <a:prstGeom prst="roundRect">
            <a:avLst>
              <a:gd name="adj" fmla="val 6400"/>
            </a:avLst>
          </a:prstGeom>
          <a:solidFill>
            <a:srgbClr val="0F2138">
              <a:alpha val="92000"/>
            </a:srgbClr>
          </a:solidFill>
          <a:ln w="11430">
            <a:solidFill>
              <a:srgbClr val="1B6EFF">
                <a:alpha val="3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938528"/>
            <a:ext cx="54864" cy="1143000"/>
          </a:xfrm>
          <a:prstGeom prst="rect">
            <a:avLst/>
          </a:prstGeom>
          <a:solidFill>
            <a:srgbClr val="1B6E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2084832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Digitaliza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6968" y="2441448"/>
            <a:ext cx="2450592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95A9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Convierte procesos manuales en flujos operativos con trazabilidad.</a:t>
            </a:r>
            <a:endParaRPr lang="en-US" sz="860" dirty="0"/>
          </a:p>
        </p:txBody>
      </p:sp>
      <p:sp>
        <p:nvSpPr>
          <p:cNvPr id="10" name="Shape 8"/>
          <p:cNvSpPr/>
          <p:nvPr/>
        </p:nvSpPr>
        <p:spPr>
          <a:xfrm>
            <a:off x="685800" y="3310128"/>
            <a:ext cx="2834640" cy="1143000"/>
          </a:xfrm>
          <a:prstGeom prst="roundRect">
            <a:avLst>
              <a:gd name="adj" fmla="val 6400"/>
            </a:avLst>
          </a:prstGeom>
          <a:solidFill>
            <a:srgbClr val="0F2138">
              <a:alpha val="92000"/>
            </a:srgbClr>
          </a:solidFill>
          <a:ln w="11430">
            <a:solidFill>
              <a:srgbClr val="00D4FF">
                <a:alpha val="3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3310128"/>
            <a:ext cx="54864" cy="1143000"/>
          </a:xfrm>
          <a:prstGeom prst="rect">
            <a:avLst/>
          </a:prstGeom>
          <a:solidFill>
            <a:srgbClr val="00D4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3456432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Integra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86968" y="3813048"/>
            <a:ext cx="2450592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95A9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Centraliza datos, sucursales, usuarios, documentos, inventarios y ventas.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685800" y="4681728"/>
            <a:ext cx="2834640" cy="1143000"/>
          </a:xfrm>
          <a:prstGeom prst="roundRect">
            <a:avLst>
              <a:gd name="adj" fmla="val 6400"/>
            </a:avLst>
          </a:prstGeom>
          <a:solidFill>
            <a:srgbClr val="0F2138">
              <a:alpha val="92000"/>
            </a:srgbClr>
          </a:solidFill>
          <a:ln w="11430">
            <a:solidFill>
              <a:srgbClr val="26E6A2">
                <a:alpha val="3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4681728"/>
            <a:ext cx="54864" cy="1143000"/>
          </a:xfrm>
          <a:prstGeom prst="rect">
            <a:avLst/>
          </a:prstGeom>
          <a:solidFill>
            <a:srgbClr val="26E6A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" y="4828032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Ejecuta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6968" y="5184648"/>
            <a:ext cx="2450592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95A9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 módulos, reglas, permisos, dashboards y automatizaciones.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4160520" y="1874520"/>
            <a:ext cx="3566160" cy="3794760"/>
          </a:xfrm>
          <a:prstGeom prst="roundRect">
            <a:avLst>
              <a:gd name="adj" fmla="val 3077"/>
            </a:avLst>
          </a:prstGeom>
          <a:solidFill>
            <a:srgbClr val="0B2A43"/>
          </a:solidFill>
          <a:ln w="12700">
            <a:solidFill>
              <a:srgbClr val="1B6EFF">
                <a:alpha val="6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0" y="21488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Core modular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416552" y="2788920"/>
            <a:ext cx="868680" cy="301752"/>
          </a:xfrm>
          <a:prstGeom prst="roundRect">
            <a:avLst>
              <a:gd name="adj" fmla="val 24242"/>
            </a:avLst>
          </a:prstGeom>
          <a:solidFill>
            <a:srgbClr val="1B6EFF">
              <a:alpha val="82000"/>
            </a:srgbClr>
          </a:solidFill>
          <a:ln w="8890">
            <a:solidFill>
              <a:srgbClr val="1B6EFF">
                <a:alpha val="6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26280" y="2862072"/>
            <a:ext cx="6492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CRM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5440680" y="2788920"/>
            <a:ext cx="868680" cy="301752"/>
          </a:xfrm>
          <a:prstGeom prst="roundRect">
            <a:avLst>
              <a:gd name="adj" fmla="val 24242"/>
            </a:avLst>
          </a:prstGeom>
          <a:solidFill>
            <a:srgbClr val="00D4FF">
              <a:alpha val="82000"/>
            </a:srgbClr>
          </a:solidFill>
          <a:ln w="8890">
            <a:solidFill>
              <a:srgbClr val="00D4FF">
                <a:alpha val="6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50408" y="2862072"/>
            <a:ext cx="6492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POS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6464808" y="2788920"/>
            <a:ext cx="868680" cy="301752"/>
          </a:xfrm>
          <a:prstGeom prst="roundRect">
            <a:avLst>
              <a:gd name="adj" fmla="val 24242"/>
            </a:avLst>
          </a:prstGeom>
          <a:solidFill>
            <a:srgbClr val="1B6EFF">
              <a:alpha val="82000"/>
            </a:srgbClr>
          </a:solidFill>
          <a:ln w="8890">
            <a:solidFill>
              <a:srgbClr val="1B6EFF">
                <a:alpha val="6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74536" y="2862072"/>
            <a:ext cx="6492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Inventarios</a:t>
            </a:r>
            <a:endParaRPr lang="en-US" sz="720" dirty="0"/>
          </a:p>
        </p:txBody>
      </p:sp>
      <p:sp>
        <p:nvSpPr>
          <p:cNvPr id="26" name="Shape 24"/>
          <p:cNvSpPr/>
          <p:nvPr/>
        </p:nvSpPr>
        <p:spPr>
          <a:xfrm>
            <a:off x="4416552" y="3319272"/>
            <a:ext cx="868680" cy="301752"/>
          </a:xfrm>
          <a:prstGeom prst="roundRect">
            <a:avLst>
              <a:gd name="adj" fmla="val 24242"/>
            </a:avLst>
          </a:prstGeom>
          <a:solidFill>
            <a:srgbClr val="00D4FF">
              <a:alpha val="82000"/>
            </a:srgbClr>
          </a:solidFill>
          <a:ln w="8890">
            <a:solidFill>
              <a:srgbClr val="00D4FF">
                <a:alpha val="6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26280" y="3392424"/>
            <a:ext cx="6492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Compras</a:t>
            </a:r>
            <a:endParaRPr lang="en-US" sz="720" dirty="0"/>
          </a:p>
        </p:txBody>
      </p:sp>
      <p:sp>
        <p:nvSpPr>
          <p:cNvPr id="28" name="Shape 26"/>
          <p:cNvSpPr/>
          <p:nvPr/>
        </p:nvSpPr>
        <p:spPr>
          <a:xfrm>
            <a:off x="5440680" y="3319272"/>
            <a:ext cx="868680" cy="301752"/>
          </a:xfrm>
          <a:prstGeom prst="roundRect">
            <a:avLst>
              <a:gd name="adj" fmla="val 24242"/>
            </a:avLst>
          </a:prstGeom>
          <a:solidFill>
            <a:srgbClr val="1B6EFF">
              <a:alpha val="82000"/>
            </a:srgbClr>
          </a:solidFill>
          <a:ln w="8890">
            <a:solidFill>
              <a:srgbClr val="1B6EFF">
                <a:alpha val="6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50408" y="3392424"/>
            <a:ext cx="6492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Ventas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6464808" y="3319272"/>
            <a:ext cx="868680" cy="301752"/>
          </a:xfrm>
          <a:prstGeom prst="roundRect">
            <a:avLst>
              <a:gd name="adj" fmla="val 24242"/>
            </a:avLst>
          </a:prstGeom>
          <a:solidFill>
            <a:srgbClr val="00D4FF">
              <a:alpha val="82000"/>
            </a:srgbClr>
          </a:solidFill>
          <a:ln w="8890">
            <a:solidFill>
              <a:srgbClr val="00D4FF">
                <a:alpha val="6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74536" y="3392424"/>
            <a:ext cx="6492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Finanzas</a:t>
            </a:r>
            <a:endParaRPr lang="en-US" sz="720" dirty="0"/>
          </a:p>
        </p:txBody>
      </p:sp>
      <p:sp>
        <p:nvSpPr>
          <p:cNvPr id="32" name="Shape 30"/>
          <p:cNvSpPr/>
          <p:nvPr/>
        </p:nvSpPr>
        <p:spPr>
          <a:xfrm>
            <a:off x="4416552" y="3849624"/>
            <a:ext cx="868680" cy="301752"/>
          </a:xfrm>
          <a:prstGeom prst="roundRect">
            <a:avLst>
              <a:gd name="adj" fmla="val 24242"/>
            </a:avLst>
          </a:prstGeom>
          <a:solidFill>
            <a:srgbClr val="1B6EFF">
              <a:alpha val="82000"/>
            </a:srgbClr>
          </a:solidFill>
          <a:ln w="8890">
            <a:solidFill>
              <a:srgbClr val="1B6EFF">
                <a:alpha val="6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26280" y="3922776"/>
            <a:ext cx="6492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RH</a:t>
            </a:r>
            <a:endParaRPr lang="en-US" sz="720" dirty="0"/>
          </a:p>
        </p:txBody>
      </p:sp>
      <p:sp>
        <p:nvSpPr>
          <p:cNvPr id="34" name="Shape 32"/>
          <p:cNvSpPr/>
          <p:nvPr/>
        </p:nvSpPr>
        <p:spPr>
          <a:xfrm>
            <a:off x="5440680" y="3849624"/>
            <a:ext cx="868680" cy="301752"/>
          </a:xfrm>
          <a:prstGeom prst="roundRect">
            <a:avLst>
              <a:gd name="adj" fmla="val 24242"/>
            </a:avLst>
          </a:prstGeom>
          <a:solidFill>
            <a:srgbClr val="00D4FF">
              <a:alpha val="82000"/>
            </a:srgbClr>
          </a:solidFill>
          <a:ln w="8890">
            <a:solidFill>
              <a:srgbClr val="00D4FF">
                <a:alpha val="6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50408" y="3922776"/>
            <a:ext cx="6492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Producción</a:t>
            </a:r>
            <a:endParaRPr lang="en-US" sz="720" dirty="0"/>
          </a:p>
        </p:txBody>
      </p:sp>
      <p:sp>
        <p:nvSpPr>
          <p:cNvPr id="36" name="Shape 34"/>
          <p:cNvSpPr/>
          <p:nvPr/>
        </p:nvSpPr>
        <p:spPr>
          <a:xfrm>
            <a:off x="6464808" y="3849624"/>
            <a:ext cx="868680" cy="301752"/>
          </a:xfrm>
          <a:prstGeom prst="roundRect">
            <a:avLst>
              <a:gd name="adj" fmla="val 24242"/>
            </a:avLst>
          </a:prstGeom>
          <a:solidFill>
            <a:srgbClr val="1B6EFF">
              <a:alpha val="82000"/>
            </a:srgbClr>
          </a:solidFill>
          <a:ln w="8890">
            <a:solidFill>
              <a:srgbClr val="1B6EFF">
                <a:alpha val="6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74536" y="3922776"/>
            <a:ext cx="6492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Logística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4416552" y="4379976"/>
            <a:ext cx="868680" cy="301752"/>
          </a:xfrm>
          <a:prstGeom prst="roundRect">
            <a:avLst>
              <a:gd name="adj" fmla="val 24242"/>
            </a:avLst>
          </a:prstGeom>
          <a:solidFill>
            <a:srgbClr val="00D4FF">
              <a:alpha val="82000"/>
            </a:srgbClr>
          </a:solidFill>
          <a:ln w="8890">
            <a:solidFill>
              <a:srgbClr val="00D4FF">
                <a:alpha val="65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26280" y="4453128"/>
            <a:ext cx="6492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Servicio</a:t>
            </a:r>
            <a:endParaRPr lang="en-US" sz="720" dirty="0"/>
          </a:p>
        </p:txBody>
      </p:sp>
      <p:sp>
        <p:nvSpPr>
          <p:cNvPr id="40" name="Shape 38"/>
          <p:cNvSpPr/>
          <p:nvPr/>
        </p:nvSpPr>
        <p:spPr>
          <a:xfrm>
            <a:off x="5440680" y="4379976"/>
            <a:ext cx="868680" cy="301752"/>
          </a:xfrm>
          <a:prstGeom prst="roundRect">
            <a:avLst>
              <a:gd name="adj" fmla="val 24242"/>
            </a:avLst>
          </a:prstGeom>
          <a:solidFill>
            <a:srgbClr val="1B6EFF">
              <a:alpha val="82000"/>
            </a:srgbClr>
          </a:solidFill>
          <a:ln w="8890">
            <a:solidFill>
              <a:srgbClr val="1B6EFF">
                <a:alpha val="6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50408" y="4453128"/>
            <a:ext cx="6492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Documentos</a:t>
            </a:r>
            <a:endParaRPr lang="en-US" sz="720" dirty="0"/>
          </a:p>
        </p:txBody>
      </p:sp>
      <p:sp>
        <p:nvSpPr>
          <p:cNvPr id="42" name="Shape 40"/>
          <p:cNvSpPr/>
          <p:nvPr/>
        </p:nvSpPr>
        <p:spPr>
          <a:xfrm>
            <a:off x="6464808" y="4379976"/>
            <a:ext cx="868680" cy="301752"/>
          </a:xfrm>
          <a:prstGeom prst="roundRect">
            <a:avLst>
              <a:gd name="adj" fmla="val 24242"/>
            </a:avLst>
          </a:prstGeom>
          <a:solidFill>
            <a:srgbClr val="00D4FF">
              <a:alpha val="82000"/>
            </a:srgbClr>
          </a:solidFill>
          <a:ln w="8890">
            <a:solidFill>
              <a:srgbClr val="00D4FF">
                <a:alpha val="65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74536" y="4453128"/>
            <a:ext cx="6492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BI</a:t>
            </a:r>
            <a:endParaRPr lang="en-US" sz="720" dirty="0"/>
          </a:p>
        </p:txBody>
      </p:sp>
      <p:sp>
        <p:nvSpPr>
          <p:cNvPr id="44" name="Shape 42"/>
          <p:cNvSpPr/>
          <p:nvPr/>
        </p:nvSpPr>
        <p:spPr>
          <a:xfrm>
            <a:off x="8247888" y="1874520"/>
            <a:ext cx="3246120" cy="3794760"/>
          </a:xfrm>
          <a:prstGeom prst="roundRect">
            <a:avLst>
              <a:gd name="adj" fmla="val 3380"/>
            </a:avLst>
          </a:prstGeom>
          <a:solidFill>
            <a:srgbClr val="0E2432"/>
          </a:solidFill>
          <a:ln w="12700">
            <a:solidFill>
              <a:srgbClr val="00D4FF">
                <a:alpha val="65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540496" y="21488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Principio clave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8613648" y="2852928"/>
            <a:ext cx="2487168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DDEBFF"/>
                </a:solidFill>
              </a:rPr>
              <a:t>80 % módulos estándar</a:t>
            </a:r>
            <a:endParaRPr lang="en-US" sz="1850" dirty="0"/>
          </a:p>
          <a:p>
            <a:pPr algn="ctr" indent="0" marL="0">
              <a:buNone/>
            </a:pPr>
            <a:r>
              <a:rPr lang="en-US" sz="1850" b="1" dirty="0">
                <a:solidFill>
                  <a:srgbClr val="DDEBFF"/>
                </a:solidFill>
              </a:rPr>
              <a:t>15 % configuración</a:t>
            </a:r>
            <a:endParaRPr lang="en-US" sz="1850" dirty="0"/>
          </a:p>
          <a:p>
            <a:pPr algn="ctr" indent="0" marL="0">
              <a:buNone/>
            </a:pPr>
            <a:r>
              <a:rPr lang="en-US" sz="1850" b="1" dirty="0">
                <a:solidFill>
                  <a:srgbClr val="DDEBFF"/>
                </a:solidFill>
              </a:rPr>
              <a:t>5 % extensiones especializadas</a:t>
            </a:r>
            <a:endParaRPr lang="en-US" sz="1850" dirty="0"/>
          </a:p>
        </p:txBody>
      </p:sp>
      <p:sp>
        <p:nvSpPr>
          <p:cNvPr id="47" name="Text 45"/>
          <p:cNvSpPr/>
          <p:nvPr/>
        </p:nvSpPr>
        <p:spPr>
          <a:xfrm>
            <a:off x="8613648" y="4416552"/>
            <a:ext cx="2487168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5A9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IA no improvisa software: selecciona, configura y conecta capacidades gobernadas.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B91B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B6EFF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2976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D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 02</a:t>
            </a:r>
            <a:endParaRPr lang="en-US" sz="82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Atlas Cortex · Cognitive Business Layer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481328"/>
            <a:ext cx="78638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5A9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experiencia completa para una empresa AI-native: memoria, ontología, agentes, decisiones y evolución continua.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49808" y="2057400"/>
            <a:ext cx="4572000" cy="3337560"/>
          </a:xfrm>
          <a:prstGeom prst="roundRect">
            <a:avLst>
              <a:gd name="adj" fmla="val 2740"/>
            </a:avLst>
          </a:prstGeom>
          <a:solidFill>
            <a:srgbClr val="07111F">
              <a:alpha val="98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3957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Cortex entiende la organización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2907792"/>
            <a:ext cx="3886200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D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Modela procesos, clientes, productos, roles, indicadores, documentos, riesgos, decisiones y relaciones.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3858768"/>
            <a:ext cx="388620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D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Después convierte esa comprensión en agentes operativos, workflows, reportes, alertas y recomendaciones accionables.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489204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D4FF"/>
                </a:solidFill>
              </a:rPr>
              <a:t>De navegación por módulos a operación conversacional.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19088" y="2075688"/>
            <a:ext cx="246888" cy="24688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03136" y="2057400"/>
            <a:ext cx="4389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FFFFFF"/>
                </a:solidFill>
              </a:rPr>
              <a:t>Memoria organizacional</a:t>
            </a:r>
            <a:endParaRPr lang="en-US" sz="1420" dirty="0"/>
          </a:p>
        </p:txBody>
      </p:sp>
      <p:sp>
        <p:nvSpPr>
          <p:cNvPr id="13" name="Shape 11"/>
          <p:cNvSpPr/>
          <p:nvPr/>
        </p:nvSpPr>
        <p:spPr>
          <a:xfrm>
            <a:off x="6419088" y="2779776"/>
            <a:ext cx="246888" cy="246888"/>
          </a:xfrm>
          <a:prstGeom prst="ellipse">
            <a:avLst/>
          </a:prstGeom>
          <a:solidFill>
            <a:srgbClr val="1B6E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03136" y="2761488"/>
            <a:ext cx="4389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FFFFFF"/>
                </a:solidFill>
              </a:rPr>
              <a:t>Grafo semántico empresarial</a:t>
            </a:r>
            <a:endParaRPr lang="en-US" sz="1420" dirty="0"/>
          </a:p>
        </p:txBody>
      </p:sp>
      <p:sp>
        <p:nvSpPr>
          <p:cNvPr id="15" name="Shape 13"/>
          <p:cNvSpPr/>
          <p:nvPr/>
        </p:nvSpPr>
        <p:spPr>
          <a:xfrm>
            <a:off x="6419088" y="3483864"/>
            <a:ext cx="246888" cy="24688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03136" y="3465576"/>
            <a:ext cx="4389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FFFFFF"/>
                </a:solidFill>
              </a:rPr>
              <a:t>Agent Registry + Tool Gateway</a:t>
            </a:r>
            <a:endParaRPr lang="en-US" sz="1420" dirty="0"/>
          </a:p>
        </p:txBody>
      </p:sp>
      <p:sp>
        <p:nvSpPr>
          <p:cNvPr id="17" name="Shape 15"/>
          <p:cNvSpPr/>
          <p:nvPr/>
        </p:nvSpPr>
        <p:spPr>
          <a:xfrm>
            <a:off x="6419088" y="4187952"/>
            <a:ext cx="246888" cy="246888"/>
          </a:xfrm>
          <a:prstGeom prst="ellipse">
            <a:avLst/>
          </a:prstGeom>
          <a:solidFill>
            <a:srgbClr val="1B6E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03136" y="4169664"/>
            <a:ext cx="4389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FFFFFF"/>
                </a:solidFill>
              </a:rPr>
              <a:t>Policy Engine + aprobaciones</a:t>
            </a:r>
            <a:endParaRPr lang="en-US" sz="1420" dirty="0"/>
          </a:p>
        </p:txBody>
      </p:sp>
      <p:sp>
        <p:nvSpPr>
          <p:cNvPr id="19" name="Shape 17"/>
          <p:cNvSpPr/>
          <p:nvPr/>
        </p:nvSpPr>
        <p:spPr>
          <a:xfrm>
            <a:off x="6419088" y="4892040"/>
            <a:ext cx="246888" cy="24688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03136" y="4873752"/>
            <a:ext cx="4389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FFFFFF"/>
                </a:solidFill>
              </a:rPr>
              <a:t>Evaluation Center + auditoría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B91B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B6EFF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2976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D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ECOSISTEMA</a:t>
            </a:r>
            <a:endParaRPr lang="en-US" sz="82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portafolio conectado por datos, agentes y blockchain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481328"/>
            <a:ext cx="78638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5A9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ONE y Cortex son el núcleo; los productos verticales expanden el sistema hacia industrias, gobierno, movilidad, fintech e investigación.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31520" y="1993392"/>
            <a:ext cx="1874520" cy="1508760"/>
          </a:xfrm>
          <a:prstGeom prst="roundRect">
            <a:avLst>
              <a:gd name="adj" fmla="val 4848"/>
            </a:avLst>
          </a:prstGeom>
          <a:solidFill>
            <a:srgbClr val="0F2138">
              <a:alpha val="92000"/>
            </a:srgbClr>
          </a:solidFill>
          <a:ln w="11430">
            <a:solidFill>
              <a:srgbClr val="1B6EFF">
                <a:alpha val="3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993392"/>
            <a:ext cx="54864" cy="1508760"/>
          </a:xfrm>
          <a:prstGeom prst="rect">
            <a:avLst/>
          </a:prstGeom>
          <a:solidFill>
            <a:srgbClr val="1B6E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2139696"/>
            <a:ext cx="1527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Atlas ONE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32688" y="2496312"/>
            <a:ext cx="1490472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95A9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BOS/ERP componible para ordenar y ejecutar empresas.</a:t>
            </a:r>
            <a:endParaRPr lang="en-US" sz="860" dirty="0"/>
          </a:p>
        </p:txBody>
      </p:sp>
      <p:sp>
        <p:nvSpPr>
          <p:cNvPr id="10" name="Shape 8"/>
          <p:cNvSpPr/>
          <p:nvPr/>
        </p:nvSpPr>
        <p:spPr>
          <a:xfrm>
            <a:off x="3017520" y="1993392"/>
            <a:ext cx="1874520" cy="1508760"/>
          </a:xfrm>
          <a:prstGeom prst="roundRect">
            <a:avLst>
              <a:gd name="adj" fmla="val 4848"/>
            </a:avLst>
          </a:prstGeom>
          <a:solidFill>
            <a:srgbClr val="0F2138">
              <a:alpha val="92000"/>
            </a:srgbClr>
          </a:solidFill>
          <a:ln w="11430">
            <a:solidFill>
              <a:srgbClr val="00D4FF">
                <a:alpha val="3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17520" y="1993392"/>
            <a:ext cx="54864" cy="1508760"/>
          </a:xfrm>
          <a:prstGeom prst="rect">
            <a:avLst/>
          </a:prstGeom>
          <a:solidFill>
            <a:srgbClr val="00D4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18688" y="2139696"/>
            <a:ext cx="1527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Cortex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18688" y="2496312"/>
            <a:ext cx="1490472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95A9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 cognitiva para empresas AI-native y autogestionables.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5303520" y="1993392"/>
            <a:ext cx="1874520" cy="1508760"/>
          </a:xfrm>
          <a:prstGeom prst="roundRect">
            <a:avLst>
              <a:gd name="adj" fmla="val 4848"/>
            </a:avLst>
          </a:prstGeom>
          <a:solidFill>
            <a:srgbClr val="0F2138">
              <a:alpha val="92000"/>
            </a:srgbClr>
          </a:solidFill>
          <a:ln w="11430">
            <a:solidFill>
              <a:srgbClr val="F2C14E">
                <a:alpha val="3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03520" y="1993392"/>
            <a:ext cx="54864" cy="1508760"/>
          </a:xfrm>
          <a:prstGeom prst="rect">
            <a:avLst/>
          </a:prstGeom>
          <a:solidFill>
            <a:srgbClr val="F2C1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04688" y="2139696"/>
            <a:ext cx="1527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Cash Back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504688" y="2496312"/>
            <a:ext cx="1490472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95A9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Loyalty conectado a Atlas ONE con base blockchain.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7589520" y="1993392"/>
            <a:ext cx="1874520" cy="1508760"/>
          </a:xfrm>
          <a:prstGeom prst="roundRect">
            <a:avLst>
              <a:gd name="adj" fmla="val 4848"/>
            </a:avLst>
          </a:prstGeom>
          <a:solidFill>
            <a:srgbClr val="0F2138">
              <a:alpha val="92000"/>
            </a:srgbClr>
          </a:solidFill>
          <a:ln w="11430">
            <a:solidFill>
              <a:srgbClr val="26E6A2">
                <a:alpha val="3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0" y="1993392"/>
            <a:ext cx="54864" cy="1508760"/>
          </a:xfrm>
          <a:prstGeom prst="rect">
            <a:avLst/>
          </a:prstGeom>
          <a:solidFill>
            <a:srgbClr val="26E6A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0688" y="2139696"/>
            <a:ext cx="1527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Open Car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90688" y="2496312"/>
            <a:ext cx="1490472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95A9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Linux de autos + visión por computadora desde móvil.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9875520" y="1993392"/>
            <a:ext cx="1874520" cy="1508760"/>
          </a:xfrm>
          <a:prstGeom prst="roundRect">
            <a:avLst>
              <a:gd name="adj" fmla="val 4848"/>
            </a:avLst>
          </a:prstGeom>
          <a:solidFill>
            <a:srgbClr val="0F2138">
              <a:alpha val="92000"/>
            </a:srgbClr>
          </a:solidFill>
          <a:ln w="11430">
            <a:solidFill>
              <a:srgbClr val="1B6EFF">
                <a:alpha val="3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875520" y="1993392"/>
            <a:ext cx="54864" cy="1508760"/>
          </a:xfrm>
          <a:prstGeom prst="rect">
            <a:avLst/>
          </a:prstGeom>
          <a:solidFill>
            <a:srgbClr val="1B6E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76688" y="2139696"/>
            <a:ext cx="1527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Gov Systems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076688" y="2496312"/>
            <a:ext cx="1490472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95A9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CIVIA, SIGMA y ATENEA para gobierno y operación pública.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1920240" y="4224528"/>
            <a:ext cx="3429000" cy="1325880"/>
          </a:xfrm>
          <a:prstGeom prst="roundRect">
            <a:avLst>
              <a:gd name="adj" fmla="val 5517"/>
            </a:avLst>
          </a:prstGeom>
          <a:solidFill>
            <a:srgbClr val="0F2138">
              <a:alpha val="92000"/>
            </a:srgbClr>
          </a:solidFill>
          <a:ln w="11430">
            <a:solidFill>
              <a:srgbClr val="00D4FF">
                <a:alpha val="3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20240" y="4224528"/>
            <a:ext cx="54864" cy="1325880"/>
          </a:xfrm>
          <a:prstGeom prst="rect">
            <a:avLst/>
          </a:prstGeom>
          <a:solidFill>
            <a:srgbClr val="00D4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21408" y="4370832"/>
            <a:ext cx="3081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I+D / HarvestT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121408" y="4727448"/>
            <a:ext cx="304495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95A9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Investigación aplicada, agrotech, ML y sistemas agénticos.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6766560" y="4224528"/>
            <a:ext cx="3429000" cy="1325880"/>
          </a:xfrm>
          <a:prstGeom prst="roundRect">
            <a:avLst>
              <a:gd name="adj" fmla="val 5517"/>
            </a:avLst>
          </a:prstGeom>
          <a:solidFill>
            <a:srgbClr val="0F2138">
              <a:alpha val="92000"/>
            </a:srgbClr>
          </a:solidFill>
          <a:ln w="11430">
            <a:solidFill>
              <a:srgbClr val="F2C14E">
                <a:alpha val="3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66560" y="4224528"/>
            <a:ext cx="54864" cy="1325880"/>
          </a:xfrm>
          <a:prstGeom prst="rect">
            <a:avLst/>
          </a:prstGeom>
          <a:solidFill>
            <a:srgbClr val="F2C1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67728" y="4370832"/>
            <a:ext cx="3081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Academia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67728" y="4727448"/>
            <a:ext cx="304495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95A9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Cantera de talento joven para startups y proyectos Atlas.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6080760" y="3584448"/>
            <a:ext cx="0" cy="475488"/>
          </a:xfrm>
          <a:prstGeom prst="line">
            <a:avLst/>
          </a:prstGeom>
          <a:noFill/>
          <a:ln w="19050">
            <a:solidFill>
              <a:srgbClr val="00D4FF">
                <a:alpha val="6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2057400" y="5989320"/>
            <a:ext cx="8138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Cortex como inteligencia transversal · Atlas ONE como runtime operativo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B91B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B6EFF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3" name="Image 0" descr="/mnt/data/a_cinematic_high_detail_3d_digital_illustration_batch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013356"/>
            <a:ext cx="5989320" cy="3370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" y="42976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D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 03</a:t>
            </a:r>
            <a:endParaRPr lang="en-US" sz="820" dirty="0"/>
          </a:p>
        </p:txBody>
      </p:sp>
      <p:sp>
        <p:nvSpPr>
          <p:cNvPr id="5" name="Text 2"/>
          <p:cNvSpPr/>
          <p:nvPr/>
        </p:nvSpPr>
        <p:spPr>
          <a:xfrm>
            <a:off x="566928" y="768096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Cash Back conectado a Atlas ONE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94360" y="1481328"/>
            <a:ext cx="78638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5A9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motor de lealtad tokenizable que une punto de venta, cliente, recompensas, comunidad y trazabilidad blockchain.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49808" y="2176272"/>
            <a:ext cx="4160520" cy="896112"/>
          </a:xfrm>
          <a:prstGeom prst="roundRect">
            <a:avLst>
              <a:gd name="adj" fmla="val 8163"/>
            </a:avLst>
          </a:prstGeom>
          <a:solidFill>
            <a:srgbClr val="0F2138">
              <a:alpha val="92000"/>
            </a:srgbClr>
          </a:solidFill>
          <a:ln w="11430">
            <a:solidFill>
              <a:srgbClr val="F2C14E">
                <a:alpha val="38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9808" y="2176272"/>
            <a:ext cx="54864" cy="896112"/>
          </a:xfrm>
          <a:prstGeom prst="rect">
            <a:avLst/>
          </a:prstGeom>
          <a:solidFill>
            <a:srgbClr val="F2C1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50976" y="2322576"/>
            <a:ext cx="3813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Conexión directa al POS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50976" y="2679192"/>
            <a:ext cx="377647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95A9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venta puede generar recompensas, puntos, tokens o beneficios configurables.</a:t>
            </a:r>
            <a:endParaRPr lang="en-US" sz="860" dirty="0"/>
          </a:p>
        </p:txBody>
      </p:sp>
      <p:sp>
        <p:nvSpPr>
          <p:cNvPr id="11" name="Shape 8"/>
          <p:cNvSpPr/>
          <p:nvPr/>
        </p:nvSpPr>
        <p:spPr>
          <a:xfrm>
            <a:off x="749808" y="3364992"/>
            <a:ext cx="4160520" cy="896112"/>
          </a:xfrm>
          <a:prstGeom prst="roundRect">
            <a:avLst>
              <a:gd name="adj" fmla="val 8163"/>
            </a:avLst>
          </a:prstGeom>
          <a:solidFill>
            <a:srgbClr val="0F2138">
              <a:alpha val="92000"/>
            </a:srgbClr>
          </a:solidFill>
          <a:ln w="11430">
            <a:solidFill>
              <a:srgbClr val="00D4FF">
                <a:alpha val="38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49808" y="3364992"/>
            <a:ext cx="54864" cy="896112"/>
          </a:xfrm>
          <a:prstGeom prst="rect">
            <a:avLst/>
          </a:prstGeom>
          <a:solidFill>
            <a:srgbClr val="00D4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50976" y="3511296"/>
            <a:ext cx="3813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Blockchain como capa de confianza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50976" y="3867912"/>
            <a:ext cx="377647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95A9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Trazabilidad de recompensas, antifraude, campañas verificables y activos digitales.</a:t>
            </a:r>
            <a:endParaRPr lang="en-US" sz="860" dirty="0"/>
          </a:p>
        </p:txBody>
      </p:sp>
      <p:sp>
        <p:nvSpPr>
          <p:cNvPr id="15" name="Shape 12"/>
          <p:cNvSpPr/>
          <p:nvPr/>
        </p:nvSpPr>
        <p:spPr>
          <a:xfrm>
            <a:off x="749808" y="4553712"/>
            <a:ext cx="4160520" cy="896112"/>
          </a:xfrm>
          <a:prstGeom prst="roundRect">
            <a:avLst>
              <a:gd name="adj" fmla="val 8163"/>
            </a:avLst>
          </a:prstGeom>
          <a:solidFill>
            <a:srgbClr val="0F2138">
              <a:alpha val="92000"/>
            </a:srgbClr>
          </a:solidFill>
          <a:ln w="11430">
            <a:solidFill>
              <a:srgbClr val="26E6A2">
                <a:alpha val="38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49808" y="4553712"/>
            <a:ext cx="54864" cy="896112"/>
          </a:xfrm>
          <a:prstGeom prst="rect">
            <a:avLst/>
          </a:prstGeom>
          <a:solidFill>
            <a:srgbClr val="26E6A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50976" y="4700016"/>
            <a:ext cx="3813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Loyalty intelligence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50976" y="5056632"/>
            <a:ext cx="377647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95A9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Cortex detecta clientes inactivos, cohortes, productos de recompra y campañas sugeridas.</a:t>
            </a:r>
            <a:endParaRPr lang="en-US" sz="8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B91B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B6EFF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3" name="Image 0" descr="/mnt/data/a_widescreen_cinematic_high_tech_interior_car_sc_batch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1937864"/>
            <a:ext cx="6355080" cy="35766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" y="42976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D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 04</a:t>
            </a:r>
            <a:endParaRPr lang="en-US" sz="820" dirty="0"/>
          </a:p>
        </p:txBody>
      </p:sp>
      <p:sp>
        <p:nvSpPr>
          <p:cNvPr id="5" name="Text 2"/>
          <p:cNvSpPr/>
          <p:nvPr/>
        </p:nvSpPr>
        <p:spPr>
          <a:xfrm>
            <a:off x="566928" y="768096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Open Car · el Linux de los autos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94360" y="1481328"/>
            <a:ext cx="78638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5A9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Plataforma abierta para módulos de movilidad inteligente; el primer módulo entrena visión por computadora usando un teléfono móvil.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13232" y="2377440"/>
            <a:ext cx="3977640" cy="859536"/>
          </a:xfrm>
          <a:prstGeom prst="roundRect">
            <a:avLst>
              <a:gd name="adj" fmla="val 8511"/>
            </a:avLst>
          </a:prstGeom>
          <a:solidFill>
            <a:srgbClr val="0F2138">
              <a:alpha val="92000"/>
            </a:srgbClr>
          </a:solidFill>
          <a:ln w="11430">
            <a:solidFill>
              <a:srgbClr val="00D4FF">
                <a:alpha val="38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13232" y="2377440"/>
            <a:ext cx="54864" cy="859536"/>
          </a:xfrm>
          <a:prstGeom prst="rect">
            <a:avLst/>
          </a:prstGeom>
          <a:solidFill>
            <a:srgbClr val="00D4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2523744"/>
            <a:ext cx="3630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MVP inmediato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14400" y="2880360"/>
            <a:ext cx="359359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95A9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móvil toma video frontal en tiempo real y genera bounding boxes para objetos.</a:t>
            </a:r>
            <a:endParaRPr lang="en-US" sz="860" dirty="0"/>
          </a:p>
        </p:txBody>
      </p:sp>
      <p:sp>
        <p:nvSpPr>
          <p:cNvPr id="11" name="Shape 8"/>
          <p:cNvSpPr/>
          <p:nvPr/>
        </p:nvSpPr>
        <p:spPr>
          <a:xfrm>
            <a:off x="713232" y="3456432"/>
            <a:ext cx="3977640" cy="859536"/>
          </a:xfrm>
          <a:prstGeom prst="roundRect">
            <a:avLst>
              <a:gd name="adj" fmla="val 8511"/>
            </a:avLst>
          </a:prstGeom>
          <a:solidFill>
            <a:srgbClr val="0F2138">
              <a:alpha val="92000"/>
            </a:srgbClr>
          </a:solidFill>
          <a:ln w="11430">
            <a:solidFill>
              <a:srgbClr val="1B6EFF">
                <a:alpha val="38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13232" y="3456432"/>
            <a:ext cx="54864" cy="859536"/>
          </a:xfrm>
          <a:prstGeom prst="rect">
            <a:avLst/>
          </a:prstGeom>
          <a:solidFill>
            <a:srgbClr val="1B6E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3602736"/>
            <a:ext cx="3630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Ruta técnica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14400" y="3959352"/>
            <a:ext cx="359359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95A9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 → labeling → entrenamiento → inferencia móvil → telemetría → módulos ADAS.</a:t>
            </a:r>
            <a:endParaRPr lang="en-US" sz="860" dirty="0"/>
          </a:p>
        </p:txBody>
      </p:sp>
      <p:sp>
        <p:nvSpPr>
          <p:cNvPr id="15" name="Shape 12"/>
          <p:cNvSpPr/>
          <p:nvPr/>
        </p:nvSpPr>
        <p:spPr>
          <a:xfrm>
            <a:off x="713232" y="4535424"/>
            <a:ext cx="3977640" cy="859536"/>
          </a:xfrm>
          <a:prstGeom prst="roundRect">
            <a:avLst>
              <a:gd name="adj" fmla="val 8511"/>
            </a:avLst>
          </a:prstGeom>
          <a:solidFill>
            <a:srgbClr val="0F2138">
              <a:alpha val="92000"/>
            </a:srgbClr>
          </a:solidFill>
          <a:ln w="11430">
            <a:solidFill>
              <a:srgbClr val="26E6A2">
                <a:alpha val="38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13232" y="4535424"/>
            <a:ext cx="54864" cy="859536"/>
          </a:xfrm>
          <a:prstGeom prst="rect">
            <a:avLst/>
          </a:prstGeom>
          <a:solidFill>
            <a:srgbClr val="26E6A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" y="4681728"/>
            <a:ext cx="3630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Visión larga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14400" y="5038344"/>
            <a:ext cx="359359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95A9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 operativo modular para vehículos, sensores, agentes y automatización automotriz.</a:t>
            </a:r>
            <a:endParaRPr lang="en-US" sz="8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B91B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B6EFF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2976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D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EXPANSIÓN</a:t>
            </a:r>
            <a:endParaRPr lang="en-US" sz="82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Gobierno, investigación y talento como ventajas estructurales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481328"/>
            <a:ext cx="78638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5A9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portafolio Atlas no depende de un solo producto: combina verticales con I+D y formación de talento.</a:t>
            </a:r>
            <a:endParaRPr lang="en-US" sz="1250" dirty="0"/>
          </a:p>
        </p:txBody>
      </p:sp>
      <p:pic>
        <p:nvPicPr>
          <p:cNvPr id="6" name="Image 0" descr="/mnt/data/a_wide_cinematic_control_room_command_center_scen_batch_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098321"/>
            <a:ext cx="3429000" cy="192983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4443984"/>
            <a:ext cx="3429000" cy="1143000"/>
          </a:xfrm>
          <a:prstGeom prst="roundRect">
            <a:avLst>
              <a:gd name="adj" fmla="val 6400"/>
            </a:avLst>
          </a:prstGeom>
          <a:solidFill>
            <a:srgbClr val="0F2138"/>
          </a:solidFill>
          <a:ln w="12700">
            <a:solidFill>
              <a:srgbClr val="1B6EFF">
                <a:alpha val="55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4617720"/>
            <a:ext cx="2944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Sistemas gubernamentales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32688" y="4956048"/>
            <a:ext cx="292608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95A9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CIVIA, SIGMA y ATENEA: ventanilla, procesos, inteligencia territorial y gobernanza.</a:t>
            </a:r>
            <a:endParaRPr lang="en-US" sz="830" dirty="0"/>
          </a:p>
        </p:txBody>
      </p:sp>
      <p:pic>
        <p:nvPicPr>
          <p:cNvPr id="10" name="Image 1" descr="/mnt/data/a_wide_cinematic_futuristic_tech_lab_office_scen_batch_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408" y="2098321"/>
            <a:ext cx="3429000" cy="192983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4443984"/>
            <a:ext cx="3429000" cy="1143000"/>
          </a:xfrm>
          <a:prstGeom prst="roundRect">
            <a:avLst>
              <a:gd name="adj" fmla="val 6400"/>
            </a:avLst>
          </a:prstGeom>
          <a:solidFill>
            <a:srgbClr val="0F2138"/>
          </a:solidFill>
          <a:ln w="12700">
            <a:solidFill>
              <a:srgbClr val="00D4FF">
                <a:alpha val="5500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645152" y="4617720"/>
            <a:ext cx="2944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I+D / HarvestT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663440" y="4956048"/>
            <a:ext cx="2907792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95A9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Investigación aplicada, agrotech, visión, machine learning y sistemas agénticos.</a:t>
            </a:r>
            <a:endParaRPr lang="en-US" sz="830" dirty="0"/>
          </a:p>
        </p:txBody>
      </p:sp>
      <p:pic>
        <p:nvPicPr>
          <p:cNvPr id="14" name="Image 2" descr="/mnt/data/a_wide_cinematic_futuristic_tech_lab_office_scen_batch_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2124052"/>
            <a:ext cx="3337560" cy="1878376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8138160" y="4443984"/>
            <a:ext cx="3337560" cy="1143000"/>
          </a:xfrm>
          <a:prstGeom prst="roundRect">
            <a:avLst>
              <a:gd name="adj" fmla="val 6400"/>
            </a:avLst>
          </a:prstGeom>
          <a:solidFill>
            <a:srgbClr val="0F2138"/>
          </a:solidFill>
          <a:ln w="12700">
            <a:solidFill>
              <a:srgbClr val="F2C14E">
                <a:alpha val="55000"/>
              </a:srgbClr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8366760" y="4617720"/>
            <a:ext cx="2852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Atlas Academy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8385048" y="4956048"/>
            <a:ext cx="283464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95A9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Cantera de jóvenes talentos para integrarse a startups, productos y equipos técnicos.</a:t>
            </a:r>
            <a:endParaRPr lang="en-US" sz="8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B91B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B6EFF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2976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D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ARQUITECTURA</a:t>
            </a:r>
            <a:endParaRPr lang="en-US" sz="82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motor: composición controlada + gobierno agéntico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481328"/>
            <a:ext cx="78638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5A9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IA no “adivina” el sistema; transforma conversación en especificaciones ejecutables, auditables y mantenibles.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58368" y="2331720"/>
            <a:ext cx="1883664" cy="2103120"/>
          </a:xfrm>
          <a:prstGeom prst="roundRect">
            <a:avLst>
              <a:gd name="adj" fmla="val 4854"/>
            </a:avLst>
          </a:prstGeom>
          <a:solidFill>
            <a:srgbClr val="0C2036"/>
          </a:solidFill>
          <a:ln w="12700">
            <a:solidFill>
              <a:srgbClr val="00D4FF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2578608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FFFFFF"/>
                </a:solidFill>
              </a:rPr>
              <a:t>Conversación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822960" y="3127248"/>
            <a:ext cx="155448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95A9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Descubrimiento del negocio, procesos, dolores y modelo de ingresos.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2606040" y="3136392"/>
            <a:ext cx="292608" cy="228600"/>
          </a:xfrm>
          <a:prstGeom prst="rightArrow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44368" y="2331720"/>
            <a:ext cx="1883664" cy="2103120"/>
          </a:xfrm>
          <a:prstGeom prst="roundRect">
            <a:avLst>
              <a:gd name="adj" fmla="val 4854"/>
            </a:avLst>
          </a:prstGeom>
          <a:solidFill>
            <a:srgbClr val="0C2036"/>
          </a:solidFill>
          <a:ln w="12700">
            <a:solidFill>
              <a:srgbClr val="1B6EFF">
                <a:alpha val="6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90672" y="2578608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FFFFFF"/>
                </a:solidFill>
              </a:rPr>
              <a:t>Ontología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3108960" y="3127248"/>
            <a:ext cx="155448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95A9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Entidades, relaciones, reglas, KPIs, actores y documentos.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4892040" y="3136392"/>
            <a:ext cx="292608" cy="228600"/>
          </a:xfrm>
          <a:prstGeom prst="rightArrow">
            <a:avLst/>
          </a:prstGeom>
          <a:solidFill>
            <a:srgbClr val="1B6EFF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30368" y="2331720"/>
            <a:ext cx="1883664" cy="2103120"/>
          </a:xfrm>
          <a:prstGeom prst="roundRect">
            <a:avLst>
              <a:gd name="adj" fmla="val 4854"/>
            </a:avLst>
          </a:prstGeom>
          <a:solidFill>
            <a:srgbClr val="0C2036"/>
          </a:solidFill>
          <a:ln w="12700">
            <a:solidFill>
              <a:srgbClr val="26E6A2">
                <a:alpha val="6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76672" y="2578608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FFFFFF"/>
                </a:solidFill>
              </a:rPr>
              <a:t>Composición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5394960" y="3127248"/>
            <a:ext cx="155448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95A9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Selección de módulos, workflows, permisos, formularios y dashboards.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7178040" y="3136392"/>
            <a:ext cx="292608" cy="228600"/>
          </a:xfrm>
          <a:prstGeom prst="rightArrow">
            <a:avLst/>
          </a:prstGeom>
          <a:solidFill>
            <a:srgbClr val="26E6A2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16368" y="2331720"/>
            <a:ext cx="1883664" cy="2103120"/>
          </a:xfrm>
          <a:prstGeom prst="roundRect">
            <a:avLst>
              <a:gd name="adj" fmla="val 4854"/>
            </a:avLst>
          </a:prstGeom>
          <a:solidFill>
            <a:srgbClr val="0C2036"/>
          </a:solidFill>
          <a:ln w="12700">
            <a:solidFill>
              <a:srgbClr val="F2C14E">
                <a:alpha val="6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62672" y="2578608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FFFFFF"/>
                </a:solidFill>
              </a:rPr>
              <a:t>Agentes</a:t>
            </a:r>
            <a:endParaRPr lang="en-US" sz="1420" dirty="0"/>
          </a:p>
        </p:txBody>
      </p:sp>
      <p:sp>
        <p:nvSpPr>
          <p:cNvPr id="20" name="Text 18"/>
          <p:cNvSpPr/>
          <p:nvPr/>
        </p:nvSpPr>
        <p:spPr>
          <a:xfrm>
            <a:off x="7680960" y="3127248"/>
            <a:ext cx="155448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95A9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Roles digitales, herramientas autorizadas, memoria, políticas y límites.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9464040" y="3136392"/>
            <a:ext cx="292608" cy="228600"/>
          </a:xfrm>
          <a:prstGeom prst="rightArrow">
            <a:avLst/>
          </a:prstGeom>
          <a:solidFill>
            <a:srgbClr val="F2C14E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802368" y="2331720"/>
            <a:ext cx="1883664" cy="2103120"/>
          </a:xfrm>
          <a:prstGeom prst="roundRect">
            <a:avLst>
              <a:gd name="adj" fmla="val 4854"/>
            </a:avLst>
          </a:prstGeom>
          <a:solidFill>
            <a:srgbClr val="0C2036"/>
          </a:solidFill>
          <a:ln w="12700">
            <a:solidFill>
              <a:srgbClr val="00D4FF">
                <a:alpha val="6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48672" y="2578608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FFFFFF"/>
                </a:solidFill>
              </a:rPr>
              <a:t>Runtime</a:t>
            </a:r>
            <a:endParaRPr lang="en-US" sz="1420" dirty="0"/>
          </a:p>
        </p:txBody>
      </p:sp>
      <p:sp>
        <p:nvSpPr>
          <p:cNvPr id="24" name="Text 22"/>
          <p:cNvSpPr/>
          <p:nvPr/>
        </p:nvSpPr>
        <p:spPr>
          <a:xfrm>
            <a:off x="9966960" y="3127248"/>
            <a:ext cx="155448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95A9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ONE ejecuta transacciones, APIs, datos, reportes e integraciones.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1005840" y="51663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Human-in-the-loop configurable: observer → advisor → assistant → operator → autonomous → supervisor.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B91B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B6EFF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2976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D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</a:t>
            </a:r>
            <a:endParaRPr lang="en-US" sz="82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Go-to-market: software + implementación + inteligencia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481328"/>
            <a:ext cx="78638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5A9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transición requiere producto, acompañamiento y verticalización. El modelo combina SaaS, créditos, módulos y servicios productizados.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13232" y="1965960"/>
            <a:ext cx="2743200" cy="2880360"/>
          </a:xfrm>
          <a:prstGeom prst="roundRect">
            <a:avLst>
              <a:gd name="adj" fmla="val 2667"/>
            </a:avLst>
          </a:prstGeom>
          <a:solidFill>
            <a:srgbClr val="0F2138">
              <a:alpha val="92000"/>
            </a:srgbClr>
          </a:solidFill>
          <a:ln w="11430">
            <a:solidFill>
              <a:srgbClr val="1B6EFF">
                <a:alpha val="3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965960"/>
            <a:ext cx="54864" cy="2880360"/>
          </a:xfrm>
          <a:prstGeom prst="rect">
            <a:avLst/>
          </a:prstGeom>
          <a:solidFill>
            <a:srgbClr val="1B6E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112264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Entrada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468880"/>
            <a:ext cx="2359152" cy="2258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95A9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Diagnóstico operativo + preset industrial + implementación Atlas ONE. Ideal para PYMES que necesitan orden antes de IA.</a:t>
            </a:r>
            <a:endParaRPr lang="en-US" sz="860" dirty="0"/>
          </a:p>
        </p:txBody>
      </p:sp>
      <p:sp>
        <p:nvSpPr>
          <p:cNvPr id="10" name="Shape 8"/>
          <p:cNvSpPr/>
          <p:nvPr/>
        </p:nvSpPr>
        <p:spPr>
          <a:xfrm>
            <a:off x="3730752" y="1965960"/>
            <a:ext cx="2743200" cy="2880360"/>
          </a:xfrm>
          <a:prstGeom prst="roundRect">
            <a:avLst>
              <a:gd name="adj" fmla="val 2667"/>
            </a:avLst>
          </a:prstGeom>
          <a:solidFill>
            <a:srgbClr val="0F2138">
              <a:alpha val="92000"/>
            </a:srgbClr>
          </a:solidFill>
          <a:ln w="11430">
            <a:solidFill>
              <a:srgbClr val="00D4FF">
                <a:alpha val="3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30752" y="1965960"/>
            <a:ext cx="54864" cy="2880360"/>
          </a:xfrm>
          <a:prstGeom prst="rect">
            <a:avLst/>
          </a:prstGeom>
          <a:solidFill>
            <a:srgbClr val="00D4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0" y="2112264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Expansión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31920" y="2468880"/>
            <a:ext cx="2359152" cy="2258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95A9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Activación de módulos, sucursales, agentes, integraciones, dashboards y automatizaciones recurrentes.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6748272" y="1965960"/>
            <a:ext cx="2743200" cy="2880360"/>
          </a:xfrm>
          <a:prstGeom prst="roundRect">
            <a:avLst>
              <a:gd name="adj" fmla="val 2667"/>
            </a:avLst>
          </a:prstGeom>
          <a:solidFill>
            <a:srgbClr val="0F2138">
              <a:alpha val="92000"/>
            </a:srgbClr>
          </a:solidFill>
          <a:ln w="11430">
            <a:solidFill>
              <a:srgbClr val="26E6A2">
                <a:alpha val="3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48272" y="1965960"/>
            <a:ext cx="54864" cy="2880360"/>
          </a:xfrm>
          <a:prstGeom prst="rect">
            <a:avLst/>
          </a:prstGeom>
          <a:solidFill>
            <a:srgbClr val="26E6A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0" y="2112264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Escalamiento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949440" y="2468880"/>
            <a:ext cx="2359152" cy="2258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95A9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Cortex como capa cognitiva: créditos de IA, memoria, agentes especializados y soporte de soluciones.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9765792" y="1965960"/>
            <a:ext cx="1691640" cy="2880360"/>
          </a:xfrm>
          <a:prstGeom prst="roundRect">
            <a:avLst>
              <a:gd name="adj" fmla="val 4324"/>
            </a:avLst>
          </a:prstGeom>
          <a:solidFill>
            <a:srgbClr val="0F2138">
              <a:alpha val="92000"/>
            </a:srgbClr>
          </a:solidFill>
          <a:ln w="11430">
            <a:solidFill>
              <a:srgbClr val="F2C14E">
                <a:alpha val="3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65792" y="1965960"/>
            <a:ext cx="54864" cy="2880360"/>
          </a:xfrm>
          <a:prstGeom prst="rect">
            <a:avLst/>
          </a:prstGeom>
          <a:solidFill>
            <a:srgbClr val="F2C1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66960" y="2112264"/>
            <a:ext cx="1344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Moat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966960" y="2468880"/>
            <a:ext cx="1307592" cy="2258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95A9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+ procesos + ontologías + talento + verticales propias.</a:t>
            </a:r>
            <a:endParaRPr lang="en-US" sz="860" dirty="0"/>
          </a:p>
        </p:txBody>
      </p:sp>
      <p:sp>
        <p:nvSpPr>
          <p:cNvPr id="22" name="Text 20"/>
          <p:cNvSpPr/>
          <p:nvPr/>
        </p:nvSpPr>
        <p:spPr>
          <a:xfrm>
            <a:off x="822960" y="5394960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Monetización: setup · suscripción mensual · usuarios · módulos · créditos IA · integraciones · soporte · desarrollo especializado.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B91B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B6EFF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2976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D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</a:t>
            </a:r>
            <a:endParaRPr lang="en-US" sz="82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producto modular a empresa autogestionable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481328"/>
            <a:ext cx="78638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5A9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visión se entrega por etapas: valor comercial inmediato, inteligencia creciente y autonomía gobernada.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22960" y="2340864"/>
            <a:ext cx="676656" cy="676656"/>
          </a:xfrm>
          <a:prstGeom prst="ellipse">
            <a:avLst/>
          </a:prstGeom>
          <a:solidFill>
            <a:srgbClr val="1B6E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64208" y="2414016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6EFF"/>
                </a:solidFill>
              </a:rPr>
              <a:t>Fase 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3273552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Atlas ONE MVP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22960" y="3749040"/>
            <a:ext cx="2212848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5A9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POS/ERP base, multi-tenant, módulos núcleo, primeros clientes y verticales.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499616" y="2688336"/>
            <a:ext cx="2066544" cy="0"/>
          </a:xfrm>
          <a:prstGeom prst="line">
            <a:avLst/>
          </a:prstGeom>
          <a:noFill/>
          <a:ln w="19050">
            <a:solidFill>
              <a:srgbClr val="1B6EFF">
                <a:alpha val="5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11880" y="2340864"/>
            <a:ext cx="676656" cy="676656"/>
          </a:xfrm>
          <a:prstGeom prst="ellipse">
            <a:avLst/>
          </a:prstGeom>
          <a:solidFill>
            <a:srgbClr val="00D4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53128" y="2414016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FF"/>
                </a:solidFill>
              </a:rPr>
              <a:t>Fase 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11880" y="3273552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Cortex Assistant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3611880" y="3749040"/>
            <a:ext cx="2212848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5A9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 empresarial, RAG, reportes, diagnósticos, recomendaciones y agentes de bajo riesgo.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88536" y="2688336"/>
            <a:ext cx="2066544" cy="0"/>
          </a:xfrm>
          <a:prstGeom prst="line">
            <a:avLst/>
          </a:prstGeom>
          <a:noFill/>
          <a:ln w="19050">
            <a:solidFill>
              <a:srgbClr val="00D4FF">
                <a:alpha val="5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2340864"/>
            <a:ext cx="676656" cy="676656"/>
          </a:xfrm>
          <a:prstGeom prst="ellipse">
            <a:avLst/>
          </a:prstGeom>
          <a:solidFill>
            <a:srgbClr val="26E6A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42048" y="2414016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E6A2"/>
                </a:solidFill>
              </a:rPr>
              <a:t>Fase 3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0800" y="3273552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Agentic Runtime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400800" y="3749040"/>
            <a:ext cx="2212848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5A9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Workflows agénticos, permisos, tool gateway, auditoría y ejecución con aprobación.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077456" y="2688336"/>
            <a:ext cx="2066544" cy="0"/>
          </a:xfrm>
          <a:prstGeom prst="line">
            <a:avLst/>
          </a:prstGeom>
          <a:noFill/>
          <a:ln w="19050">
            <a:solidFill>
              <a:srgbClr val="26E6A2">
                <a:alpha val="5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89720" y="2340864"/>
            <a:ext cx="676656" cy="676656"/>
          </a:xfrm>
          <a:prstGeom prst="ellipse">
            <a:avLst/>
          </a:prstGeom>
          <a:solidFill>
            <a:srgbClr val="F2C1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30968" y="2414016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C14E"/>
                </a:solidFill>
              </a:rPr>
              <a:t>Fase 4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189720" y="3273552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Autonomous Enterprise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9189720" y="3749040"/>
            <a:ext cx="2212848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5A9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Agentes supervisores, simulación, optimización continua y operación autogestionable.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43000" y="534924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</a:rPr>
              <a:t>Objetivo: que cada empresa Atlas tenga un sistema operativo propio, una memoria organizacional y agentes que ejecuten con control.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B91B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B6EFF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960120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Atlas no construye solo software.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41248" y="1627632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0D4FF"/>
                </a:solidFill>
              </a:rPr>
              <a:t>Construye la transición hacia empresas AI-native.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96112" y="2926080"/>
            <a:ext cx="9966960" cy="1097280"/>
          </a:xfrm>
          <a:prstGeom prst="roundRect">
            <a:avLst>
              <a:gd name="adj" fmla="val 10000"/>
            </a:avLst>
          </a:prstGeom>
          <a:solidFill>
            <a:srgbClr val="07111F">
              <a:alpha val="97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3136392"/>
            <a:ext cx="9464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Atlas ONE convierte la operación en infraestructura.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Cortex convierte la infraestructura en inteligencia organizacional.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97280" y="4773168"/>
            <a:ext cx="1920240" cy="301752"/>
          </a:xfrm>
          <a:prstGeom prst="roundRect">
            <a:avLst>
              <a:gd name="adj" fmla="val 24242"/>
            </a:avLst>
          </a:prstGeom>
          <a:solidFill>
            <a:srgbClr val="1B6EFF">
              <a:alpha val="82000"/>
            </a:srgbClr>
          </a:solidFill>
          <a:ln w="8890">
            <a:solidFill>
              <a:srgbClr val="1B6EFF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07008" y="4846320"/>
            <a:ext cx="17007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DESCRIBE TU NEGOCIO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3246120" y="4773168"/>
            <a:ext cx="1828800" cy="301752"/>
          </a:xfrm>
          <a:prstGeom prst="roundRect">
            <a:avLst>
              <a:gd name="adj" fmla="val 24242"/>
            </a:avLst>
          </a:prstGeom>
          <a:solidFill>
            <a:srgbClr val="00D4FF">
              <a:alpha val="82000"/>
            </a:srgbClr>
          </a:solidFill>
          <a:ln w="8890">
            <a:solidFill>
              <a:srgbClr val="00D4FF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55848" y="4846320"/>
            <a:ext cx="16093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ATLAS LO MODELA</a:t>
            </a:r>
            <a:endParaRPr lang="en-US" sz="720" dirty="0"/>
          </a:p>
        </p:txBody>
      </p:sp>
      <p:sp>
        <p:nvSpPr>
          <p:cNvPr id="11" name="Shape 9"/>
          <p:cNvSpPr/>
          <p:nvPr/>
        </p:nvSpPr>
        <p:spPr>
          <a:xfrm>
            <a:off x="5303520" y="4773168"/>
            <a:ext cx="1645920" cy="301752"/>
          </a:xfrm>
          <a:prstGeom prst="roundRect">
            <a:avLst>
              <a:gd name="adj" fmla="val 24242"/>
            </a:avLst>
          </a:prstGeom>
          <a:solidFill>
            <a:srgbClr val="26E6A2">
              <a:alpha val="82000"/>
            </a:srgbClr>
          </a:solidFill>
          <a:ln w="8890">
            <a:solidFill>
              <a:srgbClr val="26E6A2">
                <a:alpha val="6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13248" y="4846320"/>
            <a:ext cx="14264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ONE LO EJECUTA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7205472" y="4773168"/>
            <a:ext cx="2240280" cy="301752"/>
          </a:xfrm>
          <a:prstGeom prst="roundRect">
            <a:avLst>
              <a:gd name="adj" fmla="val 24242"/>
            </a:avLst>
          </a:prstGeom>
          <a:solidFill>
            <a:srgbClr val="F2C14E">
              <a:alpha val="82000"/>
            </a:srgbClr>
          </a:solidFill>
          <a:ln w="8890">
            <a:solidFill>
              <a:srgbClr val="F2C14E">
                <a:alpha val="6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0" y="4846320"/>
            <a:ext cx="2020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CORTEX LO EVOLUCIONA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B91B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Atlas 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Atlas Agentic Venture Stack</dc:title>
  <dc:subject>Deck startup de productos Atlas ONE + Cortex</dc:subject>
  <dc:creator>Atlas Tech</dc:creator>
  <cp:lastModifiedBy>Atlas Tech</cp:lastModifiedBy>
  <cp:revision>1</cp:revision>
  <dcterms:created xsi:type="dcterms:W3CDTF">2026-07-17T23:37:38Z</dcterms:created>
  <dcterms:modified xsi:type="dcterms:W3CDTF">2026-07-17T23:37:38Z</dcterms:modified>
</cp:coreProperties>
</file>