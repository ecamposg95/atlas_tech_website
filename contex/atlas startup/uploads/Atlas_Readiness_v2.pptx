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MASTER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5486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Atlas Transformation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Readiness 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5216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E2CD"/>
                </a:solidFill>
              </a:rPr>
              <a:t>Metodología genérica para implementar ERP, BOS, automatización e IA con adopción real, gobierno ejecutivo y operación medible.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5216" y="2971800"/>
            <a:ext cx="2697480" cy="256032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>
            <a:solidFill>
              <a:srgbClr val="4ADE8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291F"/>
                </a:solidFill>
              </a:rPr>
              <a:t>Diagnóstico · Blueprint · Build · Adopción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223760" y="5029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 la implementación técnica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 la transformación operativa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1700784"/>
            <a:ext cx="457200" cy="45720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291F"/>
                </a:solidFill>
              </a:rPr>
              <a:t>ERP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23960" y="1700784"/>
            <a:ext cx="457200" cy="457200"/>
          </a:xfrm>
          <a:prstGeom prst="ellipse">
            <a:avLst/>
          </a:prstGeom>
          <a:solidFill>
            <a:srgbClr val="144C39"/>
          </a:solidFill>
          <a:ln>
            <a:solidFill>
              <a:srgbClr val="144C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BOS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589520" y="2706624"/>
            <a:ext cx="457200" cy="457200"/>
          </a:xfrm>
          <a:prstGeom prst="ellipse">
            <a:avLst/>
          </a:prstGeom>
          <a:solidFill>
            <a:srgbClr val="144C39"/>
          </a:solidFill>
          <a:ln>
            <a:solidFill>
              <a:srgbClr val="144C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DATA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823960" y="2706624"/>
            <a:ext cx="457200" cy="457200"/>
          </a:xfrm>
          <a:prstGeom prst="ellipse">
            <a:avLst/>
          </a:prstGeom>
          <a:solidFill>
            <a:srgbClr val="144C39"/>
          </a:solidFill>
          <a:ln>
            <a:solidFill>
              <a:srgbClr val="144C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BC7B3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BC7B3"/>
                </a:solidFill>
              </a:rPr>
              <a:t>01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Lo que rescatamos de implementaciones ERP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Principios probados convertidos en una metodología Atlas, genérica y replicable.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92F25"/>
                </a:solidFill>
              </a:rPr>
              <a:t>01  La adopción no es capacitación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92F25"/>
                </a:solidFill>
              </a:rPr>
              <a:t>Es arquitectura de contexto, narrativa, comunicación, rituales y medición de comportamientos.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3383280" y="132588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92F25"/>
                </a:solidFill>
              </a:rPr>
              <a:t>02  El ERP no es el proyecto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92F25"/>
                </a:solidFill>
              </a:rPr>
              <a:t>El proyecto real es rediseñar cómo fluye la información, cómo decide el negocio y cómo opera.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92F25"/>
                </a:solidFill>
              </a:rPr>
              <a:t>03  El riesgo vive en las personas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92F25"/>
                </a:solidFill>
              </a:rPr>
              <a:t>Resistencia, incertidumbre, pérdida de estatus, capacidad percibida y falta de sponsorship.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9052560" y="132588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92F25"/>
                </a:solidFill>
              </a:rPr>
              <a:t>04  El éxito se gobierna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92F25"/>
                </a:solidFill>
              </a:rPr>
              <a:t>Comité, cadence, indicadores, ownership y toma de riesgos desde el día cero.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05291F"/>
          </a:solidFill>
          <a:ln w="12700">
            <a:solidFill>
              <a:srgbClr val="052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DE80"/>
                </a:solidFill>
              </a:rPr>
              <a:t>Tesis Atlas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49808" y="3977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 implementación debe convertirse en una arquitectura de cambio: negocio + procesos + datos + tecnología + cultura + IA.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6177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E2CD"/>
                </a:solidFill>
              </a:rPr>
              <a:t>El objetivo no es “usar un ERP”; es instalar una operación más visible, más medible y preparada para automatización.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02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El patrón que vemos en clientes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La mayoría de iniciativas fallan no por falta de software, sino por falta de sistema de adopción.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658368" cy="658368"/>
          </a:xfrm>
          <a:prstGeom prst="ellipse">
            <a:avLst/>
          </a:prstGeom>
          <a:solidFill>
            <a:srgbClr val="E85D75"/>
          </a:solidFill>
          <a:ln>
            <a:solidFill>
              <a:srgbClr val="E85D7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291F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2F25"/>
                </a:solidFill>
              </a:rPr>
              <a:t>Visión difusa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44168" y="2258568"/>
            <a:ext cx="1627632" cy="0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71800" y="1920240"/>
            <a:ext cx="658368" cy="658368"/>
          </a:xfrm>
          <a:prstGeom prst="ellipse">
            <a:avLst/>
          </a:prstGeom>
          <a:solidFill>
            <a:srgbClr val="F7B733"/>
          </a:solidFill>
          <a:ln>
            <a:solidFill>
              <a:srgbClr val="F7B7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291F"/>
                </a:solidFill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2F25"/>
                </a:solidFill>
              </a:rPr>
              <a:t>Procesos fragmentados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30168" y="2258568"/>
            <a:ext cx="1627632" cy="0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257800" y="1920240"/>
            <a:ext cx="658368" cy="658368"/>
          </a:xfrm>
          <a:prstGeom prst="ellipse">
            <a:avLst/>
          </a:prstGeom>
          <a:solidFill>
            <a:srgbClr val="43A3C3"/>
          </a:solidFill>
          <a:ln>
            <a:solidFill>
              <a:srgbClr val="43A3C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291F"/>
                </a:solidFill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2F25"/>
                </a:solidFill>
              </a:rPr>
              <a:t>Datos desconectados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16168" y="2258568"/>
            <a:ext cx="1627632" cy="0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543800" y="1920240"/>
            <a:ext cx="658368" cy="658368"/>
          </a:xfrm>
          <a:prstGeom prst="ellipse">
            <a:avLst/>
          </a:prstGeom>
          <a:solidFill>
            <a:srgbClr val="0F7A43"/>
          </a:solidFill>
          <a:ln>
            <a:solidFill>
              <a:srgbClr val="0F7A4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291F"/>
                </a:solidFill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9516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2F25"/>
                </a:solidFill>
              </a:rPr>
              <a:t>Baja adopción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02168" y="2258568"/>
            <a:ext cx="1627632" cy="0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829800" y="1920240"/>
            <a:ext cx="658368" cy="658368"/>
          </a:xfrm>
          <a:prstGeom prst="ellipse">
            <a:avLst/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8116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2F25"/>
                </a:solidFill>
              </a:rPr>
              <a:t>ROI incierto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Síntoma visible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Retrasos, retrabajo, resistencia, Excel paralelo y decisiones sin información confiable.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4480560" y="3977640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Causa raíz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No existe un puente explícito entre estrategia, operación, tecnología y comportamiento.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8229600" y="3977640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Respuesta Atlas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Diseñar el sistema de cambio antes, durante y después del go-live.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03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Mapa de transformación integral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Seis dominios que deben avanzar juntos para una transformación sostenible.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01  Estrategia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Endgame, caso de negocio, prioridades y criterios de éxito.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4434840" y="137160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02  Procesos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Value streams, dueños, reglas, controles y experiencia.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183880" y="137160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03  Datos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Maestros, trazabilidad, dashboards y calidad de información.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04  Tecnología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ERP/BOS, integraciones, permisos, seguridad y escalabilidad.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4434840" y="269748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05  Personas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Sponsors, champions, capacidades, soporte y resistencia.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183880" y="269748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06  Gobierno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PMO, comité, riesgos, decisiones y cadence ejecutivo.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713232" y="4846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2F25"/>
                </a:solidFill>
              </a:rPr>
              <a:t>Resultado: transformación sostenible, no dependencia heroica.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04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Del entendimiento a la acción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Una metodología express, modular y replicable para clientes medianos y grandes.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2057400" cy="438912"/>
          </a:xfrm>
          <a:prstGeom prst="chevron">
            <a:avLst/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Scan &amp; diagnóstico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3272" y="24231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0F7A43"/>
                </a:solidFill>
              </a:rPr>
              <a:t>2–4 sem</a:t>
            </a:r>
            <a:endParaRPr lang="en-US" sz="53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8078"/>
                </a:solidFill>
              </a:rPr>
              <a:t>lectura del negocio, procesos, madurez y riesgo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344168" y="3886200"/>
            <a:ext cx="256032" cy="256032"/>
          </a:xfrm>
          <a:prstGeom prst="ellipse">
            <a:avLst/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4014216"/>
            <a:ext cx="1234440" cy="0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14400" y="431596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F25"/>
                </a:solidFill>
              </a:rPr>
              <a:t>Visibilidad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834640" y="1554480"/>
            <a:ext cx="2057400" cy="438912"/>
          </a:xfrm>
          <a:prstGeom prst="chevron">
            <a:avLst/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Diseño del sistema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64992" y="24231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0F7A43"/>
                </a:solidFill>
              </a:rPr>
              <a:t>3–6 sem</a:t>
            </a:r>
            <a:endParaRPr lang="en-US" sz="530" dirty="0"/>
          </a:p>
        </p:txBody>
      </p:sp>
      <p:sp>
        <p:nvSpPr>
          <p:cNvPr id="13" name="Text 11"/>
          <p:cNvSpPr/>
          <p:nvPr/>
        </p:nvSpPr>
        <p:spPr>
          <a:xfrm>
            <a:off x="288036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8078"/>
                </a:solidFill>
              </a:rPr>
              <a:t>arquitectura funcional, roadmap, gobierno y backlog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675888" y="3886200"/>
            <a:ext cx="256032" cy="256032"/>
          </a:xfrm>
          <a:prstGeom prst="ellipse">
            <a:avLst/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4014216"/>
            <a:ext cx="1234440" cy="0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3246120" y="431596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F25"/>
                </a:solidFill>
              </a:rPr>
              <a:t>Trazabilidad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166360" y="1554480"/>
            <a:ext cx="2057400" cy="438912"/>
          </a:xfrm>
          <a:prstGeom prst="chevron">
            <a:avLst/>
          </a:prstGeom>
          <a:solidFill>
            <a:srgbClr val="0F7A43"/>
          </a:solidFill>
          <a:ln>
            <a:solidFill>
              <a:srgbClr val="0F7A4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Build &amp; configuración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96712" y="24231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0F7A43"/>
                </a:solidFill>
              </a:rPr>
              <a:t>8–16 sem</a:t>
            </a:r>
            <a:endParaRPr lang="en-US" sz="530" dirty="0"/>
          </a:p>
        </p:txBody>
      </p:sp>
      <p:sp>
        <p:nvSpPr>
          <p:cNvPr id="19" name="Text 17"/>
          <p:cNvSpPr/>
          <p:nvPr/>
        </p:nvSpPr>
        <p:spPr>
          <a:xfrm>
            <a:off x="521208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8078"/>
                </a:solidFill>
              </a:rPr>
              <a:t>módulos, integraciones, datos, permisos y pruebas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007608" y="3886200"/>
            <a:ext cx="256032" cy="256032"/>
          </a:xfrm>
          <a:prstGeom prst="ellipse">
            <a:avLst/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4014216"/>
            <a:ext cx="1234440" cy="0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5577840" y="431596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F25"/>
                </a:solidFill>
              </a:rPr>
              <a:t>Control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498080" y="1554480"/>
            <a:ext cx="2057400" cy="438912"/>
          </a:xfrm>
          <a:prstGeom prst="chevron">
            <a:avLst/>
          </a:prstGeom>
          <a:solidFill>
            <a:srgbClr val="0F7A43"/>
          </a:solidFill>
          <a:ln>
            <a:solidFill>
              <a:srgbClr val="0F7A4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291F"/>
                </a:solidFill>
              </a:rPr>
              <a:t>Adopción &amp; go-live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28432" y="24231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0F7A43"/>
                </a:solidFill>
              </a:rPr>
              <a:t>4–12 sem</a:t>
            </a:r>
            <a:endParaRPr lang="en-US" sz="530" dirty="0"/>
          </a:p>
        </p:txBody>
      </p:sp>
      <p:sp>
        <p:nvSpPr>
          <p:cNvPr id="25" name="Text 23"/>
          <p:cNvSpPr/>
          <p:nvPr/>
        </p:nvSpPr>
        <p:spPr>
          <a:xfrm>
            <a:off x="754380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8078"/>
                </a:solidFill>
              </a:rPr>
              <a:t>capacitación, soporte, champions y rituals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8339328" y="3886200"/>
            <a:ext cx="256032" cy="256032"/>
          </a:xfrm>
          <a:prstGeom prst="ellipse">
            <a:avLst/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95360" y="4014216"/>
            <a:ext cx="1234440" cy="0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7909560" y="431596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F25"/>
                </a:solidFill>
              </a:rPr>
              <a:t>Adopción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9829800" y="1554480"/>
            <a:ext cx="2057400" cy="438912"/>
          </a:xfrm>
          <a:prstGeom prst="chevron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291F"/>
                </a:solidFill>
              </a:rPr>
              <a:t>Optimización continua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360152" y="24231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0F7A43"/>
                </a:solidFill>
              </a:rPr>
              <a:t>ongoing</a:t>
            </a:r>
            <a:endParaRPr lang="en-US" sz="530" dirty="0"/>
          </a:p>
        </p:txBody>
      </p:sp>
      <p:sp>
        <p:nvSpPr>
          <p:cNvPr id="31" name="Text 29"/>
          <p:cNvSpPr/>
          <p:nvPr/>
        </p:nvSpPr>
        <p:spPr>
          <a:xfrm>
            <a:off x="987552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E8078"/>
                </a:solidFill>
              </a:rPr>
              <a:t>tableros, automatización, IA, mejora y nuevas olas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0671048" y="3886200"/>
            <a:ext cx="256032" cy="256032"/>
          </a:xfrm>
          <a:prstGeom prst="ellipse">
            <a:avLst/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0" y="431596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92F25"/>
                </a:solidFill>
              </a:rPr>
              <a:t>Inteligencia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05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Gobierno de implementación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Estructura mínima para que el proyecto no dependa de improvisación ni de héroes internos.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080760" y="1600200"/>
            <a:ext cx="0" cy="3291840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057400" y="3246120"/>
            <a:ext cx="8092440" cy="0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4389120" y="114300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Comité ejecutivo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Decide prioridades, desbloquea riesgos y valida valor de negocio.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0F7A43"/>
          </a:solidFill>
          <a:ln>
            <a:solidFill>
              <a:srgbClr val="0F7A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PMO / Program Owner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Cadence, timeline, riesgos, dependencias y avance ejecutivo.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12480" y="283464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0F7A43"/>
          </a:solidFill>
          <a:ln>
            <a:solidFill>
              <a:srgbClr val="0F7A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Equipo tecnología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Configuración, integraciones, datos, seguridad y despliegue.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34840" y="4645152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92F25"/>
                </a:solidFill>
              </a:rPr>
              <a:t>Líderes de proceso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92F25"/>
                </a:solidFill>
              </a:rPr>
              <a:t>Dueños funcionales, adopción de flujo y criterios de aceptación.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34640" y="577900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2F25"/>
                </a:solidFill>
              </a:rPr>
              <a:t>Regla de oro: cada decisión tiene owner, fecha, criterio y evidencia.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06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Atlas Readiness Scan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7E2CD"/>
                </a:solidFill>
              </a:rPr>
              <a:t>Fase 01 · Diagnóstico ejecutivo y operativo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Un diagnóstico 360° que conecta visión directiva, operación real, tecnología actual, datos críticos y disposición al cambio.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37960" y="1325880"/>
            <a:ext cx="731520" cy="73152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291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212140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7E2CD"/>
                </a:solidFill>
              </a:rPr>
              <a:t>Visión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680960" y="1325880"/>
            <a:ext cx="731520" cy="731520"/>
          </a:xfrm>
          <a:prstGeom prst="ellipse">
            <a:avLst/>
          </a:prstGeom>
          <a:solidFill>
            <a:srgbClr val="0F513D"/>
          </a:solidFill>
          <a:ln>
            <a:solidFill>
              <a:srgbClr val="0F5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2360" y="212140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7E2CD"/>
                </a:solidFill>
              </a:rPr>
              <a:t>Gestión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823960" y="1325880"/>
            <a:ext cx="731520" cy="731520"/>
          </a:xfrm>
          <a:prstGeom prst="ellipse">
            <a:avLst/>
          </a:prstGeom>
          <a:solidFill>
            <a:srgbClr val="0F513D"/>
          </a:solidFill>
          <a:ln>
            <a:solidFill>
              <a:srgbClr val="0F5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0" y="212140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7E2CD"/>
                </a:solidFill>
              </a:rPr>
              <a:t>Operación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731520" cy="731520"/>
          </a:xfrm>
          <a:prstGeom prst="ellipse">
            <a:avLst/>
          </a:prstGeom>
          <a:solidFill>
            <a:srgbClr val="0F513D"/>
          </a:solidFill>
          <a:ln>
            <a:solidFill>
              <a:srgbClr val="0F5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44728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7E2CD"/>
                </a:solidFill>
              </a:rPr>
              <a:t>Tecnología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680960" y="2651760"/>
            <a:ext cx="731520" cy="731520"/>
          </a:xfrm>
          <a:prstGeom prst="ellipse">
            <a:avLst/>
          </a:prstGeom>
          <a:solidFill>
            <a:srgbClr val="0F513D"/>
          </a:solidFill>
          <a:ln>
            <a:solidFill>
              <a:srgbClr val="0F5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2360" y="344728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7E2CD"/>
                </a:solidFill>
              </a:rPr>
              <a:t>Personas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>
            <a:solidFill>
              <a:srgbClr val="4ADE8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291F"/>
                </a:solidFill>
              </a:rPr>
              <a:t>Entregables del scan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58368" y="480060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E2CD"/>
                </a:solidFill>
              </a:rPr>
              <a:t>Mapa de calor · Áreas foco · Influenciadores · Riesgos · Recomendaciones de ejecución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BC7B3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BC7B3"/>
                </a:solidFill>
              </a:rPr>
              <a:t>07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Fase 1 · Double Loop Scan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Diagnóstico 360°: lo que el negocio dice que ocurre vs. lo que el sistema muestra que ocurre.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3154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01  Visión ejecutiva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Entrevistas C-level/directores. Caso de negocio, prioridades, decisiones y tensión estratégica.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4297680" y="1234440"/>
            <a:ext cx="3154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02  Proceso real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Shadowing, SOPs, pain points, usuarios operativos y dependencias interáreas.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8001000" y="1234440"/>
            <a:ext cx="3154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03  Data readiness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Maestros, calidad, ownership, integridad, reportes actuales y gaps.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3154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04  Tecnología actual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Sistemas, APIs, Excel, WhatsApp, permisos, integraciones y deuda técnica.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297680" y="2331720"/>
            <a:ext cx="3154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05  Personas y cambio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Mapa de sponsors, champions, resistencia, comunicación y capacidad.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7680960" y="4892040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92F25"/>
                </a:solidFill>
              </a:rPr>
              <a:t>Entregable central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92F25"/>
                </a:solidFill>
              </a:rPr>
              <a:t>Mapa de calor + recomendaciones ejecutivas + backlog priorizado.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08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Fase 2 · Blueprint de transformación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Conectamos propósito, operación y tecnología en un diseño accionable.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080760" y="1298448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01 Propósito / para qué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Caso económico, valor esperado y narrativa ejecutiva.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669280" y="201168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02 Creencias / por qué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Principios de operación, criterios de decisión y comportamientos esperados.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257800" y="272491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03 Indicadores / qué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KPIs de proceso, adopción, datos, servicio y rentabilidad.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846320" y="3438144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0F7A43"/>
          </a:solidFill>
          <a:ln>
            <a:solidFill>
              <a:srgbClr val="0F7A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04 Sistemas / cómo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Flujos, módulos, integraciones, automatizaciones y gobierno.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Narrativa ejecutiva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Razón de ser, promesa del proyecto, beneficios por audiencia y storylines.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Modelo operativo futuro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Procesos target, owners, reglas, decisiones y rituales.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594360" y="39776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Plan de riesgos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MOTs, focos de resistencia, mitigación y escalamiento.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09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Mapa de riesgos y momentos de verdad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Anticipar la emoción operativa evita que la resistencia se convierta en sabotaje silencioso.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18288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F7B7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1  Incertidumbre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¿Qué va a cambiar?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Comunicación por audiencia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1335024" y="1600200"/>
            <a:ext cx="347472" cy="347472"/>
          </a:xfrm>
          <a:prstGeom prst="ellipse">
            <a:avLst/>
          </a:prstGeom>
          <a:solidFill>
            <a:srgbClr val="F7B733"/>
          </a:solidFill>
          <a:ln>
            <a:solidFill>
              <a:srgbClr val="F7B7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52928" y="1417320"/>
            <a:ext cx="18288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5D7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2  Sobrecarga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Trabajo diario + proyecto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Cadence realista y soporte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3621024" y="1600200"/>
            <a:ext cx="347472" cy="347472"/>
          </a:xfrm>
          <a:prstGeom prst="ellipse">
            <a:avLst/>
          </a:prstGeom>
          <a:solidFill>
            <a:srgbClr val="E85D75"/>
          </a:solidFill>
          <a:ln>
            <a:solidFill>
              <a:srgbClr val="E85D7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38928" y="1417320"/>
            <a:ext cx="18288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43A3C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3  Datos débiles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Maestros incompletos, reportes inconsistentes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Data governance y limpieza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5907024" y="1600200"/>
            <a:ext cx="347472" cy="347472"/>
          </a:xfrm>
          <a:prstGeom prst="ellipse">
            <a:avLst/>
          </a:prstGeom>
          <a:solidFill>
            <a:srgbClr val="43A3C3"/>
          </a:solidFill>
          <a:ln>
            <a:solidFill>
              <a:srgbClr val="43A3C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24928" y="1417320"/>
            <a:ext cx="18288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7A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4  Operación paralela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El usuario sigue usando Excel/WhatsApp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Criterios de salida y controles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8193024" y="1600200"/>
            <a:ext cx="347472" cy="347472"/>
          </a:xfrm>
          <a:prstGeom prst="ellipse">
            <a:avLst/>
          </a:prstGeom>
          <a:solidFill>
            <a:srgbClr val="0F7A43"/>
          </a:solidFill>
          <a:ln>
            <a:solidFill>
              <a:srgbClr val="0F7A4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710928" y="1417320"/>
            <a:ext cx="1828800" cy="2377440"/>
          </a:xfrm>
          <a:prstGeom prst="roundRect">
            <a:avLst>
              <a:gd name="adj" fmla="val 4000"/>
            </a:avLst>
          </a:prstGeom>
          <a:solidFill>
            <a:srgbClr val="DDF4E5"/>
          </a:solidFill>
          <a:ln>
            <a:solidFill>
              <a:srgbClr val="4ADE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5  Baja confianza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Promesas previas incumplidas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Quick wins y evidencia visible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0479024" y="1600200"/>
            <a:ext cx="347472" cy="347472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291F"/>
                </a:solidFill>
              </a:rPr>
              <a:t>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63040" y="4800600"/>
            <a:ext cx="9326880" cy="310896"/>
          </a:xfrm>
          <a:prstGeom prst="roundRect">
            <a:avLst>
              <a:gd name="adj" fmla="val 23529"/>
            </a:avLst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MOT = Moment of Truth · Punto donde el usuario decide si adopta, resiste o bloquea el cambio.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10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Adopción y habilitación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El entrenamiento se diseña por rol, por momento y por nivel de criticidad operativa.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M1  Sensibilización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Propósito, beneficios, urgencia, confianza y primeros cambios.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4343400" y="132588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M2  Capacitación funcional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Uso del sistema por rol, procesos target y casos reales.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8001000" y="132588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M3  Liderazgo del cambio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Sponsors, champions, coaching y conversaciones difíciles.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M4  Mejora continua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KPIs, tableros, incidentes, retroalimentación y optimización.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343400" y="274320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M5  Consolidación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92F25"/>
                </a:solidFill>
              </a:rPr>
              <a:t>Refuerzo, reconocimiento, control de adopción y siguiente ola.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8229600" y="498348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Soporte continuo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War room, mesa de ayuda, microlearning, encuestas y coaching.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11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Arquitectura de solución Atlas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Del proceso actual al BOS/ERP inteligente: módulos, integraciones, datos e IA operativa.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Experiencia de usuario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Portal · Móvil · Tableros · Flujos aprobatorios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3200400" y="1920240"/>
            <a:ext cx="0" cy="256032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Módulos operativos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92F25"/>
                </a:solidFill>
              </a:rPr>
              <a:t>CRM · CPQ · Compras · Inventario · Finanzas · RH · Servicio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3200400" y="2880360"/>
            <a:ext cx="0" cy="256032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22960" y="315468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0F7A43"/>
          </a:solidFill>
          <a:ln>
            <a:solidFill>
              <a:srgbClr val="0F7A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Core transaccional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ERP/BOS · Reglas de negocio · Roles · Auditoría · Seguridad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3200400" y="3840480"/>
            <a:ext cx="0" cy="256032"/>
          </a:xfrm>
          <a:prstGeom prst="line">
            <a:avLst/>
          </a:prstGeom>
          <a:noFill/>
          <a:ln w="12700">
            <a:solidFill>
              <a:srgbClr val="BED4C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22960" y="411480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05291F"/>
          </a:solidFill>
          <a:ln>
            <a:solidFill>
              <a:srgbClr val="052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Data &amp; Intelligence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ETL · Data mart · KPIs · RAG · Agentes · Predicción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6400800" y="123444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Input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Procesos reales, documentos, Excel, sistemas actuales y decisiones.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9006840" y="123444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Output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092F25"/>
                </a:solidFill>
              </a:rPr>
              <a:t>Operación medible, automatización, trazabilidad y decisiones con datos.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549640" y="1691640"/>
            <a:ext cx="457200" cy="0"/>
          </a:xfrm>
          <a:prstGeom prst="line">
            <a:avLst/>
          </a:prstGeom>
          <a:noFill/>
          <a:ln w="12700">
            <a:solidFill>
              <a:srgbClr val="0F7A4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0" y="274320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Estandarizar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procesos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9006840" y="274320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Integrar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sistemas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400800" y="347472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Gobernar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datos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9006840" y="347472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Automatizar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92F25"/>
                </a:solidFill>
              </a:rPr>
              <a:t>tareas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400800" y="42062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5291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Aumentar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decisiones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12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Entregables ejecutivos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Materiales que pueden usarse en dirección, operación, tecnología y usuarios finales.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017520" cy="941832"/>
          </a:xfrm>
          <a:prstGeom prst="roundRect">
            <a:avLst>
              <a:gd name="adj" fmla="val 7767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01  Diagnóstico ejecutivo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Hallazgos, riesgos, fricciones, mapas y oportunidades.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4343400" y="1325880"/>
            <a:ext cx="30175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02  Blueprint operativo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Procesos target, reglas de negocio, owners y KPIs.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8001000" y="1325880"/>
            <a:ext cx="3017520" cy="941832"/>
          </a:xfrm>
          <a:prstGeom prst="roundRect">
            <a:avLst>
              <a:gd name="adj" fmla="val 7767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03  Roadmap de transformación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Fases, olas, dependencias, decisiones y presupuesto.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30175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04  Arquitectura funcional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Módulos, integraciones, datos, roles y permisos.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4343400" y="2743200"/>
            <a:ext cx="3017520" cy="941832"/>
          </a:xfrm>
          <a:prstGeom prst="roundRect">
            <a:avLst>
              <a:gd name="adj" fmla="val 7767"/>
            </a:avLst>
          </a:prstGeom>
          <a:solidFill>
            <a:srgbClr val="DDF4E5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05  Change toolkit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Narrativas, prácticas, mensajes, rituales y champions.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001000" y="2743200"/>
            <a:ext cx="30175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>
            <a:solidFill>
              <a:srgbClr val="BED4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06  Tablero de gobierno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092F25"/>
                </a:solidFill>
              </a:rPr>
              <a:t>Avance, adopción, riesgos, decisiones y valor capturado.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965960" y="5559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2F25"/>
                </a:solidFill>
              </a:rPr>
              <a:t>Todo entregable debe dejar evidencia accionable: qué se decide, qué se construye, quién lo usa y cómo se mide.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13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92F25"/>
                </a:solidFill>
              </a:rPr>
              <a:t>Cronograma visual de trabajo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8078"/>
                </a:solidFill>
              </a:rPr>
              <a:t>Actividades en paralelo para reducir riesgo antes de construir y sostener adopción después del go-live.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92F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F7A43"/>
                </a:solidFill>
              </a:rPr>
              <a:t>M1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2816352" y="12801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F7A43"/>
                </a:solidFill>
              </a:rPr>
              <a:t>M2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3758184" y="12801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F7A43"/>
                </a:solidFill>
              </a:rPr>
              <a:t>M3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4700016" y="12801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F7A43"/>
                </a:solidFill>
              </a:rPr>
              <a:t>M4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5641848" y="12801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F7A43"/>
                </a:solidFill>
              </a:rPr>
              <a:t>M5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6583680" y="12801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F7A43"/>
                </a:solidFill>
              </a:rPr>
              <a:t>M6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92F25"/>
                </a:solidFill>
              </a:rPr>
              <a:t>Diagnóstico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502920" y="20756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92F25"/>
                </a:solidFill>
              </a:rPr>
              <a:t>Blueprint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502920" y="25511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92F25"/>
                </a:solidFill>
              </a:rPr>
              <a:t>Backlog / alcance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02920" y="30266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92F25"/>
                </a:solidFill>
              </a:rPr>
              <a:t>Build / config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502920" y="35021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92F25"/>
                </a:solidFill>
              </a:rPr>
              <a:t>Pruebas UAT</a:t>
            </a:r>
            <a:endParaRPr lang="en-US" sz="64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92F25"/>
                </a:solidFill>
              </a:rPr>
              <a:t>Adopción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502920" y="44531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92F25"/>
                </a:solidFill>
              </a:rPr>
              <a:t>Go-live</a:t>
            </a:r>
            <a:endParaRPr lang="en-US" sz="640" dirty="0"/>
          </a:p>
        </p:txBody>
      </p:sp>
      <p:sp>
        <p:nvSpPr>
          <p:cNvPr id="18" name="Text 16"/>
          <p:cNvSpPr/>
          <p:nvPr/>
        </p:nvSpPr>
        <p:spPr>
          <a:xfrm>
            <a:off x="502920" y="49286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92F25"/>
                </a:solidFill>
              </a:rPr>
              <a:t>Optimización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2816352" y="1600200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1600200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1600200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41848" y="1600200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600200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4520" y="2075688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58184" y="2075688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2075688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41848" y="2075688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2075688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74520" y="2551176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2551176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41848" y="2551176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2551176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74520" y="3026664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16352" y="3026664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3026664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4520" y="3502152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16352" y="3502152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58184" y="3502152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0" y="3502152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74520" y="3977640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16352" y="3977640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58184" y="3977640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74520" y="4453128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16352" y="4453128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58184" y="4453128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0016" y="4453128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4453128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74520" y="4928616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16352" y="4928616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58184" y="4928616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0016" y="4928616"/>
            <a:ext cx="6583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D4C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1600200"/>
            <a:ext cx="658368" cy="310896"/>
          </a:xfrm>
          <a:prstGeom prst="rect">
            <a:avLst/>
          </a:prstGeom>
          <a:solidFill>
            <a:srgbClr val="0F7A43"/>
          </a:solidFill>
          <a:ln w="12700">
            <a:solidFill>
              <a:srgbClr val="0F7A4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16352" y="2075688"/>
            <a:ext cx="658368" cy="310896"/>
          </a:xfrm>
          <a:prstGeom prst="rect">
            <a:avLst/>
          </a:prstGeom>
          <a:solidFill>
            <a:srgbClr val="0F7A43"/>
          </a:solidFill>
          <a:ln w="12700">
            <a:solidFill>
              <a:srgbClr val="0F7A4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16352" y="2551176"/>
            <a:ext cx="1600200" cy="310896"/>
          </a:xfrm>
          <a:prstGeom prst="rect">
            <a:avLst/>
          </a:prstGeom>
          <a:solidFill>
            <a:srgbClr val="43A3C3"/>
          </a:solidFill>
          <a:ln w="12700">
            <a:solidFill>
              <a:srgbClr val="43A3C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58184" y="3026664"/>
            <a:ext cx="2542032" cy="310896"/>
          </a:xfrm>
          <a:prstGeom prst="rect">
            <a:avLst/>
          </a:prstGeom>
          <a:solidFill>
            <a:srgbClr val="C5F0D3"/>
          </a:solidFill>
          <a:ln w="12700">
            <a:solidFill>
              <a:srgbClr val="C5F0D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0016" y="3502152"/>
            <a:ext cx="1600200" cy="31089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0016" y="3977640"/>
            <a:ext cx="2542032" cy="310896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41848" y="4453128"/>
            <a:ext cx="658368" cy="310896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41848" y="4928616"/>
            <a:ext cx="1600200" cy="310896"/>
          </a:xfrm>
          <a:prstGeom prst="rect">
            <a:avLst/>
          </a:prstGeom>
          <a:solidFill>
            <a:srgbClr val="05291F"/>
          </a:solidFill>
          <a:ln w="12700">
            <a:solidFill>
              <a:srgbClr val="0529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46720" y="1371600"/>
            <a:ext cx="256032" cy="146304"/>
          </a:xfrm>
          <a:prstGeom prst="rect">
            <a:avLst/>
          </a:prstGeom>
          <a:solidFill>
            <a:srgbClr val="0F7A43"/>
          </a:solidFill>
          <a:ln w="12700">
            <a:solidFill>
              <a:srgbClr val="0F7A4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66760" y="13350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92F25"/>
                </a:solidFill>
              </a:rPr>
              <a:t>Diseño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8046720" y="1810512"/>
            <a:ext cx="256032" cy="146304"/>
          </a:xfrm>
          <a:prstGeom prst="rect">
            <a:avLst/>
          </a:prstGeom>
          <a:solidFill>
            <a:srgbClr val="43A3C3"/>
          </a:solidFill>
          <a:ln w="12700">
            <a:solidFill>
              <a:srgbClr val="43A3C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66760" y="17739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92F25"/>
                </a:solidFill>
              </a:rPr>
              <a:t>Datos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8046720" y="2249424"/>
            <a:ext cx="256032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66760" y="22128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92F25"/>
                </a:solidFill>
              </a:rPr>
              <a:t>Build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8046720" y="2688336"/>
            <a:ext cx="256032" cy="146304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66760" y="26517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92F25"/>
                </a:solidFill>
              </a:rPr>
              <a:t>Adopción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046720" y="3127248"/>
            <a:ext cx="256032" cy="146304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66760" y="30906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92F25"/>
                </a:solidFill>
              </a:rPr>
              <a:t>Go-live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8046720" y="3566160"/>
            <a:ext cx="256032" cy="146304"/>
          </a:xfrm>
          <a:prstGeom prst="rect">
            <a:avLst/>
          </a:prstGeom>
          <a:solidFill>
            <a:srgbClr val="05291F"/>
          </a:solidFill>
          <a:ln w="12700">
            <a:solidFill>
              <a:srgbClr val="05291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66760" y="35295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92F25"/>
                </a:solidFill>
              </a:rPr>
              <a:t>Optimización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6E8078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73" name="Text 71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E8078"/>
                </a:solidFill>
              </a:rPr>
              <a:t>14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Capacidades Atlas para esta etapa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7E2CD"/>
                </a:solidFill>
              </a:rPr>
              <a:t>Consultoría senior + fábrica de software + automatización + IA aplicada.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0C3F31"/>
          </a:solidFill>
          <a:ln>
            <a:solidFill>
              <a:srgbClr val="1662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</a:rPr>
              <a:t>Estrategia &amp; producto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</a:rPr>
              <a:t>Diseño de solución, roadmaps, priorización y modelo de valor.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4343400" y="14630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0C3F31"/>
          </a:solidFill>
          <a:ln>
            <a:solidFill>
              <a:srgbClr val="1662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</a:rPr>
              <a:t>Procesos &amp; operación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</a:rPr>
              <a:t>SOPs, indicadores, rediseño operativo y mejora continua.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8001000" y="14630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4ADE80"/>
          </a:solidFill>
          <a:ln>
            <a:solidFill>
              <a:srgbClr val="4ADE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5291F"/>
                </a:solidFill>
              </a:rPr>
              <a:t>Ingeniería de software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05291F"/>
                </a:solidFill>
              </a:rPr>
              <a:t>ERP/BOS/POS, APIs, integraciones, multi-tenant y seguridad.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0C3F31"/>
          </a:solidFill>
          <a:ln>
            <a:solidFill>
              <a:srgbClr val="1662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</a:rPr>
              <a:t>Data &amp; AI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</a:rPr>
              <a:t>Dashboards, RAG, agentes, automatización y gobierno de datos.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4343400" y="292608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0C3F31"/>
          </a:solidFill>
          <a:ln>
            <a:solidFill>
              <a:srgbClr val="1662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</a:rPr>
              <a:t>Adopción &amp; enablement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</a:rPr>
              <a:t>Capacitación, champions, soporte y gestión del cambio.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001000" y="292608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0C3F31"/>
          </a:solidFill>
          <a:ln>
            <a:solidFill>
              <a:srgbClr val="1662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</a:rPr>
              <a:t>PMO ejecutivo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</a:rPr>
              <a:t>Cadence, riesgos, decisiones, avance y valor capturado.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005840" y="54406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Atlas no vende solo software: diseña el sistema operativo de transformación para que el software genere valor.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BC7B3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BC7B3"/>
                </a:solidFill>
              </a:rPr>
              <a:t>15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69880" y="320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De ERP a empresa inteligente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E2CD"/>
                </a:solidFill>
              </a:rPr>
              <a:t>Atlas acompaña a sus clientes desde el diagnóstico y la arquitectura del negocio hasta la implementación, adopción y evolución continua hacia operaciones componibles, medibles y preparadas para IA.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38404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4ADE80"/>
          </a:solidFill>
          <a:ln>
            <a:solidFill>
              <a:srgbClr val="4ADE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5291F"/>
                </a:solidFill>
              </a:rPr>
              <a:t>01  Digitalizar procesos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3017520" y="38404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0F3E31"/>
          </a:solidFill>
          <a:ln>
            <a:solidFill>
              <a:srgbClr val="1960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</a:rPr>
              <a:t>02  Gobernar la adopción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5349240" y="38404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0F3E31"/>
          </a:solidFill>
          <a:ln>
            <a:solidFill>
              <a:srgbClr val="1960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</a:rPr>
              <a:t>03  Orquestar datos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7680960" y="38404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0F3E31"/>
          </a:solidFill>
          <a:ln>
            <a:solidFill>
              <a:srgbClr val="1960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</a:rPr>
              <a:t>04  Preparar IA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85800" y="55321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Siguiente paso: ejecutar un Transformation Readiness Scan de 2 a 4 semanas.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BC7B3"/>
                </a:solidFill>
              </a:rPr>
              <a:t>Transformation Readiness OS  |  ERP · BOS · Automatización empresarial</a:t>
            </a:r>
            <a:endParaRPr lang="en-US" sz="4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BC7B3"/>
                </a:solidFill>
              </a:rPr>
              <a:t>16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Atlas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Transformation Readiness OS</dc:title>
  <dc:subject>Metodología genérica para transformación, ERP/BOS y adopción</dc:subject>
  <dc:creator>Atlas Tech</dc:creator>
  <cp:lastModifiedBy>Atlas Tech</cp:lastModifiedBy>
  <cp:revision>1</cp:revision>
  <dcterms:created xsi:type="dcterms:W3CDTF">2026-07-28T21:28:42Z</dcterms:created>
  <dcterms:modified xsi:type="dcterms:W3CDTF">2026-07-28T21:28:42Z</dcterms:modified>
</cp:coreProperties>
</file>